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g"/>
  <Default Extension="png" ContentType="image/png"/>
  <Default Extension="bmp" ContentType="image/bmp"/>
  <Default Extension="gif" ContentType="image/gif"/>
  <Default Extension="tif" ContentType="image/tif"/>
  <Default Extension="pdf" ContentType="application/pdf"/>
  <Default Extension="mov" ContentType="application/movie"/>
  <Default Extension="vml" ContentType="application/vnd.openxmlformats-officedocument.vmlDrawing"/>
  <Default Extension="xlsx" ContentType="application/vnd.openxmlformats-officedocument.spreadsheetml.sheet"/>
  <Override PartName="/docProps/core.xml" ContentType="application/vnd.openxmlformats-package.core-properties+xml"/>
  <Override PartName="/docProps/app.xml" ContentType="application/vnd.openxmlformats-officedocument.extended-properties+xml"/>
  <Override PartName="/ppt/presentation.xml" ContentType="application/vnd.openxmlformats-officedocument.presentationml.presentation.main+xml"/>
  <Override PartName="/ppt/presProps.xml" ContentType="application/vnd.openxmlformats-officedocument.presentationml.presProps+xml"/>
  <Override PartName="/ppt/viewProps.xml" ContentType="application/vnd.openxmlformats-officedocument.presentationml.viewProps+xml"/>
  <Override PartName="/ppt/commentAuthors.xml" ContentType="application/vnd.openxmlformats-officedocument.presentationml.commentAuthors+xml"/>
  <Override PartName="/ppt/tableStyles.xml" ContentType="application/vnd.openxmlformats-officedocument.presentationml.tableStyles+xml"/>
  <Override PartName="/ppt/slideMasters/slideMaster1.xml" ContentType="application/vnd.openxmlformats-officedocument.presentationml.slideMaster+xml"/>
  <Override PartName="/ppt/theme/theme1.xml" ContentType="application/vnd.openxmlformats-officedocument.theme+xml"/>
  <Override PartName="/ppt/notesMasters/notesMaster1.xml" ContentType="application/vnd.openxmlformats-officedocument.presentationml.notes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Types>
</file>

<file path=_rels/.rels><?xml version="1.0" encoding="UTF-8"?>
<Relationships xmlns="http://schemas.openxmlformats.org/package/2006/relationships"><Relationship Id="rId1" Type="http://schemas.openxmlformats.org/package/2006/relationships/metadata/core-properties" Target="docProps/core.xml"/><Relationship Id="rId2" Type="http://schemas.openxmlformats.org/officeDocument/2006/relationships/extended-properties" Target="docProps/app.xml"/><Relationship Id="rId3"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p:sldMasterIdLst>
    <p:sldMasterId id="2147483648" r:id="rId5"/>
  </p:sldMasterIdLst>
  <p:notesMasterIdLst>
    <p:notesMasterId r:id="rId7"/>
  </p:notesMasterIdLst>
  <p:sldIdLst>
    <p:sldId id="256" r:id="rId8"/>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Lst>
  <p:sldSz cx="12179300" cy="6858000"/>
  <p:notesSz cx="6858000" cy="9144000"/>
  <p:defaultTextStyle>
    <a:def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defPPr>
    <a:lvl1pPr marL="0" marR="0" indent="0" algn="l" defTabSz="914400" rtl="0" fontAlgn="auto" latinLnBrk="0"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latin typeface="+mj-lt"/>
        <a:ea typeface="+mj-ea"/>
        <a:cs typeface="+mj-cs"/>
        <a:sym typeface="Aptos"/>
      </a:defRPr>
    </a:lvl1pPr>
    <a:lvl2pPr marL="0" marR="0" indent="457200" algn="l" defTabSz="914400" rtl="0" fontAlgn="auto" latinLnBrk="0"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latin typeface="+mj-lt"/>
        <a:ea typeface="+mj-ea"/>
        <a:cs typeface="+mj-cs"/>
        <a:sym typeface="Aptos"/>
      </a:defRPr>
    </a:lvl2pPr>
    <a:lvl3pPr marL="0" marR="0" indent="914400" algn="l" defTabSz="914400" rtl="0" fontAlgn="auto" latinLnBrk="0"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latin typeface="+mj-lt"/>
        <a:ea typeface="+mj-ea"/>
        <a:cs typeface="+mj-cs"/>
        <a:sym typeface="Aptos"/>
      </a:defRPr>
    </a:lvl3pPr>
    <a:lvl4pPr marL="0" marR="0" indent="1371600" algn="l" defTabSz="914400" rtl="0" fontAlgn="auto" latinLnBrk="0"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latin typeface="+mj-lt"/>
        <a:ea typeface="+mj-ea"/>
        <a:cs typeface="+mj-cs"/>
        <a:sym typeface="Aptos"/>
      </a:defRPr>
    </a:lvl4pPr>
    <a:lvl5pPr marL="0" marR="0" indent="1828800" algn="l" defTabSz="914400" rtl="0" fontAlgn="auto" latinLnBrk="0"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latin typeface="+mj-lt"/>
        <a:ea typeface="+mj-ea"/>
        <a:cs typeface="+mj-cs"/>
        <a:sym typeface="Aptos"/>
      </a:defRPr>
    </a:lvl5pPr>
    <a:lvl6pPr marL="0" marR="0" indent="2286000" algn="l" defTabSz="914400" rtl="0" fontAlgn="auto" latinLnBrk="0"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latin typeface="+mj-lt"/>
        <a:ea typeface="+mj-ea"/>
        <a:cs typeface="+mj-cs"/>
        <a:sym typeface="Aptos"/>
      </a:defRPr>
    </a:lvl6pPr>
    <a:lvl7pPr marL="0" marR="0" indent="2743200" algn="l" defTabSz="914400" rtl="0" fontAlgn="auto" latinLnBrk="0"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latin typeface="+mj-lt"/>
        <a:ea typeface="+mj-ea"/>
        <a:cs typeface="+mj-cs"/>
        <a:sym typeface="Aptos"/>
      </a:defRPr>
    </a:lvl7pPr>
    <a:lvl8pPr marL="0" marR="0" indent="3200400" algn="l" defTabSz="914400" rtl="0" fontAlgn="auto" latinLnBrk="0"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latin typeface="+mj-lt"/>
        <a:ea typeface="+mj-ea"/>
        <a:cs typeface="+mj-cs"/>
        <a:sym typeface="Aptos"/>
      </a:defRPr>
    </a:lvl8pPr>
    <a:lvl9pPr marL="0" marR="0" indent="3657600" algn="l" defTabSz="914400" rtl="0" fontAlgn="auto" latinLnBrk="0"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latin typeface="+mj-lt"/>
        <a:ea typeface="+mj-ea"/>
        <a:cs typeface="+mj-cs"/>
        <a:sym typeface="Aptos"/>
      </a:defRPr>
    </a:lvl9pPr>
  </p:defaultTextStyle>
</p:presentation>
</file>

<file path=ppt/commentAuthors.xml><?xml version="1.0" encoding="utf-8"?>
<p:cmAuthorLs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file>

<file path=ppt/presProps.xml><?xml version="1.0" encoding="utf-8"?>
<p:presentationPr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p:showPr loop="0"/>
</p:presentationPr>
</file>

<file path=ppt/tableStyles.xml><?xml version="1.0" encoding="utf-8"?>
<a:tblStyleLst xmlns:a="http://schemas.openxmlformats.org/drawingml/2006/main" xmlns:r="http://schemas.openxmlformats.org/officeDocument/2006/relationships" def="{5940675A-B579-460E-94D1-54222C63F5DA}">
  <a:tblStyle styleId="{4C3C2611-4C71-4FC5-86AE-919BDF0F9419}" styleName="">
    <a:tblBg/>
    <a:wholeTbl>
      <a:tcTxStyle b="off" i="off">
        <a:fontRef idx="major">
          <a:srgbClr val="000000"/>
        </a:fontRef>
        <a:srgbClr val="000000"/>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CDD4EA"/>
          </a:solidFill>
        </a:fill>
      </a:tcStyle>
    </a:wholeTbl>
    <a:band2H>
      <a:tcTxStyle b="def" i="def"/>
      <a:tcStyle>
        <a:tcBdr/>
        <a:fill>
          <a:solidFill>
            <a:srgbClr val="E8EBF5"/>
          </a:solidFill>
        </a:fill>
      </a:tcStyle>
    </a:band2H>
    <a:firstCol>
      <a:tcTxStyle b="on" i="off">
        <a:fontRef idx="maj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1"/>
          </a:solidFill>
        </a:fill>
      </a:tcStyle>
    </a:firstCol>
    <a:lastRow>
      <a:tcTxStyle b="on" i="off">
        <a:fontRef idx="maj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381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1"/>
          </a:solidFill>
        </a:fill>
      </a:tcStyle>
    </a:lastRow>
    <a:firstRow>
      <a:tcTxStyle b="on" i="off">
        <a:fontRef idx="maj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381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1"/>
          </a:solidFill>
        </a:fill>
      </a:tcStyle>
    </a:firstRow>
  </a:tblStyle>
  <a:tblStyle styleId="{C7B018BB-80A7-4F77-B60F-C8B233D01FF8}" styleName="">
    <a:tblBg/>
    <a:wholeTbl>
      <a:tcTxStyle b="off" i="off">
        <a:fontRef idx="major">
          <a:srgbClr val="000000"/>
        </a:fontRef>
        <a:srgbClr val="000000"/>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E0E0E0"/>
          </a:solidFill>
        </a:fill>
      </a:tcStyle>
    </a:wholeTbl>
    <a:band2H>
      <a:tcTxStyle b="def" i="def"/>
      <a:tcStyle>
        <a:tcBdr/>
        <a:fill>
          <a:solidFill>
            <a:srgbClr val="F0F0F0"/>
          </a:solidFill>
        </a:fill>
      </a:tcStyle>
    </a:band2H>
    <a:firstCol>
      <a:tcTxStyle b="on" i="off">
        <a:fontRef idx="maj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3"/>
          </a:solidFill>
        </a:fill>
      </a:tcStyle>
    </a:firstCol>
    <a:lastRow>
      <a:tcTxStyle b="on" i="off">
        <a:fontRef idx="maj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381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3"/>
          </a:solidFill>
        </a:fill>
      </a:tcStyle>
    </a:lastRow>
    <a:firstRow>
      <a:tcTxStyle b="on" i="off">
        <a:fontRef idx="maj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381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3"/>
          </a:solidFill>
        </a:fill>
      </a:tcStyle>
    </a:firstRow>
  </a:tblStyle>
  <a:tblStyle styleId="{EEE7283C-3CF3-47DC-8721-378D4A62B228}" styleName="">
    <a:tblBg/>
    <a:wholeTbl>
      <a:tcTxStyle b="off" i="off">
        <a:fontRef idx="major">
          <a:srgbClr val="000000"/>
        </a:fontRef>
        <a:srgbClr val="000000"/>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D4E2CE"/>
          </a:solidFill>
        </a:fill>
      </a:tcStyle>
    </a:wholeTbl>
    <a:band2H>
      <a:tcTxStyle b="def" i="def"/>
      <a:tcStyle>
        <a:tcBdr/>
        <a:fill>
          <a:solidFill>
            <a:srgbClr val="EBF1E8"/>
          </a:solidFill>
        </a:fill>
      </a:tcStyle>
    </a:band2H>
    <a:firstCol>
      <a:tcTxStyle b="on" i="off">
        <a:fontRef idx="maj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6"/>
          </a:solidFill>
        </a:fill>
      </a:tcStyle>
    </a:firstCol>
    <a:lastRow>
      <a:tcTxStyle b="on" i="off">
        <a:fontRef idx="maj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381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6"/>
          </a:solidFill>
        </a:fill>
      </a:tcStyle>
    </a:lastRow>
    <a:firstRow>
      <a:tcTxStyle b="on" i="off">
        <a:fontRef idx="maj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381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6"/>
          </a:solidFill>
        </a:fill>
      </a:tcStyle>
    </a:firstRow>
  </a:tblStyle>
  <a:tblStyle styleId="{CF821DB8-F4EB-4A41-A1BA-3FCAFE7338EE}" styleName="">
    <a:tblBg/>
    <a:wholeTbl>
      <a:tcTxStyle b="off" i="off">
        <a:fontRef idx="major">
          <a:srgbClr val="000000"/>
        </a:fontRef>
        <a:srgbClr val="000000"/>
      </a:tcTxStyle>
      <a:tcStyle>
        <a:tcBdr>
          <a:left>
            <a:ln w="12700" cap="flat">
              <a:noFill/>
              <a:miter lim="400000"/>
            </a:ln>
          </a:left>
          <a:right>
            <a:ln w="12700" cap="flat">
              <a:noFill/>
              <a:miter lim="400000"/>
            </a:ln>
          </a:right>
          <a:top>
            <a:ln w="12700" cap="flat">
              <a:noFill/>
              <a:miter lim="400000"/>
            </a:ln>
          </a:top>
          <a:bottom>
            <a:ln w="12700" cap="flat">
              <a:noFill/>
              <a:miter lim="400000"/>
            </a:ln>
          </a:bottom>
          <a:insideH>
            <a:ln w="12700" cap="flat">
              <a:noFill/>
              <a:miter lim="400000"/>
            </a:ln>
          </a:insideH>
          <a:insideV>
            <a:ln w="12700" cap="flat">
              <a:noFill/>
              <a:miter lim="400000"/>
            </a:ln>
          </a:insideV>
        </a:tcBdr>
        <a:fill>
          <a:solidFill>
            <a:srgbClr val="E6E6E6"/>
          </a:solidFill>
        </a:fill>
      </a:tcStyle>
    </a:wholeTbl>
    <a:band2H>
      <a:tcTxStyle b="def" i="def"/>
      <a:tcStyle>
        <a:tcBdr/>
        <a:fill>
          <a:solidFill>
            <a:srgbClr val="FFFFFF"/>
          </a:solidFill>
        </a:fill>
      </a:tcStyle>
    </a:band2H>
    <a:firstCol>
      <a:tcTxStyle b="on" i="off">
        <a:fontRef idx="major">
          <a:srgbClr val="FFFFFF"/>
        </a:fontRef>
        <a:srgbClr val="FFFFFF"/>
      </a:tcTxStyle>
      <a:tcStyle>
        <a:tcBdr>
          <a:left>
            <a:ln w="12700" cap="flat">
              <a:noFill/>
              <a:miter lim="400000"/>
            </a:ln>
          </a:left>
          <a:right>
            <a:ln w="12700" cap="flat">
              <a:noFill/>
              <a:miter lim="400000"/>
            </a:ln>
          </a:right>
          <a:top>
            <a:ln w="12700" cap="flat">
              <a:noFill/>
              <a:miter lim="400000"/>
            </a:ln>
          </a:top>
          <a:bottom>
            <a:ln w="12700" cap="flat">
              <a:noFill/>
              <a:miter lim="400000"/>
            </a:ln>
          </a:bottom>
          <a:insideH>
            <a:ln w="12700" cap="flat">
              <a:noFill/>
              <a:miter lim="400000"/>
            </a:ln>
          </a:insideH>
          <a:insideV>
            <a:ln w="12700" cap="flat">
              <a:noFill/>
              <a:miter lim="400000"/>
            </a:ln>
          </a:insideV>
        </a:tcBdr>
        <a:fill>
          <a:solidFill>
            <a:schemeClr val="accent1"/>
          </a:solidFill>
        </a:fill>
      </a:tcStyle>
    </a:firstCol>
    <a:lastRow>
      <a:tcTxStyle b="on" i="off">
        <a:fontRef idx="major">
          <a:srgbClr val="000000"/>
        </a:fontRef>
        <a:srgbClr val="000000"/>
      </a:tcTxStyle>
      <a:tcStyle>
        <a:tcBdr>
          <a:left>
            <a:ln w="12700" cap="flat">
              <a:noFill/>
              <a:miter lim="400000"/>
            </a:ln>
          </a:left>
          <a:right>
            <a:ln w="12700" cap="flat">
              <a:noFill/>
              <a:miter lim="400000"/>
            </a:ln>
          </a:right>
          <a:top>
            <a:ln w="50800" cap="flat">
              <a:solidFill>
                <a:srgbClr val="000000"/>
              </a:solidFill>
              <a:prstDash val="solid"/>
              <a:round/>
            </a:ln>
          </a:top>
          <a:bottom>
            <a:ln w="25400" cap="flat">
              <a:solidFill>
                <a:srgbClr val="000000"/>
              </a:solidFill>
              <a:prstDash val="solid"/>
              <a:round/>
            </a:ln>
          </a:bottom>
          <a:insideH>
            <a:ln w="12700" cap="flat">
              <a:noFill/>
              <a:miter lim="400000"/>
            </a:ln>
          </a:insideH>
          <a:insideV>
            <a:ln w="12700" cap="flat">
              <a:noFill/>
              <a:miter lim="400000"/>
            </a:ln>
          </a:insideV>
        </a:tcBdr>
        <a:fill>
          <a:solidFill>
            <a:srgbClr val="FFFFFF"/>
          </a:solidFill>
        </a:fill>
      </a:tcStyle>
    </a:lastRow>
    <a:firstRow>
      <a:tcTxStyle b="on" i="off">
        <a:fontRef idx="major">
          <a:srgbClr val="FFFFFF"/>
        </a:fontRef>
        <a:srgbClr val="FFFFFF"/>
      </a:tcTxStyle>
      <a:tcStyle>
        <a:tcBdr>
          <a:left>
            <a:ln w="12700" cap="flat">
              <a:noFill/>
              <a:miter lim="400000"/>
            </a:ln>
          </a:left>
          <a:right>
            <a:ln w="12700" cap="flat">
              <a:noFill/>
              <a:miter lim="400000"/>
            </a:ln>
          </a:right>
          <a:top>
            <a:ln w="25400" cap="flat">
              <a:solidFill>
                <a:srgbClr val="000000"/>
              </a:solidFill>
              <a:prstDash val="solid"/>
              <a:round/>
            </a:ln>
          </a:top>
          <a:bottom>
            <a:ln w="25400" cap="flat">
              <a:solidFill>
                <a:srgbClr val="000000"/>
              </a:solidFill>
              <a:prstDash val="solid"/>
              <a:round/>
            </a:ln>
          </a:bottom>
          <a:insideH>
            <a:ln w="12700" cap="flat">
              <a:noFill/>
              <a:miter lim="400000"/>
            </a:ln>
          </a:insideH>
          <a:insideV>
            <a:ln w="12700" cap="flat">
              <a:noFill/>
              <a:miter lim="400000"/>
            </a:ln>
          </a:insideV>
        </a:tcBdr>
        <a:fill>
          <a:solidFill>
            <a:schemeClr val="accent1"/>
          </a:solidFill>
        </a:fill>
      </a:tcStyle>
    </a:firstRow>
  </a:tblStyle>
  <a:tblStyle styleId="{33BA23B1-9221-436E-865A-0063620EA4FD}" styleName="">
    <a:tblBg/>
    <a:wholeTbl>
      <a:tcTxStyle b="off" i="off">
        <a:fontRef idx="major">
          <a:srgbClr val="000000"/>
        </a:fontRef>
        <a:srgbClr val="000000"/>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CACACA"/>
          </a:solidFill>
        </a:fill>
      </a:tcStyle>
    </a:wholeTbl>
    <a:band2H>
      <a:tcTxStyle b="def" i="def"/>
      <a:tcStyle>
        <a:tcBdr/>
        <a:fill>
          <a:solidFill>
            <a:srgbClr val="E6E6E6"/>
          </a:solidFill>
        </a:fill>
      </a:tcStyle>
    </a:band2H>
    <a:firstCol>
      <a:tcTxStyle b="on" i="off">
        <a:fontRef idx="maj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000000"/>
          </a:solidFill>
        </a:fill>
      </a:tcStyle>
    </a:firstCol>
    <a:lastRow>
      <a:tcTxStyle b="on" i="off">
        <a:fontRef idx="maj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381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000000"/>
          </a:solidFill>
        </a:fill>
      </a:tcStyle>
    </a:lastRow>
    <a:firstRow>
      <a:tcTxStyle b="on" i="off">
        <a:fontRef idx="maj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381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000000"/>
          </a:solidFill>
        </a:fill>
      </a:tcStyle>
    </a:firstRow>
  </a:tblStyle>
  <a:tblStyle styleId="{2708684C-4D16-4618-839F-0558EEFCDFE6}" styleName="">
    <a:tblBg/>
    <a:wholeTbl>
      <a:tcTxStyle b="off" i="off">
        <a:fontRef idx="major">
          <a:srgbClr val="000000"/>
        </a:fontRef>
        <a:srgbClr val="000000"/>
      </a:tcTxStyle>
      <a:tcStyle>
        <a:tcBdr>
          <a:left>
            <a:ln w="12700" cap="flat">
              <a:solidFill>
                <a:srgbClr val="000000"/>
              </a:solidFill>
              <a:prstDash val="solid"/>
              <a:round/>
            </a:ln>
          </a:left>
          <a:right>
            <a:ln w="12700" cap="flat">
              <a:solidFill>
                <a:srgbClr val="000000"/>
              </a:solidFill>
              <a:prstDash val="solid"/>
              <a:round/>
            </a:ln>
          </a:right>
          <a:top>
            <a:ln w="12700" cap="flat">
              <a:solidFill>
                <a:srgbClr val="000000"/>
              </a:solidFill>
              <a:prstDash val="solid"/>
              <a:round/>
            </a:ln>
          </a:top>
          <a:bottom>
            <a:ln w="12700" cap="flat">
              <a:solidFill>
                <a:srgbClr val="000000"/>
              </a:solidFill>
              <a:prstDash val="solid"/>
              <a:round/>
            </a:ln>
          </a:bottom>
          <a:insideH>
            <a:ln w="12700" cap="flat">
              <a:solidFill>
                <a:srgbClr val="000000"/>
              </a:solidFill>
              <a:prstDash val="solid"/>
              <a:round/>
            </a:ln>
          </a:insideH>
          <a:insideV>
            <a:ln w="12700" cap="flat">
              <a:solidFill>
                <a:srgbClr val="000000"/>
              </a:solidFill>
              <a:prstDash val="solid"/>
              <a:round/>
            </a:ln>
          </a:insideV>
        </a:tcBdr>
        <a:fill>
          <a:solidFill>
            <a:srgbClr val="000000">
              <a:alpha val="20000"/>
            </a:srgbClr>
          </a:solidFill>
        </a:fill>
      </a:tcStyle>
    </a:wholeTbl>
    <a:band2H>
      <a:tcTxStyle b="def" i="def"/>
      <a:tcStyle>
        <a:tcBdr/>
        <a:fill>
          <a:solidFill>
            <a:srgbClr val="FFFFFF"/>
          </a:solidFill>
        </a:fill>
      </a:tcStyle>
    </a:band2H>
    <a:firstCol>
      <a:tcTxStyle b="on" i="off">
        <a:fontRef idx="major">
          <a:srgbClr val="000000"/>
        </a:fontRef>
        <a:srgbClr val="000000"/>
      </a:tcTxStyle>
      <a:tcStyle>
        <a:tcBdr>
          <a:left>
            <a:ln w="12700" cap="flat">
              <a:solidFill>
                <a:srgbClr val="000000"/>
              </a:solidFill>
              <a:prstDash val="solid"/>
              <a:round/>
            </a:ln>
          </a:left>
          <a:right>
            <a:ln w="12700" cap="flat">
              <a:solidFill>
                <a:srgbClr val="000000"/>
              </a:solidFill>
              <a:prstDash val="solid"/>
              <a:round/>
            </a:ln>
          </a:right>
          <a:top>
            <a:ln w="12700" cap="flat">
              <a:solidFill>
                <a:srgbClr val="000000"/>
              </a:solidFill>
              <a:prstDash val="solid"/>
              <a:round/>
            </a:ln>
          </a:top>
          <a:bottom>
            <a:ln w="12700" cap="flat">
              <a:solidFill>
                <a:srgbClr val="000000"/>
              </a:solidFill>
              <a:prstDash val="solid"/>
              <a:round/>
            </a:ln>
          </a:bottom>
          <a:insideH>
            <a:ln w="12700" cap="flat">
              <a:solidFill>
                <a:srgbClr val="000000"/>
              </a:solidFill>
              <a:prstDash val="solid"/>
              <a:round/>
            </a:ln>
          </a:insideH>
          <a:insideV>
            <a:ln w="12700" cap="flat">
              <a:solidFill>
                <a:srgbClr val="000000"/>
              </a:solidFill>
              <a:prstDash val="solid"/>
              <a:round/>
            </a:ln>
          </a:insideV>
        </a:tcBdr>
        <a:fill>
          <a:solidFill>
            <a:srgbClr val="000000">
              <a:alpha val="20000"/>
            </a:srgbClr>
          </a:solidFill>
        </a:fill>
      </a:tcStyle>
    </a:firstCol>
    <a:lastRow>
      <a:tcTxStyle b="on" i="off">
        <a:fontRef idx="major">
          <a:srgbClr val="000000"/>
        </a:fontRef>
        <a:srgbClr val="000000"/>
      </a:tcTxStyle>
      <a:tcStyle>
        <a:tcBdr>
          <a:left>
            <a:ln w="12700" cap="flat">
              <a:solidFill>
                <a:srgbClr val="000000"/>
              </a:solidFill>
              <a:prstDash val="solid"/>
              <a:round/>
            </a:ln>
          </a:left>
          <a:right>
            <a:ln w="12700" cap="flat">
              <a:solidFill>
                <a:srgbClr val="000000"/>
              </a:solidFill>
              <a:prstDash val="solid"/>
              <a:round/>
            </a:ln>
          </a:right>
          <a:top>
            <a:ln w="50800" cap="flat">
              <a:solidFill>
                <a:srgbClr val="000000"/>
              </a:solidFill>
              <a:prstDash val="solid"/>
              <a:round/>
            </a:ln>
          </a:top>
          <a:bottom>
            <a:ln w="12700" cap="flat">
              <a:solidFill>
                <a:srgbClr val="000000"/>
              </a:solidFill>
              <a:prstDash val="solid"/>
              <a:round/>
            </a:ln>
          </a:bottom>
          <a:insideH>
            <a:ln w="12700" cap="flat">
              <a:solidFill>
                <a:srgbClr val="000000"/>
              </a:solidFill>
              <a:prstDash val="solid"/>
              <a:round/>
            </a:ln>
          </a:insideH>
          <a:insideV>
            <a:ln w="12700" cap="flat">
              <a:solidFill>
                <a:srgbClr val="000000"/>
              </a:solidFill>
              <a:prstDash val="solid"/>
              <a:round/>
            </a:ln>
          </a:insideV>
        </a:tcBdr>
        <a:fill>
          <a:noFill/>
        </a:fill>
      </a:tcStyle>
    </a:lastRow>
    <a:firstRow>
      <a:tcTxStyle b="on" i="off">
        <a:fontRef idx="major">
          <a:srgbClr val="000000"/>
        </a:fontRef>
        <a:srgbClr val="000000"/>
      </a:tcTxStyle>
      <a:tcStyle>
        <a:tcBdr>
          <a:left>
            <a:ln w="12700" cap="flat">
              <a:solidFill>
                <a:srgbClr val="000000"/>
              </a:solidFill>
              <a:prstDash val="solid"/>
              <a:round/>
            </a:ln>
          </a:left>
          <a:right>
            <a:ln w="12700" cap="flat">
              <a:solidFill>
                <a:srgbClr val="000000"/>
              </a:solidFill>
              <a:prstDash val="solid"/>
              <a:round/>
            </a:ln>
          </a:right>
          <a:top>
            <a:ln w="12700" cap="flat">
              <a:solidFill>
                <a:srgbClr val="000000"/>
              </a:solidFill>
              <a:prstDash val="solid"/>
              <a:round/>
            </a:ln>
          </a:top>
          <a:bottom>
            <a:ln w="25400" cap="flat">
              <a:solidFill>
                <a:srgbClr val="000000"/>
              </a:solidFill>
              <a:prstDash val="solid"/>
              <a:round/>
            </a:ln>
          </a:bottom>
          <a:insideH>
            <a:ln w="12700" cap="flat">
              <a:solidFill>
                <a:srgbClr val="000000"/>
              </a:solidFill>
              <a:prstDash val="solid"/>
              <a:round/>
            </a:ln>
          </a:insideH>
          <a:insideV>
            <a:ln w="12700" cap="flat">
              <a:solidFill>
                <a:srgbClr val="000000"/>
              </a:solidFill>
              <a:prstDash val="solid"/>
              <a:round/>
            </a:ln>
          </a:insideV>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Comments="1"/>
</file>

<file path=ppt/_rels/presentation.xml.rels><?xml version="1.0" encoding="UTF-8"?>
<Relationships xmlns="http://schemas.openxmlformats.org/package/2006/relationships"><Relationship Id="rId1" Type="http://schemas.openxmlformats.org/officeDocument/2006/relationships/presProps" Target="presProps.xml"/><Relationship Id="rId2" Type="http://schemas.openxmlformats.org/officeDocument/2006/relationships/viewProps" Target="viewProps.xml"/><Relationship Id="rId3" Type="http://schemas.openxmlformats.org/officeDocument/2006/relationships/commentAuthors" Target="commentAuthors.xml"/><Relationship Id="rId4" Type="http://schemas.openxmlformats.org/officeDocument/2006/relationships/tableStyles" Target="tableStyles.xml"/><Relationship Id="rId5" Type="http://schemas.openxmlformats.org/officeDocument/2006/relationships/slideMaster" Target="slideMasters/slideMaster1.xml"/><Relationship Id="rId6" Type="http://schemas.openxmlformats.org/officeDocument/2006/relationships/theme" Target="theme/theme1.xml"/><Relationship Id="rId7" Type="http://schemas.openxmlformats.org/officeDocument/2006/relationships/notesMaster" Target="notesMasters/notesMaster1.xml"/><Relationship Id="rId8" Type="http://schemas.openxmlformats.org/officeDocument/2006/relationships/slide" Target="slides/slide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s>

</file>

<file path=ppt/notesMasters/_rels/notesMaster1.xml.rels><?xml version="1.0" encoding="UTF-8"?>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p:cSld>
    <p:spTree>
      <p:nvGrpSpPr>
        <p:cNvPr id="1" name=""/>
        <p:cNvGrpSpPr/>
        <p:nvPr/>
      </p:nvGrpSpPr>
      <p:grpSpPr>
        <a:xfrm>
          <a:off x="0" y="0"/>
          <a:ext cx="0" cy="0"/>
          <a:chOff x="0" y="0"/>
          <a:chExt cx="0" cy="0"/>
        </a:xfrm>
      </p:grpSpPr>
      <p:sp>
        <p:nvSpPr>
          <p:cNvPr id="17" name="Shape 17"/>
          <p:cNvSpPr/>
          <p:nvPr>
            <p:ph type="sldImg"/>
          </p:nvPr>
        </p:nvSpPr>
        <p:spPr>
          <a:xfrm>
            <a:off x="1143000" y="685800"/>
            <a:ext cx="4572000" cy="3429000"/>
          </a:xfrm>
          <a:prstGeom prst="rect">
            <a:avLst/>
          </a:prstGeom>
        </p:spPr>
        <p:txBody>
          <a:bodyPr/>
          <a:lstStyle/>
          <a:p>
            <a:pPr/>
          </a:p>
        </p:txBody>
      </p:sp>
      <p:sp>
        <p:nvSpPr>
          <p:cNvPr id="18" name="Shape 18"/>
          <p:cNvSpPr/>
          <p:nvPr>
            <p:ph type="body" sz="quarter" idx="1"/>
          </p:nvPr>
        </p:nvSpPr>
        <p:spPr>
          <a:xfrm>
            <a:off x="914400" y="4343400"/>
            <a:ext cx="5029200" cy="4114800"/>
          </a:xfrm>
          <a:prstGeom prst="rect">
            <a:avLst/>
          </a:prstGeom>
        </p:spPr>
        <p:txBody>
          <a:bodyPr/>
          <a:lstStyle/>
          <a:p>
            <a:pPr/>
          </a:p>
        </p:txBody>
      </p:sp>
    </p:spTree>
  </p:cSld>
  <p:clrMap bg1="lt1" tx1="dk1" bg2="lt2" tx2="dk2" accent1="accent1" accent2="accent2" accent3="accent3" accent4="accent4" accent5="accent5" accent6="accent6" hlink="hlink" folHlink="folHlink"/>
  <p:notesStyle>
    <a:lvl1pPr latinLnBrk="0">
      <a:defRPr sz="1200">
        <a:latin typeface="+mj-lt"/>
        <a:ea typeface="+mj-ea"/>
        <a:cs typeface="+mj-cs"/>
        <a:sym typeface="Aptos"/>
      </a:defRPr>
    </a:lvl1pPr>
    <a:lvl2pPr indent="228600" latinLnBrk="0">
      <a:defRPr sz="1200">
        <a:latin typeface="+mj-lt"/>
        <a:ea typeface="+mj-ea"/>
        <a:cs typeface="+mj-cs"/>
        <a:sym typeface="Aptos"/>
      </a:defRPr>
    </a:lvl2pPr>
    <a:lvl3pPr indent="457200" latinLnBrk="0">
      <a:defRPr sz="1200">
        <a:latin typeface="+mj-lt"/>
        <a:ea typeface="+mj-ea"/>
        <a:cs typeface="+mj-cs"/>
        <a:sym typeface="Aptos"/>
      </a:defRPr>
    </a:lvl3pPr>
    <a:lvl4pPr indent="685800" latinLnBrk="0">
      <a:defRPr sz="1200">
        <a:latin typeface="+mj-lt"/>
        <a:ea typeface="+mj-ea"/>
        <a:cs typeface="+mj-cs"/>
        <a:sym typeface="Aptos"/>
      </a:defRPr>
    </a:lvl4pPr>
    <a:lvl5pPr indent="914400" latinLnBrk="0">
      <a:defRPr sz="1200">
        <a:latin typeface="+mj-lt"/>
        <a:ea typeface="+mj-ea"/>
        <a:cs typeface="+mj-cs"/>
        <a:sym typeface="Aptos"/>
      </a:defRPr>
    </a:lvl5pPr>
    <a:lvl6pPr indent="1143000" latinLnBrk="0">
      <a:defRPr sz="1200">
        <a:latin typeface="+mj-lt"/>
        <a:ea typeface="+mj-ea"/>
        <a:cs typeface="+mj-cs"/>
        <a:sym typeface="Aptos"/>
      </a:defRPr>
    </a:lvl6pPr>
    <a:lvl7pPr indent="1371600" latinLnBrk="0">
      <a:defRPr sz="1200">
        <a:latin typeface="+mj-lt"/>
        <a:ea typeface="+mj-ea"/>
        <a:cs typeface="+mj-cs"/>
        <a:sym typeface="Aptos"/>
      </a:defRPr>
    </a:lvl7pPr>
    <a:lvl8pPr indent="1600200" latinLnBrk="0">
      <a:defRPr sz="1200">
        <a:latin typeface="+mj-lt"/>
        <a:ea typeface="+mj-ea"/>
        <a:cs typeface="+mj-cs"/>
        <a:sym typeface="Aptos"/>
      </a:defRPr>
    </a:lvl8pPr>
    <a:lvl9pPr indent="1828800" latinLnBrk="0">
      <a:defRPr sz="1200">
        <a:latin typeface="+mj-lt"/>
        <a:ea typeface="+mj-ea"/>
        <a:cs typeface="+mj-cs"/>
        <a:sym typeface="Aptos"/>
      </a:defRPr>
    </a:lvl9pPr>
  </p:notesStyle>
</p:notesMaster>
</file>

<file path=ppt/notesSlides/_rels/notesSlide1.xml.rels><?xml version="1.0" encoding="UTF-8"?>
<Relationships xmlns="http://schemas.openxmlformats.org/package/2006/relationships"><Relationship Id="rId1" Type="http://schemas.openxmlformats.org/officeDocument/2006/relationships/slide" Target="../slides/slide2.xml"/><Relationship Id="rId2" Type="http://schemas.openxmlformats.org/officeDocument/2006/relationships/notesMaster" Target="../notesMasters/notesMaster1.xml"/></Relationships>

</file>

<file path=ppt/notesSlides/_rels/notesSlide2.xml.rels><?xml version="1.0" encoding="UTF-8"?>
<Relationships xmlns="http://schemas.openxmlformats.org/package/2006/relationships"><Relationship Id="rId1" Type="http://schemas.openxmlformats.org/officeDocument/2006/relationships/slide" Target="../slides/slide4.xml"/><Relationship Id="rId2" Type="http://schemas.openxmlformats.org/officeDocument/2006/relationships/notesMaster" Target="../notesMasters/notesMaster1.xml"/></Relationships>

</file>

<file path=ppt/notesSlides/_rels/notesSlide3.xml.rels><?xml version="1.0" encoding="UTF-8"?>
<Relationships xmlns="http://schemas.openxmlformats.org/package/2006/relationships"><Relationship Id="rId1" Type="http://schemas.openxmlformats.org/officeDocument/2006/relationships/slide" Target="../slides/slide5.xml"/><Relationship Id="rId2" Type="http://schemas.openxmlformats.org/officeDocument/2006/relationships/notesMaster" Target="../notesMasters/notesMaster1.xml"/></Relationships>

</file>

<file path=ppt/notesSlides/_rels/notesSlide4.xml.rels><?xml version="1.0" encoding="UTF-8"?>
<Relationships xmlns="http://schemas.openxmlformats.org/package/2006/relationships"><Relationship Id="rId1" Type="http://schemas.openxmlformats.org/officeDocument/2006/relationships/slide" Target="../slides/slide6.xml"/><Relationship Id="rId2" Type="http://schemas.openxmlformats.org/officeDocument/2006/relationships/notesMaster" Target="../notesMasters/notesMaster1.xml"/></Relationships>

</file>

<file path=ppt/notesSlides/_rels/notesSlide5.xml.rels><?xml version="1.0" encoding="UTF-8"?>
<Relationships xmlns="http://schemas.openxmlformats.org/package/2006/relationships"><Relationship Id="rId1" Type="http://schemas.openxmlformats.org/officeDocument/2006/relationships/slide" Target="../slides/slide7.xml"/><Relationship Id="rId2" Type="http://schemas.openxmlformats.org/officeDocument/2006/relationships/notesMaster" Target="../notesMasters/notesMaster1.xml"/></Relationships>

</file>

<file path=ppt/notesSlides/_rels/notesSlide6.xml.rels><?xml version="1.0" encoding="UTF-8"?>
<Relationships xmlns="http://schemas.openxmlformats.org/package/2006/relationships"><Relationship Id="rId1" Type="http://schemas.openxmlformats.org/officeDocument/2006/relationships/slide" Target="../slides/slide8.xml"/><Relationship Id="rId2" Type="http://schemas.openxmlformats.org/officeDocument/2006/relationships/notesMaster" Target="../notesMasters/notesMaster1.xml"/></Relationships>

</file>

<file path=ppt/notesSlides/_rels/notesSlide7.xml.rels><?xml version="1.0" encoding="UTF-8"?>
<Relationships xmlns="http://schemas.openxmlformats.org/package/2006/relationships"><Relationship Id="rId1" Type="http://schemas.openxmlformats.org/officeDocument/2006/relationships/slide" Target="../slides/slide9.xml"/><Relationship Id="rId2" Type="http://schemas.openxmlformats.org/officeDocument/2006/relationships/notesMaster" Target="../notesMasters/notesMaster1.xml"/></Relationships>

</file>

<file path=ppt/notesSlides/_rels/notesSlide8.xml.rels><?xml version="1.0" encoding="UTF-8"?>
<Relationships xmlns="http://schemas.openxmlformats.org/package/2006/relationships"><Relationship Id="rId1" Type="http://schemas.openxmlformats.org/officeDocument/2006/relationships/slide" Target="../slides/slide10.xml"/><Relationship Id="rId2" Type="http://schemas.openxmlformats.org/officeDocument/2006/relationships/notesMaster" Target="../notesMasters/notesMaster1.xml"/></Relationships>

</file>

<file path=ppt/notesSlides/_rels/notesSlide9.xml.rels><?xml version="1.0" encoding="UTF-8"?>
<Relationships xmlns="http://schemas.openxmlformats.org/package/2006/relationships"><Relationship Id="rId1" Type="http://schemas.openxmlformats.org/officeDocument/2006/relationships/slide" Target="../slides/slide12.xml"/><Relationship Id="rId2" Type="http://schemas.openxmlformats.org/officeDocument/2006/relationships/notesMaster" Target="../notesMasters/notesMaster1.xml"/></Relationships>

</file>

<file path=ppt/notesSlides/_rels/notesSlide10.xml.rels><?xml version="1.0" encoding="UTF-8"?>
<Relationships xmlns="http://schemas.openxmlformats.org/package/2006/relationships"><Relationship Id="rId1" Type="http://schemas.openxmlformats.org/officeDocument/2006/relationships/slide" Target="../slides/slide15.xml"/><Relationship Id="rId2" Type="http://schemas.openxmlformats.org/officeDocument/2006/relationships/notesMaster" Target="../notesMasters/notesMaster1.xml"/></Relationships>

</file>

<file path=ppt/notesSlides/_rels/notesSlide11.xml.rels><?xml version="1.0" encoding="UTF-8"?>
<Relationships xmlns="http://schemas.openxmlformats.org/package/2006/relationships"><Relationship Id="rId1" Type="http://schemas.openxmlformats.org/officeDocument/2006/relationships/slide" Target="../slides/slide16.xml"/><Relationship Id="rId2"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26" name="Shape 26"/>
          <p:cNvSpPr/>
          <p:nvPr>
            <p:ph type="sldImg"/>
          </p:nvPr>
        </p:nvSpPr>
        <p:spPr>
          <a:prstGeom prst="rect">
            <a:avLst/>
          </a:prstGeom>
        </p:spPr>
        <p:txBody>
          <a:bodyPr/>
          <a:lstStyle/>
          <a:p>
            <a:pPr/>
          </a:p>
        </p:txBody>
      </p:sp>
      <p:sp>
        <p:nvSpPr>
          <p:cNvPr id="27" name="Shape 27"/>
          <p:cNvSpPr/>
          <p:nvPr>
            <p:ph type="body" sz="quarter" idx="1"/>
          </p:nvPr>
        </p:nvSpPr>
        <p:spPr>
          <a:prstGeom prst="rect">
            <a:avLst/>
          </a:prstGeom>
        </p:spPr>
        <p:txBody>
          <a:bodyPr/>
          <a:lstStyle/>
          <a:p>
            <a:pPr/>
            <a:r>
              <a:t>Allegra is allergic to shellfish, Ben to bee stings, Clara to nuts, Flora to pollen and Zach to cats.</a:t>
            </a: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47" name="Shape 47"/>
          <p:cNvSpPr/>
          <p:nvPr>
            <p:ph type="sldImg"/>
          </p:nvPr>
        </p:nvSpPr>
        <p:spPr>
          <a:prstGeom prst="rect">
            <a:avLst/>
          </a:prstGeom>
        </p:spPr>
        <p:txBody>
          <a:bodyPr/>
          <a:lstStyle/>
          <a:p>
            <a:pPr/>
          </a:p>
        </p:txBody>
      </p:sp>
      <p:sp>
        <p:nvSpPr>
          <p:cNvPr id="48" name="Shape 48"/>
          <p:cNvSpPr/>
          <p:nvPr>
            <p:ph type="body" sz="quarter" idx="1"/>
          </p:nvPr>
        </p:nvSpPr>
        <p:spPr>
          <a:prstGeom prst="rect">
            <a:avLst/>
          </a:prstGeom>
        </p:spPr>
        <p:txBody>
          <a:bodyPr/>
          <a:lstStyle/>
          <a:p>
            <a:pPr/>
            <a:r>
              <a:t>Open by framing evaluation as the answer to a practical question: which model should we trust? Connect to the fruit example immediately, because it is concrete and low-stakes. Emphasize that the lesson is not only about code or formulas. It is about designing an honest experiment. If the experiment is unfair, even a perfect-looking number tells us nothing useful.</a:t>
            </a:r>
          </a:p>
          <a:p>
            <a:pPr/>
          </a:p>
          <a:p>
            <a:pPr/>
            <a:r>
              <a:t>[Sources]</a:t>
            </a:r>
          </a:p>
          <a:p>
            <a:pPr/>
            <a:r>
              <a:t>- Uploaded lecture PDF: 21.Methodology1.annotated.pdf, pages 1 to 3, introducing model evaluation and the question of which model is best.</a:t>
            </a:r>
          </a:p>
          <a:p>
            <a:pPr/>
            <a:r>
              <a:t>- Kaggle Learn notebook: “Model Validation” by Dan Becker, for the train/test and MAE workflow.</a:t>
            </a: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66" name="Shape 66"/>
          <p:cNvSpPr/>
          <p:nvPr>
            <p:ph type="sldImg"/>
          </p:nvPr>
        </p:nvSpPr>
        <p:spPr>
          <a:prstGeom prst="rect">
            <a:avLst/>
          </a:prstGeom>
        </p:spPr>
        <p:txBody>
          <a:bodyPr/>
          <a:lstStyle/>
          <a:p>
            <a:pPr/>
          </a:p>
        </p:txBody>
      </p:sp>
      <p:sp>
        <p:nvSpPr>
          <p:cNvPr id="67" name="Shape 67"/>
          <p:cNvSpPr/>
          <p:nvPr>
            <p:ph type="body" sz="quarter" idx="1"/>
          </p:nvPr>
        </p:nvSpPr>
        <p:spPr>
          <a:prstGeom prst="rect">
            <a:avLst/>
          </a:prstGeom>
        </p:spPr>
        <p:txBody>
          <a:bodyPr/>
          <a:lstStyle/>
          <a:p>
            <a:pPr/>
            <a:r>
              <a:t>The lecture makes this move very early: comparing models is easy in principle, but only if we trust the measurement. Use this slide to slow students down. They will naturally focus on the numbers. Push them to inspect the experiment that produced the numbers. That habit is the foundation of model evaluation and of scientific thinking more broadly.</a:t>
            </a: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80" name="Shape 80"/>
          <p:cNvSpPr/>
          <p:nvPr>
            <p:ph type="sldImg"/>
          </p:nvPr>
        </p:nvSpPr>
        <p:spPr>
          <a:prstGeom prst="rect">
            <a:avLst/>
          </a:prstGeom>
        </p:spPr>
        <p:txBody>
          <a:bodyPr/>
          <a:lstStyle/>
          <a:p>
            <a:pPr/>
          </a:p>
        </p:txBody>
      </p:sp>
      <p:sp>
        <p:nvSpPr>
          <p:cNvPr id="81" name="Shape 81"/>
          <p:cNvSpPr/>
          <p:nvPr>
            <p:ph type="body" sz="quarter" idx="1"/>
          </p:nvPr>
        </p:nvSpPr>
        <p:spPr>
          <a:prstGeom prst="rect">
            <a:avLst/>
          </a:prstGeom>
        </p:spPr>
        <p:txBody>
          <a:bodyPr/>
          <a:lstStyle/>
          <a:p>
            <a:pPr/>
            <a:r>
              <a:t>This slide should feel like a warning sign. The phrase “never judge performance on the training data” appears explicitly in the lecture, and it is worth treating as a rule, not merely a suggestion. Give students the test analogy: a student who memorized yesterday’s worksheet may look strong until the quiz changes. The same thing happens with models.</a:t>
            </a:r>
          </a:p>
          <a:p>
            <a:pPr/>
          </a:p>
          <a:p>
            <a:pPr/>
            <a:r>
              <a:t>[Sources]</a:t>
            </a:r>
          </a:p>
          <a:p>
            <a:pPr/>
            <a:r>
              <a:t>- Uploaded lecture PDF: page 3, “Never judge your performance on the training data.”</a:t>
            </a:r>
          </a:p>
          <a:p>
            <a:pPr/>
            <a:r>
              <a:t>- Uploaded lecture PDF: page 2, discussion of overfitting when evaluating on training data.</a:t>
            </a: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98" name="Shape 98"/>
          <p:cNvSpPr/>
          <p:nvPr>
            <p:ph type="sldImg"/>
          </p:nvPr>
        </p:nvSpPr>
        <p:spPr>
          <a:prstGeom prst="rect">
            <a:avLst/>
          </a:prstGeom>
        </p:spPr>
        <p:txBody>
          <a:bodyPr/>
          <a:lstStyle/>
          <a:p>
            <a:pPr/>
          </a:p>
        </p:txBody>
      </p:sp>
      <p:sp>
        <p:nvSpPr>
          <p:cNvPr id="99" name="Shape 99"/>
          <p:cNvSpPr/>
          <p:nvPr>
            <p:ph type="body" sz="quarter" idx="1"/>
          </p:nvPr>
        </p:nvSpPr>
        <p:spPr>
          <a:prstGeom prst="rect">
            <a:avLst/>
          </a:prstGeom>
        </p:spPr>
        <p:txBody>
          <a:bodyPr/>
          <a:lstStyle/>
          <a:p>
            <a:pPr/>
            <a:r>
              <a:t>You should test a model against a different set of examples than those used to train the model. As you'll learn a little later, testing on different examples is stronger proof of your model's fitness than testing on the same set of examples. Where do you get those different examples? Traditionally in machine learning, you get those different examples by splitting the original dataset. You might assume, therefore, that you should split the original dataset into two subsets:</a:t>
            </a:r>
          </a:p>
          <a:p>
            <a:pPr/>
          </a:p>
          <a:p>
            <a:pPr/>
            <a:r>
              <a:t>A training set that the model trains on.</a:t>
            </a:r>
          </a:p>
          <a:p>
            <a:pPr/>
            <a:r>
              <a:t>A test set for evaluation of the trained model.</a:t>
            </a: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114" name="Shape 114"/>
          <p:cNvSpPr/>
          <p:nvPr>
            <p:ph type="sldImg"/>
          </p:nvPr>
        </p:nvSpPr>
        <p:spPr>
          <a:prstGeom prst="rect">
            <a:avLst/>
          </a:prstGeom>
        </p:spPr>
        <p:txBody>
          <a:bodyPr/>
          <a:lstStyle/>
          <a:p>
            <a:pPr/>
          </a:p>
        </p:txBody>
      </p:sp>
      <p:sp>
        <p:nvSpPr>
          <p:cNvPr id="115" name="Shape 115"/>
          <p:cNvSpPr/>
          <p:nvPr>
            <p:ph type="body" sz="quarter" idx="1"/>
          </p:nvPr>
        </p:nvSpPr>
        <p:spPr>
          <a:prstGeom prst="rect">
            <a:avLst/>
          </a:prstGeom>
        </p:spPr>
        <p:txBody>
          <a:bodyPr/>
          <a:lstStyle/>
          <a:p>
            <a:pPr/>
            <a:r>
              <a:t>Explain MAE as a language bridge between mathematics and intuition. Students do not need to love the formula if they can interpret the sentence it produces. In a fruit example, “off by 12 grams on average” is immediately meaningful. Also emphasize why the absolute value bars are there: they stop positive and negative mistakes from masking each other.</a:t>
            </a:r>
          </a:p>
          <a:p>
            <a:pPr/>
          </a:p>
          <a:p>
            <a:pPr/>
            <a:r>
              <a:t>[Sources]</a:t>
            </a:r>
          </a:p>
          <a:p>
            <a:pPr/>
            <a:r>
              <a:t>- Kaggle Learn notebook: “Model Validation,” which introduces MAE for model quality.</a:t>
            </a:r>
          </a:p>
          <a:p>
            <a:pPr/>
            <a:r>
              <a:t>- General regression-evaluation framing aligned with the uploaded lecture PDF, which later discusses error metrics for regression.</a:t>
            </a: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128" name="Shape 128"/>
          <p:cNvSpPr/>
          <p:nvPr>
            <p:ph type="sldImg"/>
          </p:nvPr>
        </p:nvSpPr>
        <p:spPr>
          <a:prstGeom prst="rect">
            <a:avLst/>
          </a:prstGeom>
        </p:spPr>
        <p:txBody>
          <a:bodyPr/>
          <a:lstStyle/>
          <a:p>
            <a:pPr/>
          </a:p>
        </p:txBody>
      </p:sp>
      <p:sp>
        <p:nvSpPr>
          <p:cNvPr id="129" name="Shape 129"/>
          <p:cNvSpPr/>
          <p:nvPr>
            <p:ph type="body" sz="quarter" idx="1"/>
          </p:nvPr>
        </p:nvSpPr>
        <p:spPr>
          <a:prstGeom prst="rect">
            <a:avLst/>
          </a:prstGeom>
        </p:spPr>
        <p:txBody>
          <a:bodyPr/>
          <a:lstStyle/>
          <a:p>
            <a:pPr/>
            <a:r>
              <a:t>Work this one slowly. Invite students to compute the three errors before you reveal the average. Stress that MAE is not a percentage. It uses the original unit of the target, which makes it unusually readable for beginners. You can also connect it back to the question “How wrong are we?” instead of introducing it as just another function to memorize.</a:t>
            </a:r>
          </a:p>
          <a:p>
            <a:pPr/>
          </a:p>
          <a:p>
            <a:pPr/>
            <a:r>
              <a:t>[Sources]</a:t>
            </a:r>
          </a:p>
          <a:p>
            <a:pPr/>
            <a:r>
              <a:t>- Kaggle Learn notebook: “Model Validation,” use of MAE as the quality metric.</a:t>
            </a:r>
          </a:p>
          <a:p>
            <a:pPr/>
            <a:r>
              <a:t>- Fruit example and worked values created for classroom illustration.</a:t>
            </a: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142" name="Shape 142"/>
          <p:cNvSpPr/>
          <p:nvPr>
            <p:ph type="sldImg"/>
          </p:nvPr>
        </p:nvSpPr>
        <p:spPr>
          <a:prstGeom prst="rect">
            <a:avLst/>
          </a:prstGeom>
        </p:spPr>
        <p:txBody>
          <a:bodyPr/>
          <a:lstStyle/>
          <a:p>
            <a:pPr/>
          </a:p>
        </p:txBody>
      </p:sp>
      <p:sp>
        <p:nvSpPr>
          <p:cNvPr id="143" name="Shape 143"/>
          <p:cNvSpPr/>
          <p:nvPr>
            <p:ph type="body" sz="quarter" idx="1"/>
          </p:nvPr>
        </p:nvSpPr>
        <p:spPr>
          <a:prstGeom prst="rect">
            <a:avLst/>
          </a:prstGeom>
        </p:spPr>
        <p:txBody>
          <a:bodyPr/>
          <a:lstStyle/>
          <a:p>
            <a:pPr/>
            <a:r>
              <a:t>Scikit-learn splits data primarily through the train_test_split function from the sklearn.model_selection module. This utility divides your dataset into a training set for fitting the model and a testing set for unbiased performance evaluation.</a:t>
            </a: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159" name="Shape 159"/>
          <p:cNvSpPr/>
          <p:nvPr>
            <p:ph type="sldImg"/>
          </p:nvPr>
        </p:nvSpPr>
        <p:spPr>
          <a:prstGeom prst="rect">
            <a:avLst/>
          </a:prstGeom>
        </p:spPr>
        <p:txBody>
          <a:bodyPr/>
          <a:lstStyle/>
          <a:p>
            <a:pPr/>
          </a:p>
        </p:txBody>
      </p:sp>
      <p:sp>
        <p:nvSpPr>
          <p:cNvPr id="160" name="Shape 160"/>
          <p:cNvSpPr/>
          <p:nvPr>
            <p:ph type="body" sz="quarter" idx="1"/>
          </p:nvPr>
        </p:nvSpPr>
        <p:spPr>
          <a:prstGeom prst="rect">
            <a:avLst/>
          </a:prstGeom>
        </p:spPr>
        <p:txBody>
          <a:bodyPr/>
          <a:lstStyle/>
          <a:p>
            <a:pPr/>
            <a:r>
              <a:t>Pause here. This is the concept that usually surprises students and many adults too. They think hiding a test set solves everything. Explain that if the test set becomes part of the model-selection process, it is no longer a neutral judge. The uploaded lecture describes this as overfitting again, specifically overfitting the hyperparameter choice to the test data.</a:t>
            </a:r>
          </a:p>
          <a:p>
            <a:pPr/>
          </a:p>
          <a:p>
            <a:pPr/>
            <a:r>
              <a:t>[Sources]</a:t>
            </a:r>
          </a:p>
          <a:p>
            <a:pPr/>
            <a:r>
              <a:t>- Uploaded lecture PDF: pages 3 to 6, the kNN example showing that repeated testing on the same test set can lead to selecting a lucky model.</a:t>
            </a: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217" name="Shape 217"/>
          <p:cNvSpPr/>
          <p:nvPr>
            <p:ph type="sldImg"/>
          </p:nvPr>
        </p:nvSpPr>
        <p:spPr>
          <a:prstGeom prst="rect">
            <a:avLst/>
          </a:prstGeom>
        </p:spPr>
        <p:txBody>
          <a:bodyPr/>
          <a:lstStyle/>
          <a:p>
            <a:pPr/>
          </a:p>
        </p:txBody>
      </p:sp>
      <p:sp>
        <p:nvSpPr>
          <p:cNvPr id="218" name="Shape 218"/>
          <p:cNvSpPr/>
          <p:nvPr>
            <p:ph type="body" sz="quarter" idx="1"/>
          </p:nvPr>
        </p:nvSpPr>
        <p:spPr>
          <a:prstGeom prst="rect">
            <a:avLst/>
          </a:prstGeom>
        </p:spPr>
        <p:txBody>
          <a:bodyPr/>
          <a:lstStyle/>
          <a:p>
            <a:pPr/>
            <a:r>
              <a:t>You do not need to go deep here unless your students are ready. The key message is that cross-validation is a practical answer to the question “How can I choose a model when I do not have much training data?” Emphasize that it is still part of the model-selection phase. The final test set remains untouched.</a:t>
            </a:r>
          </a:p>
          <a:p>
            <a:pPr/>
          </a:p>
          <a:p>
            <a:pPr/>
            <a:r>
              <a:t>[Sources]</a:t>
            </a:r>
          </a:p>
          <a:p>
            <a:pPr/>
            <a:r>
              <a:t>- Uploaded lecture PDF: page 9, cross-validation overview and averaging over folds.</a:t>
            </a: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239" name="Shape 239"/>
          <p:cNvSpPr/>
          <p:nvPr>
            <p:ph type="sldImg"/>
          </p:nvPr>
        </p:nvSpPr>
        <p:spPr>
          <a:prstGeom prst="rect">
            <a:avLst/>
          </a:prstGeom>
        </p:spPr>
        <p:txBody>
          <a:bodyPr/>
          <a:lstStyle/>
          <a:p>
            <a:pPr/>
          </a:p>
        </p:txBody>
      </p:sp>
      <p:sp>
        <p:nvSpPr>
          <p:cNvPr id="240" name="Shape 240"/>
          <p:cNvSpPr/>
          <p:nvPr>
            <p:ph type="body" sz="quarter" idx="1"/>
          </p:nvPr>
        </p:nvSpPr>
        <p:spPr>
          <a:prstGeom prst="rect">
            <a:avLst/>
          </a:prstGeom>
        </p:spPr>
        <p:txBody>
          <a:bodyPr/>
          <a:lstStyle/>
          <a:p>
            <a:pPr/>
            <a:r>
              <a:t>Use the final slide to restate the lesson in ordinary language. If students can paraphrase these four ideas, they understand the heart of model evaluation. You can also end by asking them to explain why a low training error is not enough, or to interpret an MAE score aloud in units.</a:t>
            </a:r>
          </a:p>
          <a:p>
            <a:pPr/>
          </a:p>
          <a:p>
            <a:pPr/>
            <a:r>
              <a:t>[Sources]</a:t>
            </a:r>
          </a:p>
          <a:p>
            <a:pPr/>
            <a:r>
              <a:t>- Summary synthesized from the uploaded lecture PDF pages 2 to 10 and the Kaggle “Model Validation” workflow.</a:t>
            </a:r>
          </a:p>
        </p:txBody>
      </p:sp>
    </p:spTree>
  </p:cSld>
  <p:clrMapOvr>
    <a:masterClrMapping/>
  </p:clrMapOvr>
</p:notes>
</file>

<file path=ppt/slideLayouts/_rels/slideLayout1.xml.rels><?xml version="1.0" encoding="UTF-8"?>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1" showMasterPhAnim="1">
  <p:cSld name="DEFAULT">
    <p:spTree>
      <p:nvGrpSpPr>
        <p:cNvPr id="1" name=""/>
        <p:cNvGrpSpPr/>
        <p:nvPr/>
      </p:nvGrpSpPr>
      <p:grpSpPr>
        <a:xfrm>
          <a:off x="0" y="0"/>
          <a:ext cx="0" cy="0"/>
          <a:chOff x="0" y="0"/>
          <a:chExt cx="0" cy="0"/>
        </a:xfrm>
      </p:grpSpPr>
      <p:sp>
        <p:nvSpPr>
          <p:cNvPr id="11" name="Slide Number"/>
          <p:cNvSpPr txBox="1"/>
          <p:nvPr>
            <p:ph type="sldNum" sz="quarter" idx="2"/>
          </p:nvPr>
        </p:nvSpPr>
        <p:spPr>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Masters/_rels/slideMaster1.xml.rels><?xml version="1.0" encoding="UTF-8"?>
<Relationships xmlns="http://schemas.openxmlformats.org/package/2006/relationships"><Relationship Id="rId1" Type="http://schemas.openxmlformats.org/officeDocument/2006/relationships/theme" Target="../theme/theme1.xml"/><Relationship Id="rId2"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p:cSld>
    <p:bg>
      <p:bgPr>
        <a:solidFill>
          <a:srgbClr val="FFFFFF"/>
        </a:solidFill>
      </p:bgPr>
    </p:bg>
    <p:spTree>
      <p:nvGrpSpPr>
        <p:cNvPr id="1" name=""/>
        <p:cNvGrpSpPr/>
        <p:nvPr/>
      </p:nvGrpSpPr>
      <p:grpSpPr>
        <a:xfrm>
          <a:off x="0" y="0"/>
          <a:ext cx="0" cy="0"/>
          <a:chOff x="0" y="0"/>
          <a:chExt cx="0" cy="0"/>
        </a:xfrm>
      </p:grpSpPr>
      <p:sp>
        <p:nvSpPr>
          <p:cNvPr id="2" name="Title Text"/>
          <p:cNvSpPr txBox="1"/>
          <p:nvPr>
            <p:ph type="title"/>
          </p:nvPr>
        </p:nvSpPr>
        <p:spPr>
          <a:xfrm>
            <a:off x="608965" y="92074"/>
            <a:ext cx="10961370" cy="1508126"/>
          </a:xfrm>
          <a:prstGeom prst="rect">
            <a:avLst/>
          </a:prstGeom>
          <a:ln w="12700">
            <a:miter lim="400000"/>
          </a:ln>
          <a:extLst>
            <a:ext uri="{C572A759-6A51-4108-AA02-DFA0A04FC94B}">
              <ma14:wrappingTextBoxFlag xmlns:ma14="http://schemas.microsoft.com/office/mac/drawingml/2011/main" val="1"/>
            </a:ext>
          </a:extLst>
        </p:spPr>
        <p:txBody>
          <a:bodyPr lIns="45719" rIns="45719" anchor="ctr"/>
          <a:lstStyle/>
          <a:p>
            <a:pPr/>
            <a:r>
              <a:t>Title Text</a:t>
            </a:r>
          </a:p>
        </p:txBody>
      </p:sp>
      <p:sp>
        <p:nvSpPr>
          <p:cNvPr id="3" name="Body Level One…"/>
          <p:cNvSpPr txBox="1"/>
          <p:nvPr>
            <p:ph type="body" idx="1"/>
          </p:nvPr>
        </p:nvSpPr>
        <p:spPr>
          <a:xfrm>
            <a:off x="608965" y="1600200"/>
            <a:ext cx="10961370" cy="5257800"/>
          </a:xfrm>
          <a:prstGeom prst="rect">
            <a:avLst/>
          </a:prstGeom>
          <a:ln w="12700">
            <a:miter lim="400000"/>
          </a:ln>
          <a:extLst>
            <a:ext uri="{C572A759-6A51-4108-AA02-DFA0A04FC94B}">
              <ma14:wrappingTextBoxFlag xmlns:ma14="http://schemas.microsoft.com/office/mac/drawingml/2011/main" val="1"/>
            </a:ext>
          </a:extLst>
        </p:spPr>
        <p:txBody>
          <a:bodyPr lIns="45719" rIns="45719"/>
          <a:lstStyle/>
          <a:p>
            <a:pPr/>
            <a:r>
              <a:t>Body Level One</a:t>
            </a:r>
          </a:p>
          <a:p>
            <a:pPr lvl="1"/>
            <a:r>
              <a:t>Body Level Two</a:t>
            </a:r>
          </a:p>
          <a:p>
            <a:pPr lvl="2"/>
            <a:r>
              <a:t>Body Level Three</a:t>
            </a:r>
          </a:p>
          <a:p>
            <a:pPr lvl="3"/>
            <a:r>
              <a:t>Body Level Four</a:t>
            </a:r>
          </a:p>
          <a:p>
            <a:pPr lvl="4"/>
            <a:r>
              <a:t>Body Level Five</a:t>
            </a:r>
          </a:p>
        </p:txBody>
      </p:sp>
      <p:sp>
        <p:nvSpPr>
          <p:cNvPr id="4" name="Slide Number"/>
          <p:cNvSpPr txBox="1"/>
          <p:nvPr>
            <p:ph type="sldNum" sz="quarter" idx="2"/>
          </p:nvPr>
        </p:nvSpPr>
        <p:spPr>
          <a:xfrm>
            <a:off x="5886661" y="6172200"/>
            <a:ext cx="2841838" cy="368301"/>
          </a:xfrm>
          <a:prstGeom prst="rect">
            <a:avLst/>
          </a:prstGeom>
          <a:ln w="12700">
            <a:miter lim="400000"/>
          </a:ln>
        </p:spPr>
        <p:txBody>
          <a:bodyPr wrap="none" lIns="45719" rIns="45719" anchor="ctr">
            <a:spAutoFit/>
          </a:bodyPr>
          <a:lstStyle>
            <a:lvl1pPr algn="r">
              <a:defRPr sz="1200"/>
            </a:lvl1pPr>
          </a:lstStyle>
          <a:p>
            <a:pPr/>
            <a:fld id="{86CB4B4D-7CA3-9044-876B-883B54F8677D}" type="slidenum"/>
          </a:p>
        </p:txBody>
      </p:sp>
    </p:spTree>
  </p:cSld>
  <p:clrMap bg1="lt1" tx1="dk1" bg2="lt2" tx2="dk2" accent1="accent1" accent2="accent2" accent3="accent3" accent4="accent4" accent5="accent5" accent6="accent6" hlink="hlink" folHlink="folHlink"/>
  <p:sldLayoutIdLst>
    <p:sldLayoutId id="2147483649" r:id="rId2"/>
  </p:sldLayoutIdLst>
  <p:transition xmlns:p14="http://schemas.microsoft.com/office/powerpoint/2010/main" spd="med" advClick="1"/>
  <p:txStyles>
    <p:titleStyle>
      <a:lvl1pPr marL="0" marR="0" indent="0" algn="ctr" defTabSz="914400" rtl="0" latinLnBrk="0">
        <a:lnSpc>
          <a:spcPct val="100000"/>
        </a:lnSpc>
        <a:spcBef>
          <a:spcPts val="0"/>
        </a:spcBef>
        <a:spcAft>
          <a:spcPts val="0"/>
        </a:spcAft>
        <a:buClrTx/>
        <a:buSzTx/>
        <a:buFontTx/>
        <a:buNone/>
        <a:tabLst/>
        <a:defRPr b="0" baseline="0" cap="none" i="0" spc="0" strike="noStrike" sz="4400" u="none">
          <a:solidFill>
            <a:srgbClr val="000000"/>
          </a:solidFill>
          <a:uFillTx/>
          <a:latin typeface="Aptos Display"/>
          <a:ea typeface="Aptos Display"/>
          <a:cs typeface="Aptos Display"/>
          <a:sym typeface="Aptos Display"/>
        </a:defRPr>
      </a:lvl1pPr>
      <a:lvl2pPr marL="0" marR="0" indent="0" algn="ctr" defTabSz="914400" rtl="0" latinLnBrk="0">
        <a:lnSpc>
          <a:spcPct val="100000"/>
        </a:lnSpc>
        <a:spcBef>
          <a:spcPts val="0"/>
        </a:spcBef>
        <a:spcAft>
          <a:spcPts val="0"/>
        </a:spcAft>
        <a:buClrTx/>
        <a:buSzTx/>
        <a:buFontTx/>
        <a:buNone/>
        <a:tabLst/>
        <a:defRPr b="0" baseline="0" cap="none" i="0" spc="0" strike="noStrike" sz="4400" u="none">
          <a:solidFill>
            <a:srgbClr val="000000"/>
          </a:solidFill>
          <a:uFillTx/>
          <a:latin typeface="Aptos Display"/>
          <a:ea typeface="Aptos Display"/>
          <a:cs typeface="Aptos Display"/>
          <a:sym typeface="Aptos Display"/>
        </a:defRPr>
      </a:lvl2pPr>
      <a:lvl3pPr marL="0" marR="0" indent="0" algn="ctr" defTabSz="914400" rtl="0" latinLnBrk="0">
        <a:lnSpc>
          <a:spcPct val="100000"/>
        </a:lnSpc>
        <a:spcBef>
          <a:spcPts val="0"/>
        </a:spcBef>
        <a:spcAft>
          <a:spcPts val="0"/>
        </a:spcAft>
        <a:buClrTx/>
        <a:buSzTx/>
        <a:buFontTx/>
        <a:buNone/>
        <a:tabLst/>
        <a:defRPr b="0" baseline="0" cap="none" i="0" spc="0" strike="noStrike" sz="4400" u="none">
          <a:solidFill>
            <a:srgbClr val="000000"/>
          </a:solidFill>
          <a:uFillTx/>
          <a:latin typeface="Aptos Display"/>
          <a:ea typeface="Aptos Display"/>
          <a:cs typeface="Aptos Display"/>
          <a:sym typeface="Aptos Display"/>
        </a:defRPr>
      </a:lvl3pPr>
      <a:lvl4pPr marL="0" marR="0" indent="0" algn="ctr" defTabSz="914400" rtl="0" latinLnBrk="0">
        <a:lnSpc>
          <a:spcPct val="100000"/>
        </a:lnSpc>
        <a:spcBef>
          <a:spcPts val="0"/>
        </a:spcBef>
        <a:spcAft>
          <a:spcPts val="0"/>
        </a:spcAft>
        <a:buClrTx/>
        <a:buSzTx/>
        <a:buFontTx/>
        <a:buNone/>
        <a:tabLst/>
        <a:defRPr b="0" baseline="0" cap="none" i="0" spc="0" strike="noStrike" sz="4400" u="none">
          <a:solidFill>
            <a:srgbClr val="000000"/>
          </a:solidFill>
          <a:uFillTx/>
          <a:latin typeface="Aptos Display"/>
          <a:ea typeface="Aptos Display"/>
          <a:cs typeface="Aptos Display"/>
          <a:sym typeface="Aptos Display"/>
        </a:defRPr>
      </a:lvl4pPr>
      <a:lvl5pPr marL="0" marR="0" indent="0" algn="ctr" defTabSz="914400" rtl="0" latinLnBrk="0">
        <a:lnSpc>
          <a:spcPct val="100000"/>
        </a:lnSpc>
        <a:spcBef>
          <a:spcPts val="0"/>
        </a:spcBef>
        <a:spcAft>
          <a:spcPts val="0"/>
        </a:spcAft>
        <a:buClrTx/>
        <a:buSzTx/>
        <a:buFontTx/>
        <a:buNone/>
        <a:tabLst/>
        <a:defRPr b="0" baseline="0" cap="none" i="0" spc="0" strike="noStrike" sz="4400" u="none">
          <a:solidFill>
            <a:srgbClr val="000000"/>
          </a:solidFill>
          <a:uFillTx/>
          <a:latin typeface="Aptos Display"/>
          <a:ea typeface="Aptos Display"/>
          <a:cs typeface="Aptos Display"/>
          <a:sym typeface="Aptos Display"/>
        </a:defRPr>
      </a:lvl5pPr>
      <a:lvl6pPr marL="0" marR="0" indent="0" algn="ctr" defTabSz="914400" rtl="0" latinLnBrk="0">
        <a:lnSpc>
          <a:spcPct val="100000"/>
        </a:lnSpc>
        <a:spcBef>
          <a:spcPts val="0"/>
        </a:spcBef>
        <a:spcAft>
          <a:spcPts val="0"/>
        </a:spcAft>
        <a:buClrTx/>
        <a:buSzTx/>
        <a:buFontTx/>
        <a:buNone/>
        <a:tabLst/>
        <a:defRPr b="0" baseline="0" cap="none" i="0" spc="0" strike="noStrike" sz="4400" u="none">
          <a:solidFill>
            <a:srgbClr val="000000"/>
          </a:solidFill>
          <a:uFillTx/>
          <a:latin typeface="Aptos Display"/>
          <a:ea typeface="Aptos Display"/>
          <a:cs typeface="Aptos Display"/>
          <a:sym typeface="Aptos Display"/>
        </a:defRPr>
      </a:lvl6pPr>
      <a:lvl7pPr marL="0" marR="0" indent="0" algn="ctr" defTabSz="914400" rtl="0" latinLnBrk="0">
        <a:lnSpc>
          <a:spcPct val="100000"/>
        </a:lnSpc>
        <a:spcBef>
          <a:spcPts val="0"/>
        </a:spcBef>
        <a:spcAft>
          <a:spcPts val="0"/>
        </a:spcAft>
        <a:buClrTx/>
        <a:buSzTx/>
        <a:buFontTx/>
        <a:buNone/>
        <a:tabLst/>
        <a:defRPr b="0" baseline="0" cap="none" i="0" spc="0" strike="noStrike" sz="4400" u="none">
          <a:solidFill>
            <a:srgbClr val="000000"/>
          </a:solidFill>
          <a:uFillTx/>
          <a:latin typeface="Aptos Display"/>
          <a:ea typeface="Aptos Display"/>
          <a:cs typeface="Aptos Display"/>
          <a:sym typeface="Aptos Display"/>
        </a:defRPr>
      </a:lvl7pPr>
      <a:lvl8pPr marL="0" marR="0" indent="0" algn="ctr" defTabSz="914400" rtl="0" latinLnBrk="0">
        <a:lnSpc>
          <a:spcPct val="100000"/>
        </a:lnSpc>
        <a:spcBef>
          <a:spcPts val="0"/>
        </a:spcBef>
        <a:spcAft>
          <a:spcPts val="0"/>
        </a:spcAft>
        <a:buClrTx/>
        <a:buSzTx/>
        <a:buFontTx/>
        <a:buNone/>
        <a:tabLst/>
        <a:defRPr b="0" baseline="0" cap="none" i="0" spc="0" strike="noStrike" sz="4400" u="none">
          <a:solidFill>
            <a:srgbClr val="000000"/>
          </a:solidFill>
          <a:uFillTx/>
          <a:latin typeface="Aptos Display"/>
          <a:ea typeface="Aptos Display"/>
          <a:cs typeface="Aptos Display"/>
          <a:sym typeface="Aptos Display"/>
        </a:defRPr>
      </a:lvl8pPr>
      <a:lvl9pPr marL="0" marR="0" indent="0" algn="ctr" defTabSz="914400" rtl="0" latinLnBrk="0">
        <a:lnSpc>
          <a:spcPct val="100000"/>
        </a:lnSpc>
        <a:spcBef>
          <a:spcPts val="0"/>
        </a:spcBef>
        <a:spcAft>
          <a:spcPts val="0"/>
        </a:spcAft>
        <a:buClrTx/>
        <a:buSzTx/>
        <a:buFontTx/>
        <a:buNone/>
        <a:tabLst/>
        <a:defRPr b="0" baseline="0" cap="none" i="0" spc="0" strike="noStrike" sz="4400" u="none">
          <a:solidFill>
            <a:srgbClr val="000000"/>
          </a:solidFill>
          <a:uFillTx/>
          <a:latin typeface="Aptos Display"/>
          <a:ea typeface="Aptos Display"/>
          <a:cs typeface="Aptos Display"/>
          <a:sym typeface="Aptos Display"/>
        </a:defRPr>
      </a:lvl9pPr>
    </p:titleStyle>
    <p:bodyStyle>
      <a:lvl1pPr marL="342900" marR="0" indent="-342900" algn="l" defTabSz="914400" rtl="0" latinLnBrk="0">
        <a:lnSpc>
          <a:spcPct val="100000"/>
        </a:lnSpc>
        <a:spcBef>
          <a:spcPts val="700"/>
        </a:spcBef>
        <a:spcAft>
          <a:spcPts val="0"/>
        </a:spcAft>
        <a:buClrTx/>
        <a:buSzPct val="100000"/>
        <a:buFont typeface="Arial"/>
        <a:buChar char="•"/>
        <a:tabLst/>
        <a:defRPr b="0" baseline="0" cap="none" i="0" spc="0" strike="noStrike" sz="3200" u="none">
          <a:solidFill>
            <a:srgbClr val="000000"/>
          </a:solidFill>
          <a:uFillTx/>
          <a:latin typeface="+mj-lt"/>
          <a:ea typeface="+mj-ea"/>
          <a:cs typeface="+mj-cs"/>
          <a:sym typeface="Aptos"/>
        </a:defRPr>
      </a:lvl1pPr>
      <a:lvl2pPr marL="783771" marR="0" indent="-326571" algn="l" defTabSz="914400" rtl="0" latinLnBrk="0">
        <a:lnSpc>
          <a:spcPct val="100000"/>
        </a:lnSpc>
        <a:spcBef>
          <a:spcPts val="700"/>
        </a:spcBef>
        <a:spcAft>
          <a:spcPts val="0"/>
        </a:spcAft>
        <a:buClrTx/>
        <a:buSzPct val="100000"/>
        <a:buFont typeface="Arial"/>
        <a:buChar char="–"/>
        <a:tabLst/>
        <a:defRPr b="0" baseline="0" cap="none" i="0" spc="0" strike="noStrike" sz="3200" u="none">
          <a:solidFill>
            <a:srgbClr val="000000"/>
          </a:solidFill>
          <a:uFillTx/>
          <a:latin typeface="+mj-lt"/>
          <a:ea typeface="+mj-ea"/>
          <a:cs typeface="+mj-cs"/>
          <a:sym typeface="Aptos"/>
        </a:defRPr>
      </a:lvl2pPr>
      <a:lvl3pPr marL="1219200" marR="0" indent="-304800" algn="l" defTabSz="914400" rtl="0" latinLnBrk="0">
        <a:lnSpc>
          <a:spcPct val="100000"/>
        </a:lnSpc>
        <a:spcBef>
          <a:spcPts val="700"/>
        </a:spcBef>
        <a:spcAft>
          <a:spcPts val="0"/>
        </a:spcAft>
        <a:buClrTx/>
        <a:buSzPct val="100000"/>
        <a:buFont typeface="Arial"/>
        <a:buChar char="•"/>
        <a:tabLst/>
        <a:defRPr b="0" baseline="0" cap="none" i="0" spc="0" strike="noStrike" sz="3200" u="none">
          <a:solidFill>
            <a:srgbClr val="000000"/>
          </a:solidFill>
          <a:uFillTx/>
          <a:latin typeface="+mj-lt"/>
          <a:ea typeface="+mj-ea"/>
          <a:cs typeface="+mj-cs"/>
          <a:sym typeface="Aptos"/>
        </a:defRPr>
      </a:lvl3pPr>
      <a:lvl4pPr marL="1737360" marR="0" indent="-365760" algn="l" defTabSz="914400" rtl="0" latinLnBrk="0">
        <a:lnSpc>
          <a:spcPct val="100000"/>
        </a:lnSpc>
        <a:spcBef>
          <a:spcPts val="700"/>
        </a:spcBef>
        <a:spcAft>
          <a:spcPts val="0"/>
        </a:spcAft>
        <a:buClrTx/>
        <a:buSzPct val="100000"/>
        <a:buFont typeface="Arial"/>
        <a:buChar char="–"/>
        <a:tabLst/>
        <a:defRPr b="0" baseline="0" cap="none" i="0" spc="0" strike="noStrike" sz="3200" u="none">
          <a:solidFill>
            <a:srgbClr val="000000"/>
          </a:solidFill>
          <a:uFillTx/>
          <a:latin typeface="+mj-lt"/>
          <a:ea typeface="+mj-ea"/>
          <a:cs typeface="+mj-cs"/>
          <a:sym typeface="Aptos"/>
        </a:defRPr>
      </a:lvl4pPr>
      <a:lvl5pPr marL="2194560" marR="0" indent="-365760" algn="l" defTabSz="914400" rtl="0" latinLnBrk="0">
        <a:lnSpc>
          <a:spcPct val="100000"/>
        </a:lnSpc>
        <a:spcBef>
          <a:spcPts val="700"/>
        </a:spcBef>
        <a:spcAft>
          <a:spcPts val="0"/>
        </a:spcAft>
        <a:buClrTx/>
        <a:buSzPct val="100000"/>
        <a:buFont typeface="Arial"/>
        <a:buChar char="»"/>
        <a:tabLst/>
        <a:defRPr b="0" baseline="0" cap="none" i="0" spc="0" strike="noStrike" sz="3200" u="none">
          <a:solidFill>
            <a:srgbClr val="000000"/>
          </a:solidFill>
          <a:uFillTx/>
          <a:latin typeface="+mj-lt"/>
          <a:ea typeface="+mj-ea"/>
          <a:cs typeface="+mj-cs"/>
          <a:sym typeface="Aptos"/>
        </a:defRPr>
      </a:lvl5pPr>
      <a:lvl6pPr marL="2651760" marR="0" indent="-365760" algn="l" defTabSz="914400" rtl="0" latinLnBrk="0">
        <a:lnSpc>
          <a:spcPct val="100000"/>
        </a:lnSpc>
        <a:spcBef>
          <a:spcPts val="700"/>
        </a:spcBef>
        <a:spcAft>
          <a:spcPts val="0"/>
        </a:spcAft>
        <a:buClrTx/>
        <a:buSzPct val="100000"/>
        <a:buFont typeface="Arial"/>
        <a:buChar char="•"/>
        <a:tabLst/>
        <a:defRPr b="0" baseline="0" cap="none" i="0" spc="0" strike="noStrike" sz="3200" u="none">
          <a:solidFill>
            <a:srgbClr val="000000"/>
          </a:solidFill>
          <a:uFillTx/>
          <a:latin typeface="+mj-lt"/>
          <a:ea typeface="+mj-ea"/>
          <a:cs typeface="+mj-cs"/>
          <a:sym typeface="Aptos"/>
        </a:defRPr>
      </a:lvl6pPr>
      <a:lvl7pPr marL="3108960" marR="0" indent="-365760" algn="l" defTabSz="914400" rtl="0" latinLnBrk="0">
        <a:lnSpc>
          <a:spcPct val="100000"/>
        </a:lnSpc>
        <a:spcBef>
          <a:spcPts val="700"/>
        </a:spcBef>
        <a:spcAft>
          <a:spcPts val="0"/>
        </a:spcAft>
        <a:buClrTx/>
        <a:buSzPct val="100000"/>
        <a:buFont typeface="Arial"/>
        <a:buChar char="•"/>
        <a:tabLst/>
        <a:defRPr b="0" baseline="0" cap="none" i="0" spc="0" strike="noStrike" sz="3200" u="none">
          <a:solidFill>
            <a:srgbClr val="000000"/>
          </a:solidFill>
          <a:uFillTx/>
          <a:latin typeface="+mj-lt"/>
          <a:ea typeface="+mj-ea"/>
          <a:cs typeface="+mj-cs"/>
          <a:sym typeface="Aptos"/>
        </a:defRPr>
      </a:lvl7pPr>
      <a:lvl8pPr marL="3566159" marR="0" indent="-365759" algn="l" defTabSz="914400" rtl="0" latinLnBrk="0">
        <a:lnSpc>
          <a:spcPct val="100000"/>
        </a:lnSpc>
        <a:spcBef>
          <a:spcPts val="700"/>
        </a:spcBef>
        <a:spcAft>
          <a:spcPts val="0"/>
        </a:spcAft>
        <a:buClrTx/>
        <a:buSzPct val="100000"/>
        <a:buFont typeface="Arial"/>
        <a:buChar char="•"/>
        <a:tabLst/>
        <a:defRPr b="0" baseline="0" cap="none" i="0" spc="0" strike="noStrike" sz="3200" u="none">
          <a:solidFill>
            <a:srgbClr val="000000"/>
          </a:solidFill>
          <a:uFillTx/>
          <a:latin typeface="+mj-lt"/>
          <a:ea typeface="+mj-ea"/>
          <a:cs typeface="+mj-cs"/>
          <a:sym typeface="Aptos"/>
        </a:defRPr>
      </a:lvl8pPr>
      <a:lvl9pPr marL="4023359" marR="0" indent="-365759" algn="l" defTabSz="914400" rtl="0" latinLnBrk="0">
        <a:lnSpc>
          <a:spcPct val="100000"/>
        </a:lnSpc>
        <a:spcBef>
          <a:spcPts val="700"/>
        </a:spcBef>
        <a:spcAft>
          <a:spcPts val="0"/>
        </a:spcAft>
        <a:buClrTx/>
        <a:buSzPct val="100000"/>
        <a:buFont typeface="Arial"/>
        <a:buChar char="•"/>
        <a:tabLst/>
        <a:defRPr b="0" baseline="0" cap="none" i="0" spc="0" strike="noStrike" sz="3200" u="none">
          <a:solidFill>
            <a:srgbClr val="000000"/>
          </a:solidFill>
          <a:uFillTx/>
          <a:latin typeface="+mj-lt"/>
          <a:ea typeface="+mj-ea"/>
          <a:cs typeface="+mj-cs"/>
          <a:sym typeface="Aptos"/>
        </a:defRPr>
      </a:lvl9pPr>
    </p:bodyStyle>
    <p:otherStyle>
      <a:lvl1pPr marL="0" marR="0" indent="0" algn="r" defTabSz="914400" rtl="0" latinLnBrk="0">
        <a:lnSpc>
          <a:spcPct val="100000"/>
        </a:lnSpc>
        <a:spcBef>
          <a:spcPts val="0"/>
        </a:spcBef>
        <a:spcAft>
          <a:spcPts val="0"/>
        </a:spcAft>
        <a:buClrTx/>
        <a:buSzTx/>
        <a:buFontTx/>
        <a:buNone/>
        <a:tabLst/>
        <a:defRPr b="0" baseline="0" cap="none" i="0" spc="0" strike="noStrike" sz="1200" u="none">
          <a:solidFill>
            <a:schemeClr val="tx1"/>
          </a:solidFill>
          <a:uFillTx/>
          <a:latin typeface="+mn-lt"/>
          <a:ea typeface="+mn-ea"/>
          <a:cs typeface="+mn-cs"/>
          <a:sym typeface="Aptos"/>
        </a:defRPr>
      </a:lvl1pPr>
      <a:lvl2pPr marL="0" marR="0" indent="457200" algn="r" defTabSz="914400" rtl="0" latinLnBrk="0">
        <a:lnSpc>
          <a:spcPct val="100000"/>
        </a:lnSpc>
        <a:spcBef>
          <a:spcPts val="0"/>
        </a:spcBef>
        <a:spcAft>
          <a:spcPts val="0"/>
        </a:spcAft>
        <a:buClrTx/>
        <a:buSzTx/>
        <a:buFontTx/>
        <a:buNone/>
        <a:tabLst/>
        <a:defRPr b="0" baseline="0" cap="none" i="0" spc="0" strike="noStrike" sz="1200" u="none">
          <a:solidFill>
            <a:schemeClr val="tx1"/>
          </a:solidFill>
          <a:uFillTx/>
          <a:latin typeface="+mn-lt"/>
          <a:ea typeface="+mn-ea"/>
          <a:cs typeface="+mn-cs"/>
          <a:sym typeface="Aptos"/>
        </a:defRPr>
      </a:lvl2pPr>
      <a:lvl3pPr marL="0" marR="0" indent="914400" algn="r" defTabSz="914400" rtl="0" latinLnBrk="0">
        <a:lnSpc>
          <a:spcPct val="100000"/>
        </a:lnSpc>
        <a:spcBef>
          <a:spcPts val="0"/>
        </a:spcBef>
        <a:spcAft>
          <a:spcPts val="0"/>
        </a:spcAft>
        <a:buClrTx/>
        <a:buSzTx/>
        <a:buFontTx/>
        <a:buNone/>
        <a:tabLst/>
        <a:defRPr b="0" baseline="0" cap="none" i="0" spc="0" strike="noStrike" sz="1200" u="none">
          <a:solidFill>
            <a:schemeClr val="tx1"/>
          </a:solidFill>
          <a:uFillTx/>
          <a:latin typeface="+mn-lt"/>
          <a:ea typeface="+mn-ea"/>
          <a:cs typeface="+mn-cs"/>
          <a:sym typeface="Aptos"/>
        </a:defRPr>
      </a:lvl3pPr>
      <a:lvl4pPr marL="0" marR="0" indent="1371600" algn="r" defTabSz="914400" rtl="0" latinLnBrk="0">
        <a:lnSpc>
          <a:spcPct val="100000"/>
        </a:lnSpc>
        <a:spcBef>
          <a:spcPts val="0"/>
        </a:spcBef>
        <a:spcAft>
          <a:spcPts val="0"/>
        </a:spcAft>
        <a:buClrTx/>
        <a:buSzTx/>
        <a:buFontTx/>
        <a:buNone/>
        <a:tabLst/>
        <a:defRPr b="0" baseline="0" cap="none" i="0" spc="0" strike="noStrike" sz="1200" u="none">
          <a:solidFill>
            <a:schemeClr val="tx1"/>
          </a:solidFill>
          <a:uFillTx/>
          <a:latin typeface="+mn-lt"/>
          <a:ea typeface="+mn-ea"/>
          <a:cs typeface="+mn-cs"/>
          <a:sym typeface="Aptos"/>
        </a:defRPr>
      </a:lvl4pPr>
      <a:lvl5pPr marL="0" marR="0" indent="1828800" algn="r" defTabSz="914400" rtl="0" latinLnBrk="0">
        <a:lnSpc>
          <a:spcPct val="100000"/>
        </a:lnSpc>
        <a:spcBef>
          <a:spcPts val="0"/>
        </a:spcBef>
        <a:spcAft>
          <a:spcPts val="0"/>
        </a:spcAft>
        <a:buClrTx/>
        <a:buSzTx/>
        <a:buFontTx/>
        <a:buNone/>
        <a:tabLst/>
        <a:defRPr b="0" baseline="0" cap="none" i="0" spc="0" strike="noStrike" sz="1200" u="none">
          <a:solidFill>
            <a:schemeClr val="tx1"/>
          </a:solidFill>
          <a:uFillTx/>
          <a:latin typeface="+mn-lt"/>
          <a:ea typeface="+mn-ea"/>
          <a:cs typeface="+mn-cs"/>
          <a:sym typeface="Aptos"/>
        </a:defRPr>
      </a:lvl5pPr>
      <a:lvl6pPr marL="0" marR="0" indent="2286000" algn="r" defTabSz="914400" rtl="0" latinLnBrk="0">
        <a:lnSpc>
          <a:spcPct val="100000"/>
        </a:lnSpc>
        <a:spcBef>
          <a:spcPts val="0"/>
        </a:spcBef>
        <a:spcAft>
          <a:spcPts val="0"/>
        </a:spcAft>
        <a:buClrTx/>
        <a:buSzTx/>
        <a:buFontTx/>
        <a:buNone/>
        <a:tabLst/>
        <a:defRPr b="0" baseline="0" cap="none" i="0" spc="0" strike="noStrike" sz="1200" u="none">
          <a:solidFill>
            <a:schemeClr val="tx1"/>
          </a:solidFill>
          <a:uFillTx/>
          <a:latin typeface="+mn-lt"/>
          <a:ea typeface="+mn-ea"/>
          <a:cs typeface="+mn-cs"/>
          <a:sym typeface="Aptos"/>
        </a:defRPr>
      </a:lvl6pPr>
      <a:lvl7pPr marL="0" marR="0" indent="2743200" algn="r" defTabSz="914400" rtl="0" latinLnBrk="0">
        <a:lnSpc>
          <a:spcPct val="100000"/>
        </a:lnSpc>
        <a:spcBef>
          <a:spcPts val="0"/>
        </a:spcBef>
        <a:spcAft>
          <a:spcPts val="0"/>
        </a:spcAft>
        <a:buClrTx/>
        <a:buSzTx/>
        <a:buFontTx/>
        <a:buNone/>
        <a:tabLst/>
        <a:defRPr b="0" baseline="0" cap="none" i="0" spc="0" strike="noStrike" sz="1200" u="none">
          <a:solidFill>
            <a:schemeClr val="tx1"/>
          </a:solidFill>
          <a:uFillTx/>
          <a:latin typeface="+mn-lt"/>
          <a:ea typeface="+mn-ea"/>
          <a:cs typeface="+mn-cs"/>
          <a:sym typeface="Aptos"/>
        </a:defRPr>
      </a:lvl7pPr>
      <a:lvl8pPr marL="0" marR="0" indent="3200400" algn="r" defTabSz="914400" rtl="0" latinLnBrk="0">
        <a:lnSpc>
          <a:spcPct val="100000"/>
        </a:lnSpc>
        <a:spcBef>
          <a:spcPts val="0"/>
        </a:spcBef>
        <a:spcAft>
          <a:spcPts val="0"/>
        </a:spcAft>
        <a:buClrTx/>
        <a:buSzTx/>
        <a:buFontTx/>
        <a:buNone/>
        <a:tabLst/>
        <a:defRPr b="0" baseline="0" cap="none" i="0" spc="0" strike="noStrike" sz="1200" u="none">
          <a:solidFill>
            <a:schemeClr val="tx1"/>
          </a:solidFill>
          <a:uFillTx/>
          <a:latin typeface="+mn-lt"/>
          <a:ea typeface="+mn-ea"/>
          <a:cs typeface="+mn-cs"/>
          <a:sym typeface="Aptos"/>
        </a:defRPr>
      </a:lvl8pPr>
      <a:lvl9pPr marL="0" marR="0" indent="3657600" algn="r" defTabSz="914400" rtl="0" latinLnBrk="0">
        <a:lnSpc>
          <a:spcPct val="100000"/>
        </a:lnSpc>
        <a:spcBef>
          <a:spcPts val="0"/>
        </a:spcBef>
        <a:spcAft>
          <a:spcPts val="0"/>
        </a:spcAft>
        <a:buClrTx/>
        <a:buSzTx/>
        <a:buFontTx/>
        <a:buNone/>
        <a:tabLst/>
        <a:defRPr b="0" baseline="0" cap="none" i="0" spc="0" strike="noStrike" sz="1200" u="none">
          <a:solidFill>
            <a:schemeClr val="tx1"/>
          </a:solidFill>
          <a:uFillTx/>
          <a:latin typeface="+mn-lt"/>
          <a:ea typeface="+mn-ea"/>
          <a:cs typeface="+mn-cs"/>
          <a:sym typeface="Aptos"/>
        </a:defRPr>
      </a:lvl9pPr>
    </p:otherStyle>
  </p:txStyles>
</p:sldMaster>
</file>

<file path=ppt/slides/_rels/slide1.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1.png"/></Relationships>

</file>

<file path=ppt/slides/_rels/slide2.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2.png"/></Relationships>

</file>

<file path=ppt/slides/_rels/slide3.xml.rels><?xml version="1.0" encoding="UTF-8"?>
<Relationships xmlns="http://schemas.openxmlformats.org/package/2006/relationships"><Relationship Id="rId1" Type="http://schemas.openxmlformats.org/officeDocument/2006/relationships/slideLayout" Target="../slideLayouts/slideLayout1.xml"/></Relationships>

</file>

<file path=ppt/slides/_rels/slide4.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5.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6.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7.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8.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9.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10.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11.xml.rels><?xml version="1.0" encoding="UTF-8"?>
<Relationships xmlns="http://schemas.openxmlformats.org/package/2006/relationships"><Relationship Id="rId1" Type="http://schemas.openxmlformats.org/officeDocument/2006/relationships/slideLayout" Target="../slideLayouts/slideLayout1.xml"/></Relationships>

</file>

<file path=ppt/slides/_rels/slide12.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3.xml.rels><?xml version="1.0" encoding="UTF-8"?>
<Relationships xmlns="http://schemas.openxmlformats.org/package/2006/relationships"><Relationship Id="rId1" Type="http://schemas.openxmlformats.org/officeDocument/2006/relationships/slideLayout" Target="../slideLayouts/slideLayout1.xml"/></Relationships>

</file>

<file path=ppt/slides/_rels/slide14.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3.png"/></Relationships>

</file>

<file path=ppt/slides/_rels/slide15.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6.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slide1.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bg>
      <p:bgPr>
        <a:blipFill rotWithShape="1">
          <a:blip r:embed="rId2"/>
          <a:srcRect l="0" t="0" r="0" b="0"/>
          <a:stretch>
            <a:fillRect/>
          </a:stretch>
        </a:blipFill>
      </p:bgPr>
    </p:bg>
    <p:spTree>
      <p:nvGrpSpPr>
        <p:cNvPr id="1" name=""/>
        <p:cNvGrpSpPr/>
        <p:nvPr/>
      </p:nvGrpSpPr>
      <p:grpSpPr>
        <a:xfrm>
          <a:off x="0" y="0"/>
          <a:ext cx="0" cy="0"/>
          <a:chOff x="0" y="0"/>
          <a:chExt cx="0" cy="0"/>
        </a:xfrm>
      </p:grpSpPr>
      <p:sp>
        <p:nvSpPr>
          <p:cNvPr id="20" name="Model Evaluation in Machine Learning"/>
          <p:cNvSpPr txBox="1"/>
          <p:nvPr>
            <p:ph type="title" idx="4294967295"/>
          </p:nvPr>
        </p:nvSpPr>
        <p:spPr>
          <a:prstGeom prst="rect">
            <a:avLst/>
          </a:prstGeom>
        </p:spPr>
        <p:txBody>
          <a:bodyPr/>
          <a:lstStyle>
            <a:lvl1pPr>
              <a:defRPr>
                <a:solidFill>
                  <a:srgbClr val="FFFFFF"/>
                </a:solidFill>
              </a:defRPr>
            </a:lvl1pPr>
          </a:lstStyle>
          <a:p>
            <a:pPr/>
            <a:r>
              <a:t>Model Evaluation in Machine Learning</a:t>
            </a:r>
          </a:p>
        </p:txBody>
      </p:sp>
      <p:sp>
        <p:nvSpPr>
          <p:cNvPr id="21" name="Advanced CS…"/>
          <p:cNvSpPr txBox="1"/>
          <p:nvPr>
            <p:ph type="body" idx="4294967295"/>
          </p:nvPr>
        </p:nvSpPr>
        <p:spPr>
          <a:prstGeom prst="rect">
            <a:avLst/>
          </a:prstGeom>
        </p:spPr>
        <p:txBody>
          <a:bodyPr/>
          <a:lstStyle/>
          <a:p>
            <a:pPr marL="0" indent="0" algn="ctr">
              <a:spcBef>
                <a:spcPts val="0"/>
              </a:spcBef>
              <a:buSzTx/>
              <a:buFontTx/>
              <a:buNone/>
              <a:defRPr sz="4400">
                <a:solidFill>
                  <a:srgbClr val="F9F9F9"/>
                </a:solidFill>
                <a:latin typeface="Aptos Display"/>
                <a:ea typeface="Aptos Display"/>
                <a:cs typeface="Aptos Display"/>
                <a:sym typeface="Aptos Display"/>
              </a:defRPr>
            </a:pPr>
            <a:r>
              <a:t>Advanced CS </a:t>
            </a:r>
          </a:p>
          <a:p>
            <a:pPr marL="0" indent="0" algn="ctr">
              <a:spcBef>
                <a:spcPts val="0"/>
              </a:spcBef>
              <a:buSzTx/>
              <a:buFontTx/>
              <a:buNone/>
              <a:defRPr sz="4400">
                <a:solidFill>
                  <a:srgbClr val="F9F9F9"/>
                </a:solidFill>
                <a:latin typeface="Aptos Display"/>
                <a:ea typeface="Aptos Display"/>
                <a:cs typeface="Aptos Display"/>
                <a:sym typeface="Aptos Display"/>
              </a:defRPr>
            </a:pPr>
            <a:r>
              <a:t>Intro to Artificial Intelligence </a:t>
            </a:r>
          </a:p>
          <a:p>
            <a:pPr marL="0" indent="0" algn="ctr">
              <a:spcBef>
                <a:spcPts val="0"/>
              </a:spcBef>
              <a:buSzTx/>
              <a:buFontTx/>
              <a:buNone/>
              <a:defRPr sz="4400">
                <a:solidFill>
                  <a:srgbClr val="F9F9F9"/>
                </a:solidFill>
                <a:latin typeface="Aptos Display"/>
                <a:ea typeface="Aptos Display"/>
                <a:cs typeface="Aptos Display"/>
                <a:sym typeface="Aptos Display"/>
              </a:defRPr>
            </a:pPr>
            <a:r>
              <a:t>Ms. Villanueva</a:t>
            </a:r>
          </a:p>
        </p:txBody>
      </p:sp>
    </p:spTree>
  </p:cSld>
  <p:clrMapOvr>
    <a:masterClrMapping/>
  </p:clrMapOvr>
  <p:transition xmlns:p14="http://schemas.microsoft.com/office/powerpoint/2010/main" spd="med" advClick="1"/>
</p:sld>
</file>

<file path=ppt/slides/slide2.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23" name="Puzzle Time (Allergy season)"/>
          <p:cNvSpPr txBox="1"/>
          <p:nvPr>
            <p:ph type="title" idx="4294967295"/>
          </p:nvPr>
        </p:nvSpPr>
        <p:spPr>
          <a:prstGeom prst="rect">
            <a:avLst/>
          </a:prstGeom>
        </p:spPr>
        <p:txBody>
          <a:bodyPr/>
          <a:lstStyle/>
          <a:p>
            <a:pPr/>
            <a:r>
              <a:t>Puzzle Time (Allergy season)</a:t>
            </a:r>
          </a:p>
        </p:txBody>
      </p:sp>
      <p:sp>
        <p:nvSpPr>
          <p:cNvPr id="24" name="Five friends (Allegra, Ben, Clara, Flora and Zach) are each allergic to something different: pollen, shellfish, bee stings, cats or nuts.…"/>
          <p:cNvSpPr txBox="1"/>
          <p:nvPr>
            <p:ph type="body" sz="half" idx="4294967295"/>
          </p:nvPr>
        </p:nvSpPr>
        <p:spPr>
          <a:xfrm>
            <a:off x="608965" y="1600200"/>
            <a:ext cx="4942414" cy="5090262"/>
          </a:xfrm>
          <a:prstGeom prst="rect">
            <a:avLst/>
          </a:prstGeom>
        </p:spPr>
        <p:txBody>
          <a:bodyPr/>
          <a:lstStyle/>
          <a:p>
            <a:pPr marL="0" indent="0" defTabSz="457200">
              <a:spcBef>
                <a:spcPts val="2400"/>
              </a:spcBef>
              <a:buSzTx/>
              <a:buFontTx/>
              <a:buNone/>
              <a:defRPr sz="2300">
                <a:solidFill>
                  <a:srgbClr val="444444"/>
                </a:solidFill>
                <a:latin typeface="Trebuchet MS"/>
                <a:ea typeface="Trebuchet MS"/>
                <a:cs typeface="Trebuchet MS"/>
                <a:sym typeface="Trebuchet MS"/>
              </a:defRPr>
            </a:pPr>
            <a:r>
              <a:t>Five friends (Allegra, Ben, Clara, Flora and Zach) are each allergic to something different: pollen, shellfish, bee stings, cats or nuts.</a:t>
            </a:r>
          </a:p>
          <a:p>
            <a:pPr marL="457200" indent="-317500" defTabSz="457200">
              <a:spcBef>
                <a:spcPts val="0"/>
              </a:spcBef>
              <a:buClr>
                <a:srgbClr val="444444"/>
              </a:buClr>
              <a:buFont typeface="Times Roman"/>
              <a:defRPr sz="2300">
                <a:solidFill>
                  <a:srgbClr val="444444"/>
                </a:solidFill>
                <a:latin typeface="Trebuchet MS"/>
                <a:ea typeface="Trebuchet MS"/>
                <a:cs typeface="Trebuchet MS"/>
                <a:sym typeface="Trebuchet MS"/>
              </a:defRPr>
            </a:pPr>
            <a:r>
              <a:t>Allegra has a food allergy</a:t>
            </a:r>
          </a:p>
          <a:p>
            <a:pPr marL="457200" indent="-317500" defTabSz="457200">
              <a:spcBef>
                <a:spcPts val="0"/>
              </a:spcBef>
              <a:buClr>
                <a:srgbClr val="444444"/>
              </a:buClr>
              <a:buFont typeface="Times Roman"/>
              <a:defRPr sz="2300">
                <a:solidFill>
                  <a:srgbClr val="444444"/>
                </a:solidFill>
                <a:latin typeface="Trebuchet MS"/>
                <a:ea typeface="Trebuchet MS"/>
                <a:cs typeface="Trebuchet MS"/>
                <a:sym typeface="Trebuchet MS"/>
              </a:defRPr>
            </a:pPr>
            <a:r>
              <a:t>Ben can play with his kitten for hours without issue (or medicine).</a:t>
            </a:r>
          </a:p>
          <a:p>
            <a:pPr marL="457200" indent="-317500" defTabSz="457200">
              <a:spcBef>
                <a:spcPts val="0"/>
              </a:spcBef>
              <a:buClr>
                <a:srgbClr val="444444"/>
              </a:buClr>
              <a:buFont typeface="Times Roman"/>
              <a:defRPr sz="2300">
                <a:solidFill>
                  <a:srgbClr val="444444"/>
                </a:solidFill>
                <a:latin typeface="Trebuchet MS"/>
                <a:ea typeface="Trebuchet MS"/>
                <a:cs typeface="Trebuchet MS"/>
                <a:sym typeface="Trebuchet MS"/>
              </a:defRPr>
            </a:pPr>
            <a:r>
              <a:t>Clara’s allergy is not related to animals.</a:t>
            </a:r>
          </a:p>
          <a:p>
            <a:pPr marL="457200" indent="-317500" defTabSz="457200">
              <a:spcBef>
                <a:spcPts val="0"/>
              </a:spcBef>
              <a:buClr>
                <a:srgbClr val="444444"/>
              </a:buClr>
              <a:buFont typeface="Times Roman"/>
              <a:defRPr sz="2300">
                <a:solidFill>
                  <a:srgbClr val="444444"/>
                </a:solidFill>
                <a:latin typeface="Trebuchet MS"/>
                <a:ea typeface="Trebuchet MS"/>
                <a:cs typeface="Trebuchet MS"/>
                <a:sym typeface="Trebuchet MS"/>
              </a:defRPr>
            </a:pPr>
            <a:r>
              <a:t>Flora has seasonal allergies.</a:t>
            </a:r>
          </a:p>
          <a:p>
            <a:pPr marL="0" indent="0" defTabSz="457200">
              <a:spcBef>
                <a:spcPts val="2400"/>
              </a:spcBef>
              <a:buSzTx/>
              <a:buFontTx/>
              <a:buNone/>
              <a:defRPr sz="2300">
                <a:solidFill>
                  <a:srgbClr val="444444"/>
                </a:solidFill>
                <a:latin typeface="Trebuchet MS"/>
                <a:ea typeface="Trebuchet MS"/>
                <a:cs typeface="Trebuchet MS"/>
                <a:sym typeface="Trebuchet MS"/>
              </a:defRPr>
            </a:pPr>
            <a:r>
              <a:t>Can you figure out who is allergic to what?</a:t>
            </a:r>
          </a:p>
        </p:txBody>
      </p:sp>
      <p:pic>
        <p:nvPicPr>
          <p:cNvPr id="25" name="pasted-movie.png" descr="pasted-movie.png"/>
          <p:cNvPicPr>
            <a:picLocks noChangeAspect="1"/>
          </p:cNvPicPr>
          <p:nvPr/>
        </p:nvPicPr>
        <p:blipFill>
          <a:blip r:embed="rId3">
            <a:extLst/>
          </a:blip>
          <a:stretch>
            <a:fillRect/>
          </a:stretch>
        </p:blipFill>
        <p:spPr>
          <a:xfrm>
            <a:off x="5943385" y="1663880"/>
            <a:ext cx="6144908" cy="4093594"/>
          </a:xfrm>
          <a:prstGeom prst="rect">
            <a:avLst/>
          </a:prstGeom>
          <a:ln w="12700">
            <a:miter lim="400000"/>
          </a:ln>
        </p:spPr>
      </p:pic>
    </p:spTree>
  </p:cSld>
  <p:clrMapOvr>
    <a:masterClrMapping/>
  </p:clrMapOvr>
  <p:transition xmlns:p14="http://schemas.microsoft.com/office/powerpoint/2010/main" spd="med" advClick="1"/>
</p:sld>
</file>

<file path=ppt/slides/slide3.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29" name="Allegra is allergic to shellfish, Ben to bee stings, Clara to nuts, Flora to pollen and Zach to cats."/>
          <p:cNvSpPr txBox="1"/>
          <p:nvPr>
            <p:ph type="body" idx="4294967295"/>
          </p:nvPr>
        </p:nvSpPr>
        <p:spPr>
          <a:prstGeom prst="rect">
            <a:avLst/>
          </a:prstGeom>
        </p:spPr>
        <p:txBody>
          <a:bodyPr/>
          <a:lstStyle>
            <a:lvl1pPr marL="0" indent="0">
              <a:spcBef>
                <a:spcPts val="0"/>
              </a:spcBef>
              <a:buSzTx/>
              <a:buFontTx/>
              <a:buNone/>
              <a:defRPr sz="3300"/>
            </a:lvl1pPr>
          </a:lstStyle>
          <a:p>
            <a:pPr/>
            <a:r>
              <a:t>Allegra is allergic to shellfish, Ben to bee stings, Clara to nuts, Flora to pollen and Zach to cats.</a:t>
            </a:r>
          </a:p>
        </p:txBody>
      </p:sp>
    </p:spTree>
  </p:cSld>
  <p:clrMapOvr>
    <a:masterClrMapping/>
  </p:clrMapOvr>
  <p:transition xmlns:p14="http://schemas.microsoft.com/office/powerpoint/2010/main" spd="med" advClick="1"/>
</p:sld>
</file>

<file path=ppt/slides/slide4.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bg>
      <p:bgPr>
        <a:solidFill>
          <a:srgbClr val="FCFCFD"/>
        </a:solidFill>
      </p:bgPr>
    </p:bg>
    <p:spTree>
      <p:nvGrpSpPr>
        <p:cNvPr id="1" name=""/>
        <p:cNvGrpSpPr/>
        <p:nvPr/>
      </p:nvGrpSpPr>
      <p:grpSpPr>
        <a:xfrm>
          <a:off x="0" y="0"/>
          <a:ext cx="0" cy="0"/>
          <a:chOff x="0" y="0"/>
          <a:chExt cx="0" cy="0"/>
        </a:xfrm>
      </p:grpSpPr>
      <p:sp>
        <p:nvSpPr>
          <p:cNvPr id="31" name="Shape 0"/>
          <p:cNvSpPr/>
          <p:nvPr/>
        </p:nvSpPr>
        <p:spPr>
          <a:xfrm>
            <a:off x="-1" y="0"/>
            <a:ext cx="12191697" cy="384048"/>
          </a:xfrm>
          <a:prstGeom prst="rect">
            <a:avLst/>
          </a:prstGeom>
          <a:solidFill>
            <a:srgbClr val="2F8F69"/>
          </a:solidFill>
          <a:ln w="12700">
            <a:solidFill>
              <a:srgbClr val="2F8F69"/>
            </a:solidFill>
          </a:ln>
        </p:spPr>
        <p:txBody>
          <a:bodyPr lIns="45719" rIns="45719"/>
          <a:lstStyle/>
          <a:p>
            <a:pPr/>
          </a:p>
        </p:txBody>
      </p:sp>
      <p:sp>
        <p:nvSpPr>
          <p:cNvPr id="32" name="Text 1"/>
          <p:cNvSpPr txBox="1"/>
          <p:nvPr/>
        </p:nvSpPr>
        <p:spPr>
          <a:xfrm>
            <a:off x="411480" y="-19558"/>
            <a:ext cx="8961120" cy="36830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b="1" sz="2400">
                <a:solidFill>
                  <a:srgbClr val="FFFFFF"/>
                </a:solidFill>
                <a:latin typeface="Aptos Display"/>
                <a:ea typeface="Aptos Display"/>
                <a:cs typeface="Aptos Display"/>
                <a:sym typeface="Aptos Display"/>
              </a:defRPr>
            </a:lvl1pPr>
          </a:lstStyle>
          <a:p>
            <a:pPr/>
            <a:r>
              <a:t>Model Evaluation</a:t>
            </a:r>
          </a:p>
        </p:txBody>
      </p:sp>
      <p:sp>
        <p:nvSpPr>
          <p:cNvPr id="33" name="Text 2"/>
          <p:cNvSpPr txBox="1"/>
          <p:nvPr/>
        </p:nvSpPr>
        <p:spPr>
          <a:xfrm>
            <a:off x="9966959" y="82041"/>
            <a:ext cx="1737361" cy="16510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lgn="r">
              <a:defRPr sz="1100">
                <a:solidFill>
                  <a:srgbClr val="F8FAFC"/>
                </a:solidFill>
              </a:defRPr>
            </a:lvl1pPr>
          </a:lstStyle>
          <a:p>
            <a:pPr/>
            <a:r>
              <a:t>Model Evaluation</a:t>
            </a:r>
          </a:p>
        </p:txBody>
      </p:sp>
      <p:sp>
        <p:nvSpPr>
          <p:cNvPr id="34" name="Text 3"/>
          <p:cNvSpPr txBox="1"/>
          <p:nvPr/>
        </p:nvSpPr>
        <p:spPr>
          <a:xfrm>
            <a:off x="640079" y="786383"/>
            <a:ext cx="5760722" cy="731522"/>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normAutofit fontScale="100000" lnSpcReduction="0"/>
          </a:bodyPr>
          <a:lstStyle/>
          <a:p>
            <a:pPr defTabSz="841247">
              <a:defRPr b="1" sz="2392">
                <a:solidFill>
                  <a:srgbClr val="1E293B"/>
                </a:solidFill>
              </a:defRPr>
            </a:pPr>
            <a:r>
              <a:t>Mean Absolute Error (MAE)</a:t>
            </a:r>
          </a:p>
          <a:p>
            <a:pPr defTabSz="841247">
              <a:defRPr b="1" sz="2392">
                <a:solidFill>
                  <a:srgbClr val="1E293B"/>
                </a:solidFill>
              </a:defRPr>
            </a:pPr>
            <a:r>
              <a:t>and Model Evals</a:t>
            </a:r>
          </a:p>
        </p:txBody>
      </p:sp>
      <p:sp>
        <p:nvSpPr>
          <p:cNvPr id="35" name="Text 4"/>
          <p:cNvSpPr txBox="1"/>
          <p:nvPr/>
        </p:nvSpPr>
        <p:spPr>
          <a:xfrm>
            <a:off x="640080" y="1691639"/>
            <a:ext cx="5669280" cy="1325881"/>
          </a:xfrm>
          <a:prstGeom prst="rect">
            <a:avLst/>
          </a:prstGeom>
          <a:ln w="12700">
            <a:miter lim="400000"/>
          </a:ln>
          <a:extLst>
            <a:ext uri="{C572A759-6A51-4108-AA02-DFA0A04FC94B}">
              <ma14:wrappingTextBoxFlag xmlns:ma14="http://schemas.microsoft.com/office/mac/drawingml/2011/main" val="1"/>
            </a:ext>
          </a:extLst>
        </p:spPr>
        <p:txBody>
          <a:bodyPr lIns="507" tIns="507" rIns="507" bIns="507">
            <a:normAutofit fontScale="100000" lnSpcReduction="0"/>
          </a:bodyPr>
          <a:lstStyle>
            <a:lvl1pPr defTabSz="740663">
              <a:lnSpc>
                <a:spcPct val="110000"/>
              </a:lnSpc>
              <a:defRPr sz="1620">
                <a:solidFill>
                  <a:srgbClr val="1E293B"/>
                </a:solidFill>
              </a:defRPr>
            </a:lvl1pPr>
          </a:lstStyle>
          <a:p>
            <a:pPr/>
            <a:r>
              <a:t>The central question of this lesson is simple: when two models make predictions, how do we decide which one is actually better? In machine learning, evaluation is not an afterthought. It is the part that tells us whether our model learned a useful pattern or just got lucky.</a:t>
            </a:r>
          </a:p>
        </p:txBody>
      </p:sp>
      <p:sp>
        <p:nvSpPr>
          <p:cNvPr id="36" name="Shape 5"/>
          <p:cNvSpPr/>
          <p:nvPr/>
        </p:nvSpPr>
        <p:spPr>
          <a:xfrm>
            <a:off x="6903719" y="914400"/>
            <a:ext cx="4526281" cy="4937760"/>
          </a:xfrm>
          <a:prstGeom prst="roundRect">
            <a:avLst>
              <a:gd name="adj" fmla="val 2424"/>
            </a:avLst>
          </a:prstGeom>
          <a:solidFill>
            <a:srgbClr val="EAF3FB"/>
          </a:solidFill>
          <a:ln w="12700">
            <a:solidFill>
              <a:srgbClr val="D7DEE7"/>
            </a:solidFill>
          </a:ln>
          <a:effectLst>
            <a:outerShdw sx="100000" sy="100000" kx="0" ky="0" algn="b" rotWithShape="0" blurRad="25400" dist="12700" dir="2700000">
              <a:srgbClr val="000000">
                <a:alpha val="10000"/>
              </a:srgbClr>
            </a:outerShdw>
          </a:effectLst>
        </p:spPr>
        <p:txBody>
          <a:bodyPr lIns="45719" rIns="45719"/>
          <a:lstStyle/>
          <a:p>
            <a:pPr/>
          </a:p>
        </p:txBody>
      </p:sp>
      <p:sp>
        <p:nvSpPr>
          <p:cNvPr id="37" name="Text 6"/>
          <p:cNvSpPr txBox="1"/>
          <p:nvPr/>
        </p:nvSpPr>
        <p:spPr>
          <a:xfrm>
            <a:off x="7315200" y="1971039"/>
            <a:ext cx="1463041" cy="172720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p>
            <a:pPr algn="ctr">
              <a:defRPr b="1" sz="2600"/>
            </a:pPr>
            <a:r>
              <a:t>🍎 150g</a:t>
            </a:r>
          </a:p>
          <a:p>
            <a:pPr algn="ctr">
              <a:defRPr b="1" sz="2600"/>
            </a:pPr>
            <a:r>
              <a:t>🍊 130g</a:t>
            </a:r>
          </a:p>
          <a:p>
            <a:pPr algn="ctr">
              <a:defRPr b="1" sz="2600"/>
            </a:pPr>
            <a:r>
              <a:t>🍎 160g</a:t>
            </a:r>
          </a:p>
          <a:p>
            <a:pPr algn="ctr">
              <a:defRPr b="1" sz="2600"/>
            </a:pPr>
            <a:r>
              <a:t>🍊 140g</a:t>
            </a:r>
          </a:p>
        </p:txBody>
      </p:sp>
      <p:sp>
        <p:nvSpPr>
          <p:cNvPr id="38" name="Shape 7"/>
          <p:cNvSpPr/>
          <p:nvPr/>
        </p:nvSpPr>
        <p:spPr>
          <a:xfrm>
            <a:off x="8915400" y="2286000"/>
            <a:ext cx="502920" cy="438913"/>
          </a:xfrm>
          <a:prstGeom prst="chevron">
            <a:avLst>
              <a:gd name="adj" fmla="val 50000"/>
            </a:avLst>
          </a:prstGeom>
          <a:solidFill>
            <a:srgbClr val="2C6EAF"/>
          </a:solidFill>
          <a:ln w="12700">
            <a:solidFill>
              <a:srgbClr val="2C6EAF"/>
            </a:solidFill>
          </a:ln>
        </p:spPr>
        <p:txBody>
          <a:bodyPr lIns="45719" rIns="45719"/>
          <a:lstStyle/>
          <a:p>
            <a:pPr/>
          </a:p>
        </p:txBody>
      </p:sp>
      <p:sp>
        <p:nvSpPr>
          <p:cNvPr id="39" name="Shape 8"/>
          <p:cNvSpPr/>
          <p:nvPr/>
        </p:nvSpPr>
        <p:spPr>
          <a:xfrm>
            <a:off x="9464040" y="1828800"/>
            <a:ext cx="1325881" cy="1234440"/>
          </a:xfrm>
          <a:prstGeom prst="roundRect">
            <a:avLst>
              <a:gd name="adj" fmla="val 8889"/>
            </a:avLst>
          </a:prstGeom>
          <a:solidFill>
            <a:srgbClr val="FFFFFF"/>
          </a:solidFill>
          <a:ln w="12700">
            <a:solidFill>
              <a:srgbClr val="2C6EAF"/>
            </a:solidFill>
          </a:ln>
          <a:effectLst>
            <a:outerShdw sx="100000" sy="100000" kx="0" ky="0" algn="b" rotWithShape="0" blurRad="25400" dist="12700" dir="2700000">
              <a:srgbClr val="000000">
                <a:alpha val="10000"/>
              </a:srgbClr>
            </a:outerShdw>
          </a:effectLst>
        </p:spPr>
        <p:txBody>
          <a:bodyPr lIns="45719" rIns="45719"/>
          <a:lstStyle/>
          <a:p>
            <a:pPr/>
          </a:p>
        </p:txBody>
      </p:sp>
      <p:sp>
        <p:nvSpPr>
          <p:cNvPr id="40" name="Text 9"/>
          <p:cNvSpPr txBox="1"/>
          <p:nvPr/>
        </p:nvSpPr>
        <p:spPr>
          <a:xfrm>
            <a:off x="9646919" y="2168398"/>
            <a:ext cx="960121" cy="31750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lgn="ctr">
              <a:defRPr b="1" sz="2100"/>
            </a:lvl1pPr>
          </a:lstStyle>
          <a:p>
            <a:pPr/>
            <a:r>
              <a:t>Model</a:t>
            </a:r>
          </a:p>
        </p:txBody>
      </p:sp>
      <p:sp>
        <p:nvSpPr>
          <p:cNvPr id="41" name="Shape 10"/>
          <p:cNvSpPr/>
          <p:nvPr/>
        </p:nvSpPr>
        <p:spPr>
          <a:xfrm>
            <a:off x="8869680" y="3794759"/>
            <a:ext cx="384049" cy="384049"/>
          </a:xfrm>
          <a:prstGeom prst="chevron">
            <a:avLst>
              <a:gd name="adj" fmla="val 50000"/>
            </a:avLst>
          </a:prstGeom>
          <a:solidFill>
            <a:srgbClr val="2C6EAF"/>
          </a:solidFill>
          <a:ln w="12700">
            <a:solidFill>
              <a:srgbClr val="2C6EAF"/>
            </a:solidFill>
          </a:ln>
        </p:spPr>
        <p:txBody>
          <a:bodyPr lIns="45719" rIns="45719"/>
          <a:lstStyle/>
          <a:p>
            <a:pPr/>
          </a:p>
        </p:txBody>
      </p:sp>
      <p:sp>
        <p:nvSpPr>
          <p:cNvPr id="42" name="Shape 11"/>
          <p:cNvSpPr/>
          <p:nvPr/>
        </p:nvSpPr>
        <p:spPr>
          <a:xfrm>
            <a:off x="9464040" y="3429000"/>
            <a:ext cx="1463041" cy="1188720"/>
          </a:xfrm>
          <a:prstGeom prst="roundRect">
            <a:avLst>
              <a:gd name="adj" fmla="val 9231"/>
            </a:avLst>
          </a:prstGeom>
          <a:solidFill>
            <a:srgbClr val="FFF6E5"/>
          </a:solidFill>
          <a:ln w="12700">
            <a:solidFill>
              <a:srgbClr val="D99B2B"/>
            </a:solidFill>
          </a:ln>
          <a:effectLst>
            <a:outerShdw sx="100000" sy="100000" kx="0" ky="0" algn="b" rotWithShape="0" blurRad="25400" dist="12700" dir="2700000">
              <a:srgbClr val="000000">
                <a:alpha val="10000"/>
              </a:srgbClr>
            </a:outerShdw>
          </a:effectLst>
        </p:spPr>
        <p:txBody>
          <a:bodyPr lIns="45719" rIns="45719"/>
          <a:lstStyle/>
          <a:p>
            <a:pPr/>
          </a:p>
        </p:txBody>
      </p:sp>
      <p:sp>
        <p:nvSpPr>
          <p:cNvPr id="43" name="Text 12"/>
          <p:cNvSpPr txBox="1"/>
          <p:nvPr/>
        </p:nvSpPr>
        <p:spPr>
          <a:xfrm>
            <a:off x="9624059" y="3675888"/>
            <a:ext cx="1143001" cy="621793"/>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normAutofit fontScale="100000" lnSpcReduction="0"/>
          </a:bodyPr>
          <a:lstStyle/>
          <a:p>
            <a:pPr algn="ctr" defTabSz="649223">
              <a:defRPr b="1" sz="1349"/>
            </a:pPr>
            <a:r>
              <a:t>Good Model?</a:t>
            </a:r>
          </a:p>
          <a:p>
            <a:pPr algn="ctr" defTabSz="649223">
              <a:defRPr b="1" sz="1349"/>
            </a:pPr>
            <a:r>
              <a:t>Bad Model?</a:t>
            </a:r>
          </a:p>
        </p:txBody>
      </p:sp>
      <p:sp>
        <p:nvSpPr>
          <p:cNvPr id="44" name="Shape 13"/>
          <p:cNvSpPr/>
          <p:nvPr/>
        </p:nvSpPr>
        <p:spPr>
          <a:xfrm>
            <a:off x="731519" y="4663440"/>
            <a:ext cx="5303522" cy="868681"/>
          </a:xfrm>
          <a:prstGeom prst="roundRect">
            <a:avLst>
              <a:gd name="adj" fmla="val 12632"/>
            </a:avLst>
          </a:prstGeom>
          <a:solidFill>
            <a:srgbClr val="EAF6F1"/>
          </a:solidFill>
          <a:ln w="12700">
            <a:solidFill>
              <a:srgbClr val="2F8F69"/>
            </a:solidFill>
          </a:ln>
          <a:effectLst>
            <a:outerShdw sx="100000" sy="100000" kx="0" ky="0" algn="b" rotWithShape="0" blurRad="25400" dist="12700" dir="2700000">
              <a:srgbClr val="000000">
                <a:alpha val="10000"/>
              </a:srgbClr>
            </a:outerShdw>
          </a:effectLst>
        </p:spPr>
        <p:txBody>
          <a:bodyPr lIns="45719" rIns="45719"/>
          <a:lstStyle/>
          <a:p>
            <a:pPr/>
          </a:p>
        </p:txBody>
      </p:sp>
      <p:sp>
        <p:nvSpPr>
          <p:cNvPr id="45" name="Text 14"/>
          <p:cNvSpPr txBox="1"/>
          <p:nvPr/>
        </p:nvSpPr>
        <p:spPr>
          <a:xfrm>
            <a:off x="914399" y="4892040"/>
            <a:ext cx="4892042" cy="384049"/>
          </a:xfrm>
          <a:prstGeom prst="rect">
            <a:avLst/>
          </a:prstGeom>
          <a:ln w="12700">
            <a:miter lim="400000"/>
          </a:ln>
          <a:extLst>
            <a:ext uri="{C572A759-6A51-4108-AA02-DFA0A04FC94B}">
              <ma14:wrappingTextBoxFlag xmlns:ma14="http://schemas.microsoft.com/office/mac/drawingml/2011/main" val="1"/>
            </a:ext>
          </a:extLst>
        </p:spPr>
        <p:txBody>
          <a:bodyPr lIns="507" tIns="507" rIns="507" bIns="507">
            <a:normAutofit fontScale="100000" lnSpcReduction="0"/>
          </a:bodyPr>
          <a:lstStyle>
            <a:lvl1pPr defTabSz="621791">
              <a:lnSpc>
                <a:spcPct val="110000"/>
              </a:lnSpc>
              <a:defRPr b="1" sz="1224">
                <a:solidFill>
                  <a:srgbClr val="2F8F69"/>
                </a:solidFill>
              </a:defRPr>
            </a:lvl1pPr>
          </a:lstStyle>
          <a:p>
            <a:pPr/>
            <a:r>
              <a:t>Food for thought : “A good model is not the one that looks smartest on old data. It is the one that still works on new data.”</a:t>
            </a:r>
          </a:p>
        </p:txBody>
      </p:sp>
      <p:sp>
        <p:nvSpPr>
          <p:cNvPr id="46" name="Text 15"/>
          <p:cNvSpPr txBox="1"/>
          <p:nvPr/>
        </p:nvSpPr>
        <p:spPr>
          <a:xfrm>
            <a:off x="11475719" y="6489192"/>
            <a:ext cx="320041" cy="15240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lgn="r">
              <a:defRPr sz="1000">
                <a:solidFill>
                  <a:srgbClr val="64748B"/>
                </a:solidFill>
              </a:defRPr>
            </a:lvl1pPr>
          </a:lstStyle>
          <a:p>
            <a:pPr/>
            <a:r>
              <a:t>1</a:t>
            </a:r>
          </a:p>
        </p:txBody>
      </p:sp>
    </p:spTree>
  </p:cSld>
  <p:clrMapOvr>
    <a:masterClrMapping/>
  </p:clrMapOvr>
  <p:transition xmlns:p14="http://schemas.microsoft.com/office/powerpoint/2010/main" spd="med" advClick="1"/>
</p:sld>
</file>

<file path=ppt/slides/slide5.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bg>
      <p:bgPr>
        <a:solidFill>
          <a:srgbClr val="FCFCFD"/>
        </a:solidFill>
      </p:bgPr>
    </p:bg>
    <p:spTree>
      <p:nvGrpSpPr>
        <p:cNvPr id="1" name=""/>
        <p:cNvGrpSpPr/>
        <p:nvPr/>
      </p:nvGrpSpPr>
      <p:grpSpPr>
        <a:xfrm>
          <a:off x="0" y="0"/>
          <a:ext cx="0" cy="0"/>
          <a:chOff x="0" y="0"/>
          <a:chExt cx="0" cy="0"/>
        </a:xfrm>
      </p:grpSpPr>
      <p:sp>
        <p:nvSpPr>
          <p:cNvPr id="50" name="Shape 0"/>
          <p:cNvSpPr/>
          <p:nvPr/>
        </p:nvSpPr>
        <p:spPr>
          <a:xfrm>
            <a:off x="-1" y="0"/>
            <a:ext cx="12191697" cy="384048"/>
          </a:xfrm>
          <a:prstGeom prst="rect">
            <a:avLst/>
          </a:prstGeom>
          <a:solidFill>
            <a:srgbClr val="2F8F69"/>
          </a:solidFill>
          <a:ln w="12700">
            <a:solidFill>
              <a:srgbClr val="2F8F69"/>
            </a:solidFill>
          </a:ln>
        </p:spPr>
        <p:txBody>
          <a:bodyPr lIns="45719" rIns="45719"/>
          <a:lstStyle/>
          <a:p>
            <a:pPr/>
          </a:p>
        </p:txBody>
      </p:sp>
      <p:sp>
        <p:nvSpPr>
          <p:cNvPr id="51" name="Text 1"/>
          <p:cNvSpPr txBox="1"/>
          <p:nvPr/>
        </p:nvSpPr>
        <p:spPr>
          <a:xfrm>
            <a:off x="411480" y="-19558"/>
            <a:ext cx="8961120" cy="36830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b="1" sz="2400">
                <a:solidFill>
                  <a:srgbClr val="FFFFFF"/>
                </a:solidFill>
                <a:latin typeface="Aptos Display"/>
                <a:ea typeface="Aptos Display"/>
                <a:cs typeface="Aptos Display"/>
                <a:sym typeface="Aptos Display"/>
              </a:defRPr>
            </a:lvl1pPr>
          </a:lstStyle>
          <a:p>
            <a:pPr/>
            <a:r>
              <a:t>Comparing models starts with an experiment</a:t>
            </a:r>
          </a:p>
        </p:txBody>
      </p:sp>
      <p:sp>
        <p:nvSpPr>
          <p:cNvPr id="52" name="Text 2"/>
          <p:cNvSpPr txBox="1"/>
          <p:nvPr/>
        </p:nvSpPr>
        <p:spPr>
          <a:xfrm>
            <a:off x="9966959" y="82041"/>
            <a:ext cx="1737361" cy="16510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lgn="r">
              <a:defRPr sz="1100">
                <a:solidFill>
                  <a:srgbClr val="F8FAFC"/>
                </a:solidFill>
              </a:defRPr>
            </a:lvl1pPr>
          </a:lstStyle>
          <a:p>
            <a:pPr/>
            <a:r>
              <a:t>Model Evaluation</a:t>
            </a:r>
          </a:p>
        </p:txBody>
      </p:sp>
      <p:sp>
        <p:nvSpPr>
          <p:cNvPr id="53" name="Shape 3"/>
          <p:cNvSpPr/>
          <p:nvPr/>
        </p:nvSpPr>
        <p:spPr>
          <a:xfrm>
            <a:off x="594359" y="914400"/>
            <a:ext cx="4114801" cy="5394960"/>
          </a:xfrm>
          <a:prstGeom prst="roundRect">
            <a:avLst>
              <a:gd name="adj" fmla="val 2667"/>
            </a:avLst>
          </a:prstGeom>
          <a:solidFill>
            <a:srgbClr val="FFFFFF"/>
          </a:solidFill>
          <a:ln w="12700">
            <a:solidFill>
              <a:srgbClr val="D7DEE7"/>
            </a:solidFill>
          </a:ln>
          <a:effectLst>
            <a:outerShdw sx="100000" sy="100000" kx="0" ky="0" algn="b" rotWithShape="0" blurRad="25400" dist="12700" dir="2700000">
              <a:srgbClr val="000000">
                <a:alpha val="10000"/>
              </a:srgbClr>
            </a:outerShdw>
          </a:effectLst>
        </p:spPr>
        <p:txBody>
          <a:bodyPr lIns="45719" rIns="45719"/>
          <a:lstStyle/>
          <a:p>
            <a:pPr/>
          </a:p>
        </p:txBody>
      </p:sp>
      <p:sp>
        <p:nvSpPr>
          <p:cNvPr id="54" name="Text 4"/>
          <p:cNvSpPr txBox="1"/>
          <p:nvPr/>
        </p:nvSpPr>
        <p:spPr>
          <a:xfrm>
            <a:off x="914400" y="1141730"/>
            <a:ext cx="1188720" cy="36830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b="1" sz="2400">
                <a:solidFill>
                  <a:srgbClr val="1E293B"/>
                </a:solidFill>
              </a:defRPr>
            </a:lvl1pPr>
          </a:lstStyle>
          <a:p>
            <a:pPr/>
            <a:r>
              <a:t>Model A</a:t>
            </a:r>
          </a:p>
        </p:txBody>
      </p:sp>
      <p:sp>
        <p:nvSpPr>
          <p:cNvPr id="55" name="Shape 5"/>
          <p:cNvSpPr/>
          <p:nvPr/>
        </p:nvSpPr>
        <p:spPr>
          <a:xfrm>
            <a:off x="914400" y="1691639"/>
            <a:ext cx="3383280" cy="914401"/>
          </a:xfrm>
          <a:prstGeom prst="roundRect">
            <a:avLst>
              <a:gd name="adj" fmla="val 12000"/>
            </a:avLst>
          </a:prstGeom>
          <a:solidFill>
            <a:srgbClr val="EAF3FB"/>
          </a:solidFill>
          <a:ln w="12700">
            <a:solidFill>
              <a:srgbClr val="2C6EAF"/>
            </a:solidFill>
          </a:ln>
          <a:effectLst>
            <a:outerShdw sx="100000" sy="100000" kx="0" ky="0" algn="b" rotWithShape="0" blurRad="25400" dist="12700" dir="2700000">
              <a:srgbClr val="000000">
                <a:alpha val="10000"/>
              </a:srgbClr>
            </a:outerShdw>
          </a:effectLst>
        </p:spPr>
        <p:txBody>
          <a:bodyPr lIns="45719" rIns="45719"/>
          <a:lstStyle/>
          <a:p>
            <a:pPr/>
          </a:p>
        </p:txBody>
      </p:sp>
      <p:sp>
        <p:nvSpPr>
          <p:cNvPr id="56" name="Text 6"/>
          <p:cNvSpPr txBox="1"/>
          <p:nvPr/>
        </p:nvSpPr>
        <p:spPr>
          <a:xfrm>
            <a:off x="1554480" y="1993392"/>
            <a:ext cx="2103121" cy="182881"/>
          </a:xfrm>
          <a:prstGeom prst="rect">
            <a:avLst/>
          </a:prstGeom>
          <a:ln w="12700">
            <a:miter lim="400000"/>
          </a:ln>
          <a:extLst>
            <a:ext uri="{C572A759-6A51-4108-AA02-DFA0A04FC94B}">
              <ma14:wrappingTextBoxFlag xmlns:ma14="http://schemas.microsoft.com/office/mac/drawingml/2011/main" val="1"/>
            </a:ext>
          </a:extLst>
        </p:spPr>
        <p:txBody>
          <a:bodyPr lIns="507" tIns="507" rIns="507" bIns="507" anchor="ctr">
            <a:normAutofit fontScale="100000" lnSpcReduction="0"/>
          </a:bodyPr>
          <a:lstStyle>
            <a:lvl1pPr defTabSz="411479">
              <a:lnSpc>
                <a:spcPct val="110000"/>
              </a:lnSpc>
              <a:defRPr b="1" sz="1079">
                <a:solidFill>
                  <a:srgbClr val="2C6EAF"/>
                </a:solidFill>
              </a:defRPr>
            </a:lvl1pPr>
          </a:lstStyle>
          <a:p>
            <a:pPr/>
            <a:r>
              <a:t>Error = 12 g</a:t>
            </a:r>
          </a:p>
        </p:txBody>
      </p:sp>
      <p:sp>
        <p:nvSpPr>
          <p:cNvPr id="57" name="Text 7"/>
          <p:cNvSpPr txBox="1"/>
          <p:nvPr/>
        </p:nvSpPr>
        <p:spPr>
          <a:xfrm>
            <a:off x="914400" y="3153409"/>
            <a:ext cx="1188720" cy="36830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b="1" sz="2400">
                <a:solidFill>
                  <a:srgbClr val="1E293B"/>
                </a:solidFill>
              </a:defRPr>
            </a:lvl1pPr>
          </a:lstStyle>
          <a:p>
            <a:pPr/>
            <a:r>
              <a:t>Model B</a:t>
            </a:r>
          </a:p>
        </p:txBody>
      </p:sp>
      <p:sp>
        <p:nvSpPr>
          <p:cNvPr id="58" name="Shape 8"/>
          <p:cNvSpPr/>
          <p:nvPr/>
        </p:nvSpPr>
        <p:spPr>
          <a:xfrm>
            <a:off x="914400" y="3703320"/>
            <a:ext cx="3383280" cy="914401"/>
          </a:xfrm>
          <a:prstGeom prst="roundRect">
            <a:avLst>
              <a:gd name="adj" fmla="val 12000"/>
            </a:avLst>
          </a:prstGeom>
          <a:solidFill>
            <a:srgbClr val="EAF6F1"/>
          </a:solidFill>
          <a:ln w="12700">
            <a:solidFill>
              <a:srgbClr val="2F8F69"/>
            </a:solidFill>
          </a:ln>
          <a:effectLst>
            <a:outerShdw sx="100000" sy="100000" kx="0" ky="0" algn="b" rotWithShape="0" blurRad="25400" dist="12700" dir="2700000">
              <a:srgbClr val="000000">
                <a:alpha val="10000"/>
              </a:srgbClr>
            </a:outerShdw>
          </a:effectLst>
        </p:spPr>
        <p:txBody>
          <a:bodyPr lIns="45719" rIns="45719"/>
          <a:lstStyle/>
          <a:p>
            <a:pPr/>
          </a:p>
        </p:txBody>
      </p:sp>
      <p:sp>
        <p:nvSpPr>
          <p:cNvPr id="59" name="Text 9"/>
          <p:cNvSpPr txBox="1"/>
          <p:nvPr/>
        </p:nvSpPr>
        <p:spPr>
          <a:xfrm>
            <a:off x="1600200" y="4005071"/>
            <a:ext cx="1920240" cy="182881"/>
          </a:xfrm>
          <a:prstGeom prst="rect">
            <a:avLst/>
          </a:prstGeom>
          <a:ln w="12700">
            <a:miter lim="400000"/>
          </a:ln>
          <a:extLst>
            <a:ext uri="{C572A759-6A51-4108-AA02-DFA0A04FC94B}">
              <ma14:wrappingTextBoxFlag xmlns:ma14="http://schemas.microsoft.com/office/mac/drawingml/2011/main" val="1"/>
            </a:ext>
          </a:extLst>
        </p:spPr>
        <p:txBody>
          <a:bodyPr lIns="507" tIns="507" rIns="507" bIns="507" anchor="ctr">
            <a:normAutofit fontScale="100000" lnSpcReduction="0"/>
          </a:bodyPr>
          <a:lstStyle>
            <a:lvl1pPr defTabSz="411479">
              <a:lnSpc>
                <a:spcPct val="110000"/>
              </a:lnSpc>
              <a:defRPr b="1" sz="1079">
                <a:solidFill>
                  <a:srgbClr val="2F8F69"/>
                </a:solidFill>
              </a:defRPr>
            </a:lvl1pPr>
          </a:lstStyle>
          <a:p>
            <a:pPr/>
            <a:r>
              <a:t>Error = 8 g</a:t>
            </a:r>
          </a:p>
        </p:txBody>
      </p:sp>
      <p:sp>
        <p:nvSpPr>
          <p:cNvPr id="60" name="Text 10"/>
          <p:cNvSpPr txBox="1"/>
          <p:nvPr/>
        </p:nvSpPr>
        <p:spPr>
          <a:xfrm>
            <a:off x="914400" y="4932679"/>
            <a:ext cx="3383280" cy="55880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i="1">
                <a:solidFill>
                  <a:srgbClr val="475569"/>
                </a:solidFill>
              </a:defRPr>
            </a:lvl1pPr>
          </a:lstStyle>
          <a:p>
            <a:pPr/>
            <a:r>
              <a:t>At first glance, B wins because its error is lower.</a:t>
            </a:r>
          </a:p>
        </p:txBody>
      </p:sp>
      <p:sp>
        <p:nvSpPr>
          <p:cNvPr id="61" name="Text 11"/>
          <p:cNvSpPr txBox="1"/>
          <p:nvPr/>
        </p:nvSpPr>
        <p:spPr>
          <a:xfrm>
            <a:off x="5074920" y="1051560"/>
            <a:ext cx="6446521" cy="1645921"/>
          </a:xfrm>
          <a:prstGeom prst="rect">
            <a:avLst/>
          </a:prstGeom>
          <a:ln w="12700">
            <a:miter lim="400000"/>
          </a:ln>
          <a:extLst>
            <a:ext uri="{C572A759-6A51-4108-AA02-DFA0A04FC94B}">
              <ma14:wrappingTextBoxFlag xmlns:ma14="http://schemas.microsoft.com/office/mac/drawingml/2011/main" val="1"/>
            </a:ext>
          </a:extLst>
        </p:spPr>
        <p:txBody>
          <a:bodyPr lIns="507" tIns="507" rIns="507" bIns="507">
            <a:normAutofit fontScale="100000" lnSpcReduction="0"/>
          </a:bodyPr>
          <a:lstStyle>
            <a:lvl1pPr>
              <a:lnSpc>
                <a:spcPct val="110000"/>
              </a:lnSpc>
              <a:defRPr sz="2000">
                <a:solidFill>
                  <a:srgbClr val="1E293B"/>
                </a:solidFill>
              </a:defRPr>
            </a:lvl1pPr>
          </a:lstStyle>
          <a:p>
            <a:pPr/>
            <a:r>
              <a:t>Let’s say we train model A, train model B, compute an error score for both, and choose the model with the lower error. That sounds straightforward, and it is. The catch is that the result only means something if the error was measured on the right data.</a:t>
            </a:r>
          </a:p>
        </p:txBody>
      </p:sp>
      <p:sp>
        <p:nvSpPr>
          <p:cNvPr id="62" name="Text 12"/>
          <p:cNvSpPr txBox="1"/>
          <p:nvPr/>
        </p:nvSpPr>
        <p:spPr>
          <a:xfrm>
            <a:off x="5074920" y="2971800"/>
            <a:ext cx="6446521" cy="1371600"/>
          </a:xfrm>
          <a:prstGeom prst="rect">
            <a:avLst/>
          </a:prstGeom>
          <a:ln w="12700">
            <a:miter lim="400000"/>
          </a:ln>
          <a:extLst>
            <a:ext uri="{C572A759-6A51-4108-AA02-DFA0A04FC94B}">
              <ma14:wrappingTextBoxFlag xmlns:ma14="http://schemas.microsoft.com/office/mac/drawingml/2011/main" val="1"/>
            </a:ext>
          </a:extLst>
        </p:spPr>
        <p:txBody>
          <a:bodyPr lIns="507" tIns="507" rIns="507" bIns="507">
            <a:normAutofit fontScale="100000" lnSpcReduction="0"/>
          </a:bodyPr>
          <a:lstStyle>
            <a:lvl1pPr>
              <a:lnSpc>
                <a:spcPct val="110000"/>
              </a:lnSpc>
              <a:defRPr sz="2000">
                <a:solidFill>
                  <a:srgbClr val="1E293B"/>
                </a:solidFill>
              </a:defRPr>
            </a:lvl1pPr>
          </a:lstStyle>
          <a:p>
            <a:pPr/>
            <a:r>
              <a:t>So the real question is not just “which error is lower?” It is also “where did that number come from?” If it comes from the training data, we may simply be rewarding memorization.</a:t>
            </a:r>
          </a:p>
        </p:txBody>
      </p:sp>
      <p:sp>
        <p:nvSpPr>
          <p:cNvPr id="63" name="Shape 13"/>
          <p:cNvSpPr/>
          <p:nvPr/>
        </p:nvSpPr>
        <p:spPr>
          <a:xfrm>
            <a:off x="5074920" y="4800600"/>
            <a:ext cx="5760721" cy="914400"/>
          </a:xfrm>
          <a:prstGeom prst="roundRect">
            <a:avLst>
              <a:gd name="adj" fmla="val 12000"/>
            </a:avLst>
          </a:prstGeom>
          <a:solidFill>
            <a:srgbClr val="FFF6E5"/>
          </a:solidFill>
          <a:ln w="12700">
            <a:solidFill>
              <a:srgbClr val="D99B2B"/>
            </a:solidFill>
          </a:ln>
          <a:effectLst>
            <a:outerShdw sx="100000" sy="100000" kx="0" ky="0" algn="b" rotWithShape="0" blurRad="25400" dist="12700" dir="2700000">
              <a:srgbClr val="000000">
                <a:alpha val="10000"/>
              </a:srgbClr>
            </a:outerShdw>
          </a:effectLst>
        </p:spPr>
        <p:txBody>
          <a:bodyPr lIns="45719" rIns="45719"/>
          <a:lstStyle/>
          <a:p>
            <a:pPr/>
          </a:p>
        </p:txBody>
      </p:sp>
      <p:sp>
        <p:nvSpPr>
          <p:cNvPr id="64" name="Text 14"/>
          <p:cNvSpPr txBox="1"/>
          <p:nvPr/>
        </p:nvSpPr>
        <p:spPr>
          <a:xfrm>
            <a:off x="5349240" y="5074920"/>
            <a:ext cx="5303521" cy="256033"/>
          </a:xfrm>
          <a:prstGeom prst="rect">
            <a:avLst/>
          </a:prstGeom>
          <a:ln w="12700">
            <a:miter lim="400000"/>
          </a:ln>
          <a:extLst>
            <a:ext uri="{C572A759-6A51-4108-AA02-DFA0A04FC94B}">
              <ma14:wrappingTextBoxFlag xmlns:ma14="http://schemas.microsoft.com/office/mac/drawingml/2011/main" val="1"/>
            </a:ext>
          </a:extLst>
        </p:spPr>
        <p:txBody>
          <a:bodyPr lIns="507" tIns="507" rIns="507" bIns="507" anchor="ctr">
            <a:normAutofit fontScale="100000" lnSpcReduction="0"/>
          </a:bodyPr>
          <a:lstStyle>
            <a:lvl1pPr defTabSz="658368">
              <a:lnSpc>
                <a:spcPct val="110000"/>
              </a:lnSpc>
              <a:defRPr b="1" sz="1584">
                <a:solidFill>
                  <a:srgbClr val="D99B2B"/>
                </a:solidFill>
              </a:defRPr>
            </a:lvl1pPr>
          </a:lstStyle>
          <a:p>
            <a:pPr/>
            <a:r>
              <a:t>Key question: On which data do we compute the error?</a:t>
            </a:r>
          </a:p>
        </p:txBody>
      </p:sp>
      <p:sp>
        <p:nvSpPr>
          <p:cNvPr id="65" name="Text 15"/>
          <p:cNvSpPr txBox="1"/>
          <p:nvPr/>
        </p:nvSpPr>
        <p:spPr>
          <a:xfrm>
            <a:off x="11475719" y="6489192"/>
            <a:ext cx="320041" cy="15240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lgn="r">
              <a:defRPr sz="1000">
                <a:solidFill>
                  <a:srgbClr val="64748B"/>
                </a:solidFill>
              </a:defRPr>
            </a:lvl1pPr>
          </a:lstStyle>
          <a:p>
            <a:pPr/>
            <a:r>
              <a:t>2</a:t>
            </a:r>
          </a:p>
        </p:txBody>
      </p:sp>
    </p:spTree>
  </p:cSld>
  <p:clrMapOvr>
    <a:masterClrMapping/>
  </p:clrMapOvr>
  <p:transition xmlns:p14="http://schemas.microsoft.com/office/powerpoint/2010/main" spd="med" advClick="1"/>
</p:sld>
</file>

<file path=ppt/slides/slide6.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bg>
      <p:bgPr>
        <a:solidFill>
          <a:srgbClr val="FCFCFD"/>
        </a:solidFill>
      </p:bgPr>
    </p:bg>
    <p:spTree>
      <p:nvGrpSpPr>
        <p:cNvPr id="1" name=""/>
        <p:cNvGrpSpPr/>
        <p:nvPr/>
      </p:nvGrpSpPr>
      <p:grpSpPr>
        <a:xfrm>
          <a:off x="0" y="0"/>
          <a:ext cx="0" cy="0"/>
          <a:chOff x="0" y="0"/>
          <a:chExt cx="0" cy="0"/>
        </a:xfrm>
      </p:grpSpPr>
      <p:sp>
        <p:nvSpPr>
          <p:cNvPr id="69" name="Shape 0"/>
          <p:cNvSpPr/>
          <p:nvPr/>
        </p:nvSpPr>
        <p:spPr>
          <a:xfrm>
            <a:off x="-1" y="0"/>
            <a:ext cx="12191697" cy="384048"/>
          </a:xfrm>
          <a:prstGeom prst="rect">
            <a:avLst/>
          </a:prstGeom>
          <a:solidFill>
            <a:srgbClr val="C84A3A"/>
          </a:solidFill>
          <a:ln w="12700">
            <a:solidFill>
              <a:srgbClr val="C84A3A"/>
            </a:solidFill>
          </a:ln>
        </p:spPr>
        <p:txBody>
          <a:bodyPr lIns="45719" rIns="45719"/>
          <a:lstStyle/>
          <a:p>
            <a:pPr/>
          </a:p>
        </p:txBody>
      </p:sp>
      <p:sp>
        <p:nvSpPr>
          <p:cNvPr id="70" name="Text 1"/>
          <p:cNvSpPr txBox="1"/>
          <p:nvPr/>
        </p:nvSpPr>
        <p:spPr>
          <a:xfrm>
            <a:off x="411480" y="-19558"/>
            <a:ext cx="8961120" cy="36830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b="1" sz="2400">
                <a:solidFill>
                  <a:srgbClr val="FFFFFF"/>
                </a:solidFill>
                <a:latin typeface="Aptos Display"/>
                <a:ea typeface="Aptos Display"/>
                <a:cs typeface="Aptos Display"/>
                <a:sym typeface="Aptos Display"/>
              </a:defRPr>
            </a:lvl1pPr>
          </a:lstStyle>
          <a:p>
            <a:pPr/>
            <a:r>
              <a:t>Never judge performance on the training data</a:t>
            </a:r>
          </a:p>
        </p:txBody>
      </p:sp>
      <p:sp>
        <p:nvSpPr>
          <p:cNvPr id="71" name="Text 2"/>
          <p:cNvSpPr txBox="1"/>
          <p:nvPr/>
        </p:nvSpPr>
        <p:spPr>
          <a:xfrm>
            <a:off x="9966959" y="82041"/>
            <a:ext cx="1737361" cy="16510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lgn="r">
              <a:defRPr sz="1100">
                <a:solidFill>
                  <a:srgbClr val="F8FAFC"/>
                </a:solidFill>
              </a:defRPr>
            </a:lvl1pPr>
          </a:lstStyle>
          <a:p>
            <a:pPr/>
            <a:r>
              <a:t>Model Evaluation</a:t>
            </a:r>
          </a:p>
        </p:txBody>
      </p:sp>
      <p:sp>
        <p:nvSpPr>
          <p:cNvPr id="72" name="Shape 3"/>
          <p:cNvSpPr/>
          <p:nvPr/>
        </p:nvSpPr>
        <p:spPr>
          <a:xfrm>
            <a:off x="731519" y="1051560"/>
            <a:ext cx="5212081" cy="4526280"/>
          </a:xfrm>
          <a:prstGeom prst="roundRect">
            <a:avLst>
              <a:gd name="adj" fmla="val 2424"/>
            </a:avLst>
          </a:prstGeom>
          <a:solidFill>
            <a:srgbClr val="FFFFFF"/>
          </a:solidFill>
          <a:ln w="12700">
            <a:solidFill>
              <a:srgbClr val="D7DEE7"/>
            </a:solidFill>
          </a:ln>
          <a:effectLst>
            <a:outerShdw sx="100000" sy="100000" kx="0" ky="0" algn="b" rotWithShape="0" blurRad="25400" dist="12700" dir="2700000">
              <a:srgbClr val="000000">
                <a:alpha val="10000"/>
              </a:srgbClr>
            </a:outerShdw>
          </a:effectLst>
        </p:spPr>
        <p:txBody>
          <a:bodyPr lIns="45719" rIns="45719"/>
          <a:lstStyle/>
          <a:p>
            <a:pPr/>
          </a:p>
        </p:txBody>
      </p:sp>
      <p:sp>
        <p:nvSpPr>
          <p:cNvPr id="73" name="Text 4"/>
          <p:cNvSpPr txBox="1"/>
          <p:nvPr/>
        </p:nvSpPr>
        <p:spPr>
          <a:xfrm>
            <a:off x="1051560" y="1109980"/>
            <a:ext cx="1737361" cy="66040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b="1" sz="2200">
                <a:solidFill>
                  <a:srgbClr val="1E293B"/>
                </a:solidFill>
              </a:defRPr>
            </a:lvl1pPr>
          </a:lstStyle>
          <a:p>
            <a:pPr/>
            <a:r>
              <a:t>Training data</a:t>
            </a:r>
          </a:p>
        </p:txBody>
      </p:sp>
      <p:graphicFrame>
        <p:nvGraphicFramePr>
          <p:cNvPr id="74" name="Table 0"/>
          <p:cNvGraphicFramePr/>
          <p:nvPr/>
        </p:nvGraphicFramePr>
        <p:xfrm>
          <a:off x="1051560" y="1737360"/>
          <a:ext cx="4023360" cy="2514601"/>
        </p:xfrm>
        <a:graphic xmlns:a="http://schemas.openxmlformats.org/drawingml/2006/main">
          <a:graphicData uri="http://schemas.openxmlformats.org/drawingml/2006/table">
            <a:tbl>
              <a:tblPr firstCol="0" firstRow="0" lastCol="0" lastRow="0" bandCol="0" bandRow="0" rtl="0">
                <a:tableStyleId>{4C3C2611-4C71-4FC5-86AE-919BDF0F9419}</a:tableStyleId>
              </a:tblPr>
              <a:tblGrid>
                <a:gridCol w="914400"/>
                <a:gridCol w="1463040"/>
                <a:gridCol w="1645920"/>
              </a:tblGrid>
              <a:tr h="502919">
                <a:tc>
                  <a:txBody>
                    <a:bodyPr/>
                    <a:lstStyle/>
                    <a:p>
                      <a:pPr algn="ctr">
                        <a:defRPr sz="1800"/>
                      </a:pPr>
                      <a:r>
                        <a:rPr b="1"/>
                        <a:t>Fruit</a:t>
                      </a:r>
                    </a:p>
                  </a:txBody>
                  <a:tcPr marL="36576" marR="36576" marT="36576" marB="36576" anchor="t" anchorCtr="0" horzOverflow="overflow">
                    <a:lnL w="12700">
                      <a:solidFill>
                        <a:srgbClr val="D7DEE7"/>
                      </a:solidFill>
                    </a:lnL>
                    <a:lnR w="12700">
                      <a:solidFill>
                        <a:srgbClr val="D7DEE7"/>
                      </a:solidFill>
                    </a:lnR>
                    <a:lnT w="12700">
                      <a:solidFill>
                        <a:srgbClr val="D7DEE7"/>
                      </a:solidFill>
                    </a:lnT>
                    <a:lnB w="12700">
                      <a:solidFill>
                        <a:srgbClr val="D7DEE7"/>
                      </a:solidFill>
                    </a:lnB>
                    <a:solidFill>
                      <a:srgbClr val="FFFFFF"/>
                    </a:solidFill>
                  </a:tcPr>
                </a:tc>
                <a:tc>
                  <a:txBody>
                    <a:bodyPr/>
                    <a:lstStyle/>
                    <a:p>
                      <a:pPr algn="ctr">
                        <a:defRPr sz="1800"/>
                      </a:pPr>
                      <a:r>
                        <a:rPr b="1"/>
                        <a:t>Actual</a:t>
                      </a:r>
                    </a:p>
                  </a:txBody>
                  <a:tcPr marL="36576" marR="36576" marT="36576" marB="36576" anchor="t" anchorCtr="0" horzOverflow="overflow">
                    <a:lnL w="12700">
                      <a:solidFill>
                        <a:srgbClr val="D7DEE7"/>
                      </a:solidFill>
                    </a:lnL>
                    <a:lnR w="12700">
                      <a:solidFill>
                        <a:srgbClr val="D7DEE7"/>
                      </a:solidFill>
                    </a:lnR>
                    <a:lnT w="12700">
                      <a:solidFill>
                        <a:srgbClr val="D7DEE7"/>
                      </a:solidFill>
                    </a:lnT>
                    <a:lnB w="12700">
                      <a:solidFill>
                        <a:srgbClr val="D7DEE7"/>
                      </a:solidFill>
                    </a:lnB>
                    <a:solidFill>
                      <a:srgbClr val="FFFFFF"/>
                    </a:solidFill>
                  </a:tcPr>
                </a:tc>
                <a:tc>
                  <a:txBody>
                    <a:bodyPr/>
                    <a:lstStyle/>
                    <a:p>
                      <a:pPr algn="ctr">
                        <a:defRPr sz="1800"/>
                      </a:pPr>
                      <a:r>
                        <a:rPr b="1"/>
                        <a:t>Predicted</a:t>
                      </a:r>
                    </a:p>
                  </a:txBody>
                  <a:tcPr marL="36576" marR="36576" marT="36576" marB="36576" anchor="t" anchorCtr="0" horzOverflow="overflow">
                    <a:lnL w="12700">
                      <a:solidFill>
                        <a:srgbClr val="D7DEE7"/>
                      </a:solidFill>
                    </a:lnL>
                    <a:lnR w="12700">
                      <a:solidFill>
                        <a:srgbClr val="D7DEE7"/>
                      </a:solidFill>
                    </a:lnR>
                    <a:lnT w="12700">
                      <a:solidFill>
                        <a:srgbClr val="D7DEE7"/>
                      </a:solidFill>
                    </a:lnT>
                    <a:lnB w="12700">
                      <a:solidFill>
                        <a:srgbClr val="D7DEE7"/>
                      </a:solidFill>
                    </a:lnB>
                    <a:solidFill>
                      <a:srgbClr val="FFFFFF"/>
                    </a:solidFill>
                  </a:tcPr>
                </a:tc>
              </a:tr>
              <a:tr h="502919">
                <a:tc>
                  <a:txBody>
                    <a:bodyPr/>
                    <a:lstStyle/>
                    <a:p>
                      <a:pPr algn="ctr">
                        <a:defRPr sz="1800"/>
                      </a:pPr>
                      <a:r>
                        <a:rPr>
                          <a:solidFill>
                            <a:srgbClr val="1E293B"/>
                          </a:solidFill>
                        </a:rPr>
                        <a:t>🍎</a:t>
                      </a:r>
                    </a:p>
                  </a:txBody>
                  <a:tcPr marL="36576" marR="36576" marT="36576" marB="36576" anchor="t" anchorCtr="0" horzOverflow="overflow">
                    <a:lnL w="12700">
                      <a:solidFill>
                        <a:srgbClr val="D7DEE7"/>
                      </a:solidFill>
                    </a:lnL>
                    <a:lnR w="12700">
                      <a:solidFill>
                        <a:srgbClr val="D7DEE7"/>
                      </a:solidFill>
                    </a:lnR>
                    <a:lnT w="12700">
                      <a:solidFill>
                        <a:srgbClr val="D7DEE7"/>
                      </a:solidFill>
                    </a:lnT>
                    <a:lnB w="12700">
                      <a:solidFill>
                        <a:srgbClr val="D7DEE7"/>
                      </a:solidFill>
                    </a:lnB>
                    <a:solidFill>
                      <a:srgbClr val="FFFFFF"/>
                    </a:solidFill>
                  </a:tcPr>
                </a:tc>
                <a:tc>
                  <a:txBody>
                    <a:bodyPr/>
                    <a:lstStyle/>
                    <a:p>
                      <a:pPr algn="ctr">
                        <a:defRPr sz="1800"/>
                      </a:pPr>
                      <a:r>
                        <a:rPr>
                          <a:solidFill>
                            <a:srgbClr val="1E293B"/>
                          </a:solidFill>
                        </a:rPr>
                        <a:t>150g</a:t>
                      </a:r>
                    </a:p>
                  </a:txBody>
                  <a:tcPr marL="36576" marR="36576" marT="36576" marB="36576" anchor="t" anchorCtr="0" horzOverflow="overflow">
                    <a:lnL w="12700">
                      <a:solidFill>
                        <a:srgbClr val="D7DEE7"/>
                      </a:solidFill>
                    </a:lnL>
                    <a:lnR w="12700">
                      <a:solidFill>
                        <a:srgbClr val="D7DEE7"/>
                      </a:solidFill>
                    </a:lnR>
                    <a:lnT w="12700">
                      <a:solidFill>
                        <a:srgbClr val="D7DEE7"/>
                      </a:solidFill>
                    </a:lnT>
                    <a:lnB w="12700">
                      <a:solidFill>
                        <a:srgbClr val="D7DEE7"/>
                      </a:solidFill>
                    </a:lnB>
                    <a:solidFill>
                      <a:srgbClr val="FFFFFF"/>
                    </a:solidFill>
                  </a:tcPr>
                </a:tc>
                <a:tc>
                  <a:txBody>
                    <a:bodyPr/>
                    <a:lstStyle/>
                    <a:p>
                      <a:pPr algn="ctr">
                        <a:defRPr sz="1800"/>
                      </a:pPr>
                      <a:r>
                        <a:rPr>
                          <a:solidFill>
                            <a:srgbClr val="1E293B"/>
                          </a:solidFill>
                        </a:rPr>
                        <a:t>150g</a:t>
                      </a:r>
                    </a:p>
                  </a:txBody>
                  <a:tcPr marL="36576" marR="36576" marT="36576" marB="36576" anchor="t" anchorCtr="0" horzOverflow="overflow">
                    <a:lnL w="12700">
                      <a:solidFill>
                        <a:srgbClr val="D7DEE7"/>
                      </a:solidFill>
                    </a:lnL>
                    <a:lnR w="12700">
                      <a:solidFill>
                        <a:srgbClr val="D7DEE7"/>
                      </a:solidFill>
                    </a:lnR>
                    <a:lnT w="12700">
                      <a:solidFill>
                        <a:srgbClr val="D7DEE7"/>
                      </a:solidFill>
                    </a:lnT>
                    <a:lnB w="12700">
                      <a:solidFill>
                        <a:srgbClr val="D7DEE7"/>
                      </a:solidFill>
                    </a:lnB>
                    <a:solidFill>
                      <a:srgbClr val="FFFFFF"/>
                    </a:solidFill>
                  </a:tcPr>
                </a:tc>
              </a:tr>
              <a:tr h="502919">
                <a:tc>
                  <a:txBody>
                    <a:bodyPr/>
                    <a:lstStyle/>
                    <a:p>
                      <a:pPr algn="ctr">
                        <a:defRPr sz="1800"/>
                      </a:pPr>
                      <a:r>
                        <a:rPr>
                          <a:solidFill>
                            <a:srgbClr val="1E293B"/>
                          </a:solidFill>
                        </a:rPr>
                        <a:t>🍊</a:t>
                      </a:r>
                    </a:p>
                  </a:txBody>
                  <a:tcPr marL="36576" marR="36576" marT="36576" marB="36576" anchor="t" anchorCtr="0" horzOverflow="overflow">
                    <a:lnL w="12700">
                      <a:solidFill>
                        <a:srgbClr val="D7DEE7"/>
                      </a:solidFill>
                    </a:lnL>
                    <a:lnR w="12700">
                      <a:solidFill>
                        <a:srgbClr val="D7DEE7"/>
                      </a:solidFill>
                    </a:lnR>
                    <a:lnT w="12700">
                      <a:solidFill>
                        <a:srgbClr val="D7DEE7"/>
                      </a:solidFill>
                    </a:lnT>
                    <a:lnB w="12700">
                      <a:solidFill>
                        <a:srgbClr val="D7DEE7"/>
                      </a:solidFill>
                    </a:lnB>
                    <a:solidFill>
                      <a:srgbClr val="FFFFFF"/>
                    </a:solidFill>
                  </a:tcPr>
                </a:tc>
                <a:tc>
                  <a:txBody>
                    <a:bodyPr/>
                    <a:lstStyle/>
                    <a:p>
                      <a:pPr algn="ctr">
                        <a:defRPr sz="1800"/>
                      </a:pPr>
                      <a:r>
                        <a:rPr>
                          <a:solidFill>
                            <a:srgbClr val="1E293B"/>
                          </a:solidFill>
                        </a:rPr>
                        <a:t>130g</a:t>
                      </a:r>
                    </a:p>
                  </a:txBody>
                  <a:tcPr marL="36576" marR="36576" marT="36576" marB="36576" anchor="t" anchorCtr="0" horzOverflow="overflow">
                    <a:lnL w="12700">
                      <a:solidFill>
                        <a:srgbClr val="D7DEE7"/>
                      </a:solidFill>
                    </a:lnL>
                    <a:lnR w="12700">
                      <a:solidFill>
                        <a:srgbClr val="D7DEE7"/>
                      </a:solidFill>
                    </a:lnR>
                    <a:lnT w="12700">
                      <a:solidFill>
                        <a:srgbClr val="D7DEE7"/>
                      </a:solidFill>
                    </a:lnT>
                    <a:lnB w="12700">
                      <a:solidFill>
                        <a:srgbClr val="D7DEE7"/>
                      </a:solidFill>
                    </a:lnB>
                    <a:solidFill>
                      <a:srgbClr val="FFFFFF"/>
                    </a:solidFill>
                  </a:tcPr>
                </a:tc>
                <a:tc>
                  <a:txBody>
                    <a:bodyPr/>
                    <a:lstStyle/>
                    <a:p>
                      <a:pPr algn="ctr">
                        <a:defRPr sz="1800"/>
                      </a:pPr>
                      <a:r>
                        <a:rPr>
                          <a:solidFill>
                            <a:srgbClr val="1E293B"/>
                          </a:solidFill>
                        </a:rPr>
                        <a:t>130g</a:t>
                      </a:r>
                    </a:p>
                  </a:txBody>
                  <a:tcPr marL="36576" marR="36576" marT="36576" marB="36576" anchor="t" anchorCtr="0" horzOverflow="overflow">
                    <a:lnL w="12700">
                      <a:solidFill>
                        <a:srgbClr val="D7DEE7"/>
                      </a:solidFill>
                    </a:lnL>
                    <a:lnR w="12700">
                      <a:solidFill>
                        <a:srgbClr val="D7DEE7"/>
                      </a:solidFill>
                    </a:lnR>
                    <a:lnT w="12700">
                      <a:solidFill>
                        <a:srgbClr val="D7DEE7"/>
                      </a:solidFill>
                    </a:lnT>
                    <a:lnB w="12700">
                      <a:solidFill>
                        <a:srgbClr val="D7DEE7"/>
                      </a:solidFill>
                    </a:lnB>
                    <a:solidFill>
                      <a:srgbClr val="FFFFFF"/>
                    </a:solidFill>
                  </a:tcPr>
                </a:tc>
              </a:tr>
              <a:tr h="502919">
                <a:tc>
                  <a:txBody>
                    <a:bodyPr/>
                    <a:lstStyle/>
                    <a:p>
                      <a:pPr algn="ctr">
                        <a:defRPr sz="1800"/>
                      </a:pPr>
                      <a:r>
                        <a:rPr>
                          <a:solidFill>
                            <a:srgbClr val="1E293B"/>
                          </a:solidFill>
                        </a:rPr>
                        <a:t>🍎</a:t>
                      </a:r>
                    </a:p>
                  </a:txBody>
                  <a:tcPr marL="36576" marR="36576" marT="36576" marB="36576" anchor="t" anchorCtr="0" horzOverflow="overflow">
                    <a:lnL w="12700">
                      <a:solidFill>
                        <a:srgbClr val="D7DEE7"/>
                      </a:solidFill>
                    </a:lnL>
                    <a:lnR w="12700">
                      <a:solidFill>
                        <a:srgbClr val="D7DEE7"/>
                      </a:solidFill>
                    </a:lnR>
                    <a:lnT w="12700">
                      <a:solidFill>
                        <a:srgbClr val="D7DEE7"/>
                      </a:solidFill>
                    </a:lnT>
                    <a:lnB w="12700">
                      <a:solidFill>
                        <a:srgbClr val="D7DEE7"/>
                      </a:solidFill>
                    </a:lnB>
                    <a:solidFill>
                      <a:srgbClr val="FFFFFF"/>
                    </a:solidFill>
                  </a:tcPr>
                </a:tc>
                <a:tc>
                  <a:txBody>
                    <a:bodyPr/>
                    <a:lstStyle/>
                    <a:p>
                      <a:pPr algn="ctr">
                        <a:defRPr sz="1800"/>
                      </a:pPr>
                      <a:r>
                        <a:rPr>
                          <a:solidFill>
                            <a:srgbClr val="1E293B"/>
                          </a:solidFill>
                        </a:rPr>
                        <a:t>160g</a:t>
                      </a:r>
                    </a:p>
                  </a:txBody>
                  <a:tcPr marL="36576" marR="36576" marT="36576" marB="36576" anchor="t" anchorCtr="0" horzOverflow="overflow">
                    <a:lnL w="12700">
                      <a:solidFill>
                        <a:srgbClr val="D7DEE7"/>
                      </a:solidFill>
                    </a:lnL>
                    <a:lnR w="12700">
                      <a:solidFill>
                        <a:srgbClr val="D7DEE7"/>
                      </a:solidFill>
                    </a:lnR>
                    <a:lnT w="12700">
                      <a:solidFill>
                        <a:srgbClr val="D7DEE7"/>
                      </a:solidFill>
                    </a:lnT>
                    <a:lnB w="12700">
                      <a:solidFill>
                        <a:srgbClr val="D7DEE7"/>
                      </a:solidFill>
                    </a:lnB>
                    <a:solidFill>
                      <a:srgbClr val="FFFFFF"/>
                    </a:solidFill>
                  </a:tcPr>
                </a:tc>
                <a:tc>
                  <a:txBody>
                    <a:bodyPr/>
                    <a:lstStyle/>
                    <a:p>
                      <a:pPr algn="ctr">
                        <a:defRPr sz="1800"/>
                      </a:pPr>
                      <a:r>
                        <a:rPr>
                          <a:solidFill>
                            <a:srgbClr val="1E293B"/>
                          </a:solidFill>
                        </a:rPr>
                        <a:t>160g</a:t>
                      </a:r>
                    </a:p>
                  </a:txBody>
                  <a:tcPr marL="36576" marR="36576" marT="36576" marB="36576" anchor="t" anchorCtr="0" horzOverflow="overflow">
                    <a:lnL w="12700">
                      <a:solidFill>
                        <a:srgbClr val="D7DEE7"/>
                      </a:solidFill>
                    </a:lnL>
                    <a:lnR w="12700">
                      <a:solidFill>
                        <a:srgbClr val="D7DEE7"/>
                      </a:solidFill>
                    </a:lnR>
                    <a:lnT w="12700">
                      <a:solidFill>
                        <a:srgbClr val="D7DEE7"/>
                      </a:solidFill>
                    </a:lnT>
                    <a:lnB w="12700">
                      <a:solidFill>
                        <a:srgbClr val="D7DEE7"/>
                      </a:solidFill>
                    </a:lnB>
                    <a:solidFill>
                      <a:srgbClr val="FFFFFF"/>
                    </a:solidFill>
                  </a:tcPr>
                </a:tc>
              </a:tr>
              <a:tr h="502919">
                <a:tc>
                  <a:txBody>
                    <a:bodyPr/>
                    <a:lstStyle/>
                    <a:p>
                      <a:pPr algn="ctr">
                        <a:defRPr sz="1800"/>
                      </a:pPr>
                      <a:r>
                        <a:rPr>
                          <a:solidFill>
                            <a:srgbClr val="1E293B"/>
                          </a:solidFill>
                        </a:rPr>
                        <a:t>🍊</a:t>
                      </a:r>
                    </a:p>
                  </a:txBody>
                  <a:tcPr marL="36576" marR="36576" marT="36576" marB="36576" anchor="t" anchorCtr="0" horzOverflow="overflow">
                    <a:lnL w="12700">
                      <a:solidFill>
                        <a:srgbClr val="D7DEE7"/>
                      </a:solidFill>
                    </a:lnL>
                    <a:lnR w="12700">
                      <a:solidFill>
                        <a:srgbClr val="D7DEE7"/>
                      </a:solidFill>
                    </a:lnR>
                    <a:lnT w="12700">
                      <a:solidFill>
                        <a:srgbClr val="D7DEE7"/>
                      </a:solidFill>
                    </a:lnT>
                    <a:lnB w="12700">
                      <a:solidFill>
                        <a:srgbClr val="D7DEE7"/>
                      </a:solidFill>
                    </a:lnB>
                    <a:solidFill>
                      <a:srgbClr val="FFFFFF"/>
                    </a:solidFill>
                  </a:tcPr>
                </a:tc>
                <a:tc>
                  <a:txBody>
                    <a:bodyPr/>
                    <a:lstStyle/>
                    <a:p>
                      <a:pPr algn="ctr">
                        <a:defRPr sz="1800"/>
                      </a:pPr>
                      <a:r>
                        <a:rPr>
                          <a:solidFill>
                            <a:srgbClr val="1E293B"/>
                          </a:solidFill>
                        </a:rPr>
                        <a:t>140g</a:t>
                      </a:r>
                    </a:p>
                  </a:txBody>
                  <a:tcPr marL="36576" marR="36576" marT="36576" marB="36576" anchor="t" anchorCtr="0" horzOverflow="overflow">
                    <a:lnL w="12700">
                      <a:solidFill>
                        <a:srgbClr val="D7DEE7"/>
                      </a:solidFill>
                    </a:lnL>
                    <a:lnR w="12700">
                      <a:solidFill>
                        <a:srgbClr val="D7DEE7"/>
                      </a:solidFill>
                    </a:lnR>
                    <a:lnT w="12700">
                      <a:solidFill>
                        <a:srgbClr val="D7DEE7"/>
                      </a:solidFill>
                    </a:lnT>
                    <a:lnB w="12700">
                      <a:solidFill>
                        <a:srgbClr val="D7DEE7"/>
                      </a:solidFill>
                    </a:lnB>
                    <a:solidFill>
                      <a:srgbClr val="FFFFFF"/>
                    </a:solidFill>
                  </a:tcPr>
                </a:tc>
                <a:tc>
                  <a:txBody>
                    <a:bodyPr/>
                    <a:lstStyle/>
                    <a:p>
                      <a:pPr algn="ctr">
                        <a:defRPr sz="1800"/>
                      </a:pPr>
                      <a:r>
                        <a:rPr>
                          <a:solidFill>
                            <a:srgbClr val="1E293B"/>
                          </a:solidFill>
                        </a:rPr>
                        <a:t>140g</a:t>
                      </a:r>
                    </a:p>
                  </a:txBody>
                  <a:tcPr marL="36576" marR="36576" marT="36576" marB="36576" anchor="t" anchorCtr="0" horzOverflow="overflow">
                    <a:lnL w="12700">
                      <a:solidFill>
                        <a:srgbClr val="D7DEE7"/>
                      </a:solidFill>
                    </a:lnL>
                    <a:lnR w="12700">
                      <a:solidFill>
                        <a:srgbClr val="D7DEE7"/>
                      </a:solidFill>
                    </a:lnR>
                    <a:lnT w="12700">
                      <a:solidFill>
                        <a:srgbClr val="D7DEE7"/>
                      </a:solidFill>
                    </a:lnT>
                    <a:lnB w="12700">
                      <a:solidFill>
                        <a:srgbClr val="D7DEE7"/>
                      </a:solidFill>
                    </a:lnB>
                    <a:solidFill>
                      <a:srgbClr val="FFFFFF"/>
                    </a:solidFill>
                  </a:tcPr>
                </a:tc>
              </a:tr>
            </a:tbl>
          </a:graphicData>
        </a:graphic>
      </p:graphicFrame>
      <p:sp>
        <p:nvSpPr>
          <p:cNvPr id="75" name="Shape 5"/>
          <p:cNvSpPr/>
          <p:nvPr/>
        </p:nvSpPr>
        <p:spPr>
          <a:xfrm>
            <a:off x="1097280" y="4526279"/>
            <a:ext cx="4297680" cy="713233"/>
          </a:xfrm>
          <a:prstGeom prst="roundRect">
            <a:avLst>
              <a:gd name="adj" fmla="val 15385"/>
            </a:avLst>
          </a:prstGeom>
          <a:solidFill>
            <a:srgbClr val="FBEDEA"/>
          </a:solidFill>
          <a:ln w="12700">
            <a:solidFill>
              <a:srgbClr val="C84A3A"/>
            </a:solidFill>
          </a:ln>
          <a:effectLst>
            <a:outerShdw sx="100000" sy="100000" kx="0" ky="0" algn="b" rotWithShape="0" blurRad="25400" dist="12700" dir="2700000">
              <a:srgbClr val="000000">
                <a:alpha val="10000"/>
              </a:srgbClr>
            </a:outerShdw>
          </a:effectLst>
        </p:spPr>
        <p:txBody>
          <a:bodyPr lIns="45719" rIns="45719"/>
          <a:lstStyle/>
          <a:p>
            <a:pPr/>
          </a:p>
        </p:txBody>
      </p:sp>
      <p:sp>
        <p:nvSpPr>
          <p:cNvPr id="76" name="Text 6"/>
          <p:cNvSpPr txBox="1"/>
          <p:nvPr/>
        </p:nvSpPr>
        <p:spPr>
          <a:xfrm>
            <a:off x="1325880" y="4773167"/>
            <a:ext cx="3886201" cy="219457"/>
          </a:xfrm>
          <a:prstGeom prst="rect">
            <a:avLst/>
          </a:prstGeom>
          <a:ln w="12700">
            <a:miter lim="400000"/>
          </a:ln>
          <a:extLst>
            <a:ext uri="{C572A759-6A51-4108-AA02-DFA0A04FC94B}">
              <ma14:wrappingTextBoxFlag xmlns:ma14="http://schemas.microsoft.com/office/mac/drawingml/2011/main" val="1"/>
            </a:ext>
          </a:extLst>
        </p:spPr>
        <p:txBody>
          <a:bodyPr lIns="507" tIns="507" rIns="507" bIns="507" anchor="ctr">
            <a:normAutofit fontScale="100000" lnSpcReduction="0"/>
          </a:bodyPr>
          <a:lstStyle>
            <a:lvl1pPr defTabSz="621791">
              <a:lnSpc>
                <a:spcPct val="110000"/>
              </a:lnSpc>
              <a:defRPr b="1" sz="1360">
                <a:solidFill>
                  <a:srgbClr val="C84A3A"/>
                </a:solidFill>
              </a:defRPr>
            </a:lvl1pPr>
          </a:lstStyle>
          <a:p>
            <a:pPr/>
            <a:r>
              <a:t>Result: 0 error, but this proves almost nothing.</a:t>
            </a:r>
          </a:p>
        </p:txBody>
      </p:sp>
      <p:sp>
        <p:nvSpPr>
          <p:cNvPr id="77" name="Text 7"/>
          <p:cNvSpPr txBox="1"/>
          <p:nvPr/>
        </p:nvSpPr>
        <p:spPr>
          <a:xfrm>
            <a:off x="6355079" y="1143000"/>
            <a:ext cx="5257801" cy="2377440"/>
          </a:xfrm>
          <a:prstGeom prst="rect">
            <a:avLst/>
          </a:prstGeom>
          <a:ln w="12700">
            <a:miter lim="400000"/>
          </a:ln>
          <a:extLst>
            <a:ext uri="{C572A759-6A51-4108-AA02-DFA0A04FC94B}">
              <ma14:wrappingTextBoxFlag xmlns:ma14="http://schemas.microsoft.com/office/mac/drawingml/2011/main" val="1"/>
            </a:ext>
          </a:extLst>
        </p:spPr>
        <p:txBody>
          <a:bodyPr lIns="507" tIns="507" rIns="507" bIns="507">
            <a:normAutofit fontScale="100000" lnSpcReduction="0"/>
          </a:bodyPr>
          <a:lstStyle/>
          <a:p>
            <a:pPr>
              <a:lnSpc>
                <a:spcPct val="110000"/>
              </a:lnSpc>
              <a:defRPr sz="2000">
                <a:solidFill>
                  <a:srgbClr val="1E293B"/>
                </a:solidFill>
              </a:defRPr>
            </a:pPr>
            <a:r>
              <a:t>If we test on the same examples we used for learning, the model may look brilliant simply because it remembers them.</a:t>
            </a:r>
          </a:p>
          <a:p>
            <a:pPr>
              <a:lnSpc>
                <a:spcPct val="110000"/>
              </a:lnSpc>
              <a:defRPr sz="2000">
                <a:solidFill>
                  <a:srgbClr val="1E293B"/>
                </a:solidFill>
              </a:defRPr>
            </a:pPr>
          </a:p>
          <a:p>
            <a:pPr>
              <a:lnSpc>
                <a:spcPct val="110000"/>
              </a:lnSpc>
              <a:defRPr b="1" sz="2000">
                <a:solidFill>
                  <a:srgbClr val="1E293B"/>
                </a:solidFill>
              </a:defRPr>
            </a:pPr>
            <a:r>
              <a:t>It’s like giving students the answer key, then acting surprised when they score 100%.</a:t>
            </a:r>
          </a:p>
        </p:txBody>
      </p:sp>
      <p:sp>
        <p:nvSpPr>
          <p:cNvPr id="78" name="Text 8"/>
          <p:cNvSpPr txBox="1"/>
          <p:nvPr/>
        </p:nvSpPr>
        <p:spPr>
          <a:xfrm>
            <a:off x="6355079" y="3657600"/>
            <a:ext cx="5257801" cy="1508761"/>
          </a:xfrm>
          <a:prstGeom prst="rect">
            <a:avLst/>
          </a:prstGeom>
          <a:ln w="12700">
            <a:miter lim="400000"/>
          </a:ln>
          <a:extLst>
            <a:ext uri="{C572A759-6A51-4108-AA02-DFA0A04FC94B}">
              <ma14:wrappingTextBoxFlag xmlns:ma14="http://schemas.microsoft.com/office/mac/drawingml/2011/main" val="1"/>
            </a:ext>
          </a:extLst>
        </p:spPr>
        <p:txBody>
          <a:bodyPr lIns="507" tIns="507" rIns="507" bIns="507">
            <a:normAutofit fontScale="100000" lnSpcReduction="0"/>
          </a:bodyPr>
          <a:lstStyle>
            <a:lvl1pPr defTabSz="859536">
              <a:lnSpc>
                <a:spcPct val="110000"/>
              </a:lnSpc>
              <a:defRPr sz="1879">
                <a:solidFill>
                  <a:srgbClr val="1E293B"/>
                </a:solidFill>
              </a:defRPr>
            </a:lvl1pPr>
          </a:lstStyle>
          <a:p>
            <a:pPr/>
            <a:r>
              <a:t>This problem is called overfitting. The model fits the training examples so closely that the score becomes an illusion. What we really care about is whether the model will work on examples it has never seen before.</a:t>
            </a:r>
          </a:p>
        </p:txBody>
      </p:sp>
      <p:sp>
        <p:nvSpPr>
          <p:cNvPr id="79" name="Text 9"/>
          <p:cNvSpPr txBox="1"/>
          <p:nvPr/>
        </p:nvSpPr>
        <p:spPr>
          <a:xfrm>
            <a:off x="11475719" y="6489192"/>
            <a:ext cx="320041" cy="15240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lgn="r">
              <a:defRPr sz="1000">
                <a:solidFill>
                  <a:srgbClr val="64748B"/>
                </a:solidFill>
              </a:defRPr>
            </a:lvl1pPr>
          </a:lstStyle>
          <a:p>
            <a:pPr/>
            <a:r>
              <a:t>3</a:t>
            </a:r>
          </a:p>
        </p:txBody>
      </p:sp>
    </p:spTree>
  </p:cSld>
  <p:clrMapOvr>
    <a:masterClrMapping/>
  </p:clrMapOvr>
  <p:transition xmlns:p14="http://schemas.microsoft.com/office/powerpoint/2010/main" spd="med" advClick="1"/>
</p:sld>
</file>

<file path=ppt/slides/slide7.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bg>
      <p:bgPr>
        <a:solidFill>
          <a:srgbClr val="FCFCFD"/>
        </a:solidFill>
      </p:bgPr>
    </p:bg>
    <p:spTree>
      <p:nvGrpSpPr>
        <p:cNvPr id="1" name=""/>
        <p:cNvGrpSpPr/>
        <p:nvPr/>
      </p:nvGrpSpPr>
      <p:grpSpPr>
        <a:xfrm>
          <a:off x="0" y="0"/>
          <a:ext cx="0" cy="0"/>
          <a:chOff x="0" y="0"/>
          <a:chExt cx="0" cy="0"/>
        </a:xfrm>
      </p:grpSpPr>
      <p:sp>
        <p:nvSpPr>
          <p:cNvPr id="83" name="Shape 0"/>
          <p:cNvSpPr/>
          <p:nvPr/>
        </p:nvSpPr>
        <p:spPr>
          <a:xfrm>
            <a:off x="-1" y="0"/>
            <a:ext cx="12191697" cy="384048"/>
          </a:xfrm>
          <a:prstGeom prst="rect">
            <a:avLst/>
          </a:prstGeom>
          <a:solidFill>
            <a:srgbClr val="2F8F69"/>
          </a:solidFill>
          <a:ln w="12700">
            <a:solidFill>
              <a:srgbClr val="2F8F69"/>
            </a:solidFill>
          </a:ln>
        </p:spPr>
        <p:txBody>
          <a:bodyPr lIns="45719" rIns="45719"/>
          <a:lstStyle/>
          <a:p>
            <a:pPr/>
          </a:p>
        </p:txBody>
      </p:sp>
      <p:sp>
        <p:nvSpPr>
          <p:cNvPr id="84" name="Text 1"/>
          <p:cNvSpPr txBox="1"/>
          <p:nvPr/>
        </p:nvSpPr>
        <p:spPr>
          <a:xfrm>
            <a:off x="411480" y="-19558"/>
            <a:ext cx="8961120" cy="36830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b="1" sz="2400">
                <a:solidFill>
                  <a:srgbClr val="FFFFFF"/>
                </a:solidFill>
                <a:latin typeface="Aptos Display"/>
                <a:ea typeface="Aptos Display"/>
                <a:cs typeface="Aptos Display"/>
                <a:sym typeface="Aptos Display"/>
              </a:defRPr>
            </a:lvl1pPr>
          </a:lstStyle>
          <a:p>
            <a:pPr/>
            <a:r>
              <a:t>The fix: split the original dataset into train and test</a:t>
            </a:r>
          </a:p>
        </p:txBody>
      </p:sp>
      <p:sp>
        <p:nvSpPr>
          <p:cNvPr id="85" name="Text 2"/>
          <p:cNvSpPr txBox="1"/>
          <p:nvPr/>
        </p:nvSpPr>
        <p:spPr>
          <a:xfrm>
            <a:off x="9966959" y="82041"/>
            <a:ext cx="1737361" cy="16510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lgn="r">
              <a:defRPr sz="1100">
                <a:solidFill>
                  <a:srgbClr val="F8FAFC"/>
                </a:solidFill>
              </a:defRPr>
            </a:lvl1pPr>
          </a:lstStyle>
          <a:p>
            <a:pPr/>
            <a:r>
              <a:t>Model Evaluation</a:t>
            </a:r>
          </a:p>
        </p:txBody>
      </p:sp>
      <p:sp>
        <p:nvSpPr>
          <p:cNvPr id="86" name="Shape 3"/>
          <p:cNvSpPr/>
          <p:nvPr/>
        </p:nvSpPr>
        <p:spPr>
          <a:xfrm>
            <a:off x="640080" y="1051560"/>
            <a:ext cx="10972801" cy="1920240"/>
          </a:xfrm>
          <a:prstGeom prst="roundRect">
            <a:avLst>
              <a:gd name="adj" fmla="val 5714"/>
            </a:avLst>
          </a:prstGeom>
          <a:solidFill>
            <a:srgbClr val="FFFFFF"/>
          </a:solidFill>
          <a:ln w="12700">
            <a:solidFill>
              <a:srgbClr val="D7DEE7"/>
            </a:solidFill>
          </a:ln>
          <a:effectLst>
            <a:outerShdw sx="100000" sy="100000" kx="0" ky="0" algn="b" rotWithShape="0" blurRad="25400" dist="12700" dir="2700000">
              <a:srgbClr val="000000">
                <a:alpha val="10000"/>
              </a:srgbClr>
            </a:outerShdw>
          </a:effectLst>
        </p:spPr>
        <p:txBody>
          <a:bodyPr lIns="45719" rIns="45719"/>
          <a:lstStyle/>
          <a:p>
            <a:pPr/>
          </a:p>
        </p:txBody>
      </p:sp>
      <p:sp>
        <p:nvSpPr>
          <p:cNvPr id="87" name="Shape 4"/>
          <p:cNvSpPr/>
          <p:nvPr/>
        </p:nvSpPr>
        <p:spPr>
          <a:xfrm>
            <a:off x="960119" y="1627632"/>
            <a:ext cx="5852161" cy="749809"/>
          </a:xfrm>
          <a:prstGeom prst="roundRect">
            <a:avLst>
              <a:gd name="adj" fmla="val 14634"/>
            </a:avLst>
          </a:prstGeom>
          <a:solidFill>
            <a:srgbClr val="EAF3FB"/>
          </a:solidFill>
          <a:ln w="12700">
            <a:solidFill>
              <a:srgbClr val="2C6EAF"/>
            </a:solidFill>
          </a:ln>
          <a:effectLst>
            <a:outerShdw sx="100000" sy="100000" kx="0" ky="0" algn="b" rotWithShape="0" blurRad="25400" dist="12700" dir="2700000">
              <a:srgbClr val="000000">
                <a:alpha val="10000"/>
              </a:srgbClr>
            </a:outerShdw>
          </a:effectLst>
        </p:spPr>
        <p:txBody>
          <a:bodyPr lIns="45719" rIns="45719"/>
          <a:lstStyle/>
          <a:p>
            <a:pPr/>
          </a:p>
        </p:txBody>
      </p:sp>
      <p:sp>
        <p:nvSpPr>
          <p:cNvPr id="88" name="Text 5"/>
          <p:cNvSpPr txBox="1"/>
          <p:nvPr/>
        </p:nvSpPr>
        <p:spPr>
          <a:xfrm>
            <a:off x="2971800" y="1856232"/>
            <a:ext cx="1828800" cy="201169"/>
          </a:xfrm>
          <a:prstGeom prst="rect">
            <a:avLst/>
          </a:prstGeom>
          <a:ln w="12700">
            <a:miter lim="400000"/>
          </a:ln>
          <a:extLst>
            <a:ext uri="{C572A759-6A51-4108-AA02-DFA0A04FC94B}">
              <ma14:wrappingTextBoxFlag xmlns:ma14="http://schemas.microsoft.com/office/mac/drawingml/2011/main" val="1"/>
            </a:ext>
          </a:extLst>
        </p:spPr>
        <p:txBody>
          <a:bodyPr lIns="507" tIns="507" rIns="507" bIns="507" anchor="ctr">
            <a:normAutofit fontScale="100000" lnSpcReduction="0"/>
          </a:bodyPr>
          <a:lstStyle>
            <a:lvl1pPr defTabSz="466344">
              <a:lnSpc>
                <a:spcPct val="110000"/>
              </a:lnSpc>
              <a:defRPr b="1" sz="1224">
                <a:solidFill>
                  <a:srgbClr val="2C6EAF"/>
                </a:solidFill>
              </a:defRPr>
            </a:lvl1pPr>
          </a:lstStyle>
          <a:p>
            <a:pPr/>
            <a:r>
              <a:t>Training data</a:t>
            </a:r>
          </a:p>
        </p:txBody>
      </p:sp>
      <p:sp>
        <p:nvSpPr>
          <p:cNvPr id="89" name="Shape 6"/>
          <p:cNvSpPr/>
          <p:nvPr/>
        </p:nvSpPr>
        <p:spPr>
          <a:xfrm>
            <a:off x="7040880" y="1627632"/>
            <a:ext cx="2880361" cy="749809"/>
          </a:xfrm>
          <a:prstGeom prst="roundRect">
            <a:avLst>
              <a:gd name="adj" fmla="val 14634"/>
            </a:avLst>
          </a:prstGeom>
          <a:solidFill>
            <a:srgbClr val="EAF6F1"/>
          </a:solidFill>
          <a:ln w="12700">
            <a:solidFill>
              <a:srgbClr val="2F8F69"/>
            </a:solidFill>
          </a:ln>
          <a:effectLst>
            <a:outerShdw sx="100000" sy="100000" kx="0" ky="0" algn="b" rotWithShape="0" blurRad="25400" dist="12700" dir="2700000">
              <a:srgbClr val="000000">
                <a:alpha val="10000"/>
              </a:srgbClr>
            </a:outerShdw>
          </a:effectLst>
        </p:spPr>
        <p:txBody>
          <a:bodyPr lIns="45719" rIns="45719"/>
          <a:lstStyle/>
          <a:p>
            <a:pPr/>
          </a:p>
        </p:txBody>
      </p:sp>
      <p:sp>
        <p:nvSpPr>
          <p:cNvPr id="90" name="Text 7"/>
          <p:cNvSpPr txBox="1"/>
          <p:nvPr/>
        </p:nvSpPr>
        <p:spPr>
          <a:xfrm>
            <a:off x="7845552" y="1856232"/>
            <a:ext cx="1280161" cy="201169"/>
          </a:xfrm>
          <a:prstGeom prst="rect">
            <a:avLst/>
          </a:prstGeom>
          <a:ln w="12700">
            <a:miter lim="400000"/>
          </a:ln>
          <a:extLst>
            <a:ext uri="{C572A759-6A51-4108-AA02-DFA0A04FC94B}">
              <ma14:wrappingTextBoxFlag xmlns:ma14="http://schemas.microsoft.com/office/mac/drawingml/2011/main" val="1"/>
            </a:ext>
          </a:extLst>
        </p:spPr>
        <p:txBody>
          <a:bodyPr lIns="507" tIns="507" rIns="507" bIns="507" anchor="ctr">
            <a:normAutofit fontScale="100000" lnSpcReduction="0"/>
          </a:bodyPr>
          <a:lstStyle>
            <a:lvl1pPr defTabSz="466344">
              <a:lnSpc>
                <a:spcPct val="110000"/>
              </a:lnSpc>
              <a:defRPr b="1" sz="1224">
                <a:solidFill>
                  <a:srgbClr val="2F8F69"/>
                </a:solidFill>
              </a:defRPr>
            </a:lvl1pPr>
          </a:lstStyle>
          <a:p>
            <a:pPr/>
            <a:r>
              <a:t>Test data</a:t>
            </a:r>
          </a:p>
        </p:txBody>
      </p:sp>
      <p:sp>
        <p:nvSpPr>
          <p:cNvPr id="91" name="Shape 8"/>
          <p:cNvSpPr/>
          <p:nvPr/>
        </p:nvSpPr>
        <p:spPr>
          <a:xfrm>
            <a:off x="6700333" y="1746504"/>
            <a:ext cx="457201" cy="530353"/>
          </a:xfrm>
          <a:prstGeom prst="chevron">
            <a:avLst>
              <a:gd name="adj" fmla="val 50013"/>
            </a:avLst>
          </a:prstGeom>
          <a:solidFill>
            <a:srgbClr val="475569"/>
          </a:solidFill>
          <a:ln w="12700">
            <a:solidFill>
              <a:srgbClr val="475569"/>
            </a:solidFill>
          </a:ln>
        </p:spPr>
        <p:txBody>
          <a:bodyPr lIns="45719" rIns="45719"/>
          <a:lstStyle/>
          <a:p>
            <a:pPr/>
          </a:p>
        </p:txBody>
      </p:sp>
      <p:sp>
        <p:nvSpPr>
          <p:cNvPr id="92" name="Text 11"/>
          <p:cNvSpPr txBox="1"/>
          <p:nvPr/>
        </p:nvSpPr>
        <p:spPr>
          <a:xfrm>
            <a:off x="868679" y="3429000"/>
            <a:ext cx="5120642" cy="1691640"/>
          </a:xfrm>
          <a:prstGeom prst="rect">
            <a:avLst/>
          </a:prstGeom>
          <a:ln w="12700">
            <a:miter lim="400000"/>
          </a:ln>
          <a:extLst>
            <a:ext uri="{C572A759-6A51-4108-AA02-DFA0A04FC94B}">
              <ma14:wrappingTextBoxFlag xmlns:ma14="http://schemas.microsoft.com/office/mac/drawingml/2011/main" val="1"/>
            </a:ext>
          </a:extLst>
        </p:spPr>
        <p:txBody>
          <a:bodyPr lIns="507" tIns="507" rIns="507" bIns="507">
            <a:normAutofit fontScale="100000" lnSpcReduction="0"/>
          </a:bodyPr>
          <a:lstStyle>
            <a:lvl1pPr defTabSz="841247">
              <a:lnSpc>
                <a:spcPct val="110000"/>
              </a:lnSpc>
              <a:defRPr sz="1840">
                <a:solidFill>
                  <a:srgbClr val="1E293B"/>
                </a:solidFill>
              </a:defRPr>
            </a:lvl1pPr>
          </a:lstStyle>
          <a:p>
            <a:pPr/>
            <a:r>
              <a:t>This is where the test set. We deliberately withhold some data so the model cannot practice on it. Then we evaluate on that hidden portion at the end. This gives us a far more honest estimate of what will happen in the future.</a:t>
            </a:r>
          </a:p>
        </p:txBody>
      </p:sp>
      <p:sp>
        <p:nvSpPr>
          <p:cNvPr id="93" name="Shape 12"/>
          <p:cNvSpPr/>
          <p:nvPr/>
        </p:nvSpPr>
        <p:spPr>
          <a:xfrm>
            <a:off x="6263640" y="3337559"/>
            <a:ext cx="5394960" cy="2011681"/>
          </a:xfrm>
          <a:prstGeom prst="roundRect">
            <a:avLst>
              <a:gd name="adj" fmla="val 5455"/>
            </a:avLst>
          </a:prstGeom>
          <a:solidFill>
            <a:srgbClr val="F3F4F6"/>
          </a:solidFill>
          <a:ln w="12700">
            <a:solidFill>
              <a:srgbClr val="D7DEE7"/>
            </a:solidFill>
          </a:ln>
          <a:effectLst>
            <a:outerShdw sx="100000" sy="100000" kx="0" ky="0" algn="b" rotWithShape="0" blurRad="25400" dist="12700" dir="2700000">
              <a:srgbClr val="000000">
                <a:alpha val="10000"/>
              </a:srgbClr>
            </a:outerShdw>
          </a:effectLst>
        </p:spPr>
        <p:txBody>
          <a:bodyPr lIns="45719" rIns="45719"/>
          <a:lstStyle/>
          <a:p>
            <a:pPr/>
          </a:p>
        </p:txBody>
      </p:sp>
      <p:sp>
        <p:nvSpPr>
          <p:cNvPr id="94" name="Text 13"/>
          <p:cNvSpPr txBox="1"/>
          <p:nvPr/>
        </p:nvSpPr>
        <p:spPr>
          <a:xfrm>
            <a:off x="6537959" y="3657600"/>
            <a:ext cx="4892041" cy="1325881"/>
          </a:xfrm>
          <a:prstGeom prst="rect">
            <a:avLst/>
          </a:prstGeom>
          <a:ln w="12700">
            <a:miter lim="400000"/>
          </a:ln>
          <a:extLst>
            <a:ext uri="{C572A759-6A51-4108-AA02-DFA0A04FC94B}">
              <ma14:wrappingTextBoxFlag xmlns:ma14="http://schemas.microsoft.com/office/mac/drawingml/2011/main" val="1"/>
            </a:ext>
          </a:extLst>
        </p:spPr>
        <p:txBody>
          <a:bodyPr lIns="507" tIns="507" rIns="507" bIns="507">
            <a:normAutofit fontScale="100000" lnSpcReduction="0"/>
          </a:bodyPr>
          <a:lstStyle/>
          <a:p>
            <a:pPr defTabSz="740663">
              <a:lnSpc>
                <a:spcPct val="110000"/>
              </a:lnSpc>
              <a:defRPr sz="1620">
                <a:solidFill>
                  <a:srgbClr val="1E293B"/>
                </a:solidFill>
              </a:defRPr>
            </a:pPr>
            <a:r>
              <a:t>Why this works:</a:t>
            </a:r>
          </a:p>
          <a:p>
            <a:pPr defTabSz="740663">
              <a:lnSpc>
                <a:spcPct val="110000"/>
              </a:lnSpc>
              <a:defRPr sz="1620">
                <a:solidFill>
                  <a:srgbClr val="1E293B"/>
                </a:solidFill>
              </a:defRPr>
            </a:pPr>
            <a:r>
              <a:t>• Training data teaches the model.</a:t>
            </a:r>
          </a:p>
          <a:p>
            <a:pPr defTabSz="740663">
              <a:lnSpc>
                <a:spcPct val="110000"/>
              </a:lnSpc>
              <a:defRPr sz="1620">
                <a:solidFill>
                  <a:srgbClr val="1E293B"/>
                </a:solidFill>
              </a:defRPr>
            </a:pPr>
            <a:r>
              <a:t>• Test data checks whether the model can generalize.</a:t>
            </a:r>
          </a:p>
          <a:p>
            <a:pPr defTabSz="740663">
              <a:lnSpc>
                <a:spcPct val="110000"/>
              </a:lnSpc>
              <a:defRPr sz="1620">
                <a:solidFill>
                  <a:srgbClr val="1E293B"/>
                </a:solidFill>
              </a:defRPr>
            </a:pPr>
            <a:r>
              <a:t>• The test set should be large enough to give a stable estimate of performance.</a:t>
            </a:r>
          </a:p>
        </p:txBody>
      </p:sp>
      <p:sp>
        <p:nvSpPr>
          <p:cNvPr id="95" name="Shape 14"/>
          <p:cNvSpPr/>
          <p:nvPr/>
        </p:nvSpPr>
        <p:spPr>
          <a:xfrm>
            <a:off x="777240" y="5669279"/>
            <a:ext cx="10881360" cy="502921"/>
          </a:xfrm>
          <a:prstGeom prst="roundRect">
            <a:avLst>
              <a:gd name="adj" fmla="val 21818"/>
            </a:avLst>
          </a:prstGeom>
          <a:solidFill>
            <a:srgbClr val="EAF6F1"/>
          </a:solidFill>
          <a:ln w="12700">
            <a:solidFill>
              <a:srgbClr val="2F8F69"/>
            </a:solidFill>
          </a:ln>
          <a:effectLst>
            <a:outerShdw sx="100000" sy="100000" kx="0" ky="0" algn="b" rotWithShape="0" blurRad="25400" dist="12700" dir="2700000">
              <a:srgbClr val="000000">
                <a:alpha val="10000"/>
              </a:srgbClr>
            </a:outerShdw>
          </a:effectLst>
        </p:spPr>
        <p:txBody>
          <a:bodyPr lIns="45719" rIns="45719"/>
          <a:lstStyle/>
          <a:p>
            <a:pPr/>
          </a:p>
        </p:txBody>
      </p:sp>
      <p:sp>
        <p:nvSpPr>
          <p:cNvPr id="96" name="Text 15"/>
          <p:cNvSpPr txBox="1"/>
          <p:nvPr/>
        </p:nvSpPr>
        <p:spPr>
          <a:xfrm>
            <a:off x="1051559" y="5815584"/>
            <a:ext cx="10332722" cy="164593"/>
          </a:xfrm>
          <a:prstGeom prst="rect">
            <a:avLst/>
          </a:prstGeom>
          <a:ln w="12700">
            <a:miter lim="400000"/>
          </a:ln>
          <a:extLst>
            <a:ext uri="{C572A759-6A51-4108-AA02-DFA0A04FC94B}">
              <ma14:wrappingTextBoxFlag xmlns:ma14="http://schemas.microsoft.com/office/mac/drawingml/2011/main" val="1"/>
            </a:ext>
          </a:extLst>
        </p:spPr>
        <p:txBody>
          <a:bodyPr lIns="507" tIns="507" rIns="507" bIns="507" anchor="ctr">
            <a:normAutofit fontScale="100000" lnSpcReduction="0"/>
          </a:bodyPr>
          <a:lstStyle>
            <a:lvl1pPr defTabSz="521208">
              <a:lnSpc>
                <a:spcPct val="110000"/>
              </a:lnSpc>
              <a:defRPr b="1" sz="1083">
                <a:solidFill>
                  <a:srgbClr val="2F8F69"/>
                </a:solidFill>
              </a:defRPr>
            </a:lvl1pPr>
          </a:lstStyle>
          <a:p>
            <a:pPr/>
            <a:r>
              <a:t>Evaluation is a simulation of real use: “Here is new data. How well does the model do now?”</a:t>
            </a:r>
          </a:p>
        </p:txBody>
      </p:sp>
      <p:sp>
        <p:nvSpPr>
          <p:cNvPr id="97" name="Text 16"/>
          <p:cNvSpPr txBox="1"/>
          <p:nvPr/>
        </p:nvSpPr>
        <p:spPr>
          <a:xfrm>
            <a:off x="11475719" y="6489192"/>
            <a:ext cx="320041" cy="15240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lgn="r">
              <a:defRPr sz="1000">
                <a:solidFill>
                  <a:srgbClr val="64748B"/>
                </a:solidFill>
              </a:defRPr>
            </a:lvl1pPr>
          </a:lstStyle>
          <a:p>
            <a:pPr/>
            <a:r>
              <a:t>5</a:t>
            </a:r>
          </a:p>
        </p:txBody>
      </p:sp>
    </p:spTree>
  </p:cSld>
  <p:clrMapOvr>
    <a:masterClrMapping/>
  </p:clrMapOvr>
  <p:transition xmlns:p14="http://schemas.microsoft.com/office/powerpoint/2010/main" spd="med" advClick="1"/>
</p:sld>
</file>

<file path=ppt/slides/slide8.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bg>
      <p:bgPr>
        <a:solidFill>
          <a:srgbClr val="FCFCFD"/>
        </a:solidFill>
      </p:bgPr>
    </p:bg>
    <p:spTree>
      <p:nvGrpSpPr>
        <p:cNvPr id="1" name=""/>
        <p:cNvGrpSpPr/>
        <p:nvPr/>
      </p:nvGrpSpPr>
      <p:grpSpPr>
        <a:xfrm>
          <a:off x="0" y="0"/>
          <a:ext cx="0" cy="0"/>
          <a:chOff x="0" y="0"/>
          <a:chExt cx="0" cy="0"/>
        </a:xfrm>
      </p:grpSpPr>
      <p:sp>
        <p:nvSpPr>
          <p:cNvPr id="101" name="Shape 0"/>
          <p:cNvSpPr/>
          <p:nvPr/>
        </p:nvSpPr>
        <p:spPr>
          <a:xfrm>
            <a:off x="-1" y="0"/>
            <a:ext cx="12191697" cy="384048"/>
          </a:xfrm>
          <a:prstGeom prst="rect">
            <a:avLst/>
          </a:prstGeom>
          <a:solidFill>
            <a:srgbClr val="2C6EAF"/>
          </a:solidFill>
          <a:ln w="12700">
            <a:solidFill>
              <a:srgbClr val="2C6EAF"/>
            </a:solidFill>
          </a:ln>
        </p:spPr>
        <p:txBody>
          <a:bodyPr lIns="45719" rIns="45719"/>
          <a:lstStyle/>
          <a:p>
            <a:pPr/>
          </a:p>
        </p:txBody>
      </p:sp>
      <p:sp>
        <p:nvSpPr>
          <p:cNvPr id="102" name="Text 1"/>
          <p:cNvSpPr txBox="1"/>
          <p:nvPr/>
        </p:nvSpPr>
        <p:spPr>
          <a:xfrm>
            <a:off x="411480" y="-19558"/>
            <a:ext cx="8961120" cy="36830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b="1" sz="2400">
                <a:solidFill>
                  <a:srgbClr val="FFFFFF"/>
                </a:solidFill>
                <a:latin typeface="Aptos Display"/>
                <a:ea typeface="Aptos Display"/>
                <a:cs typeface="Aptos Display"/>
                <a:sym typeface="Aptos Display"/>
              </a:defRPr>
            </a:lvl1pPr>
          </a:lstStyle>
          <a:p>
            <a:pPr/>
            <a:r>
              <a:t>Mean Absolute Error: a metric students can interpret</a:t>
            </a:r>
          </a:p>
        </p:txBody>
      </p:sp>
      <p:sp>
        <p:nvSpPr>
          <p:cNvPr id="103" name="Text 2"/>
          <p:cNvSpPr txBox="1"/>
          <p:nvPr/>
        </p:nvSpPr>
        <p:spPr>
          <a:xfrm>
            <a:off x="9966959" y="82041"/>
            <a:ext cx="1737361" cy="16510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lgn="r">
              <a:defRPr sz="1100">
                <a:solidFill>
                  <a:srgbClr val="F8FAFC"/>
                </a:solidFill>
              </a:defRPr>
            </a:lvl1pPr>
          </a:lstStyle>
          <a:p>
            <a:pPr/>
            <a:r>
              <a:t>Model Evaluation</a:t>
            </a:r>
          </a:p>
        </p:txBody>
      </p:sp>
      <p:sp>
        <p:nvSpPr>
          <p:cNvPr id="104" name="Shape 3"/>
          <p:cNvSpPr/>
          <p:nvPr/>
        </p:nvSpPr>
        <p:spPr>
          <a:xfrm>
            <a:off x="685800" y="914400"/>
            <a:ext cx="4023360" cy="5394960"/>
          </a:xfrm>
          <a:prstGeom prst="roundRect">
            <a:avLst>
              <a:gd name="adj" fmla="val 2727"/>
            </a:avLst>
          </a:prstGeom>
          <a:solidFill>
            <a:srgbClr val="FFFFFF"/>
          </a:solidFill>
          <a:ln w="12700">
            <a:solidFill>
              <a:srgbClr val="D7DEE7"/>
            </a:solidFill>
          </a:ln>
          <a:effectLst>
            <a:outerShdw sx="100000" sy="100000" kx="0" ky="0" algn="b" rotWithShape="0" blurRad="25400" dist="12700" dir="2700000">
              <a:srgbClr val="000000">
                <a:alpha val="10000"/>
              </a:srgbClr>
            </a:outerShdw>
          </a:effectLst>
        </p:spPr>
        <p:txBody>
          <a:bodyPr lIns="45719" rIns="45719"/>
          <a:lstStyle/>
          <a:p>
            <a:pPr/>
          </a:p>
        </p:txBody>
      </p:sp>
      <p:sp>
        <p:nvSpPr>
          <p:cNvPr id="105" name="Text 4"/>
          <p:cNvSpPr txBox="1"/>
          <p:nvPr/>
        </p:nvSpPr>
        <p:spPr>
          <a:xfrm>
            <a:off x="960119" y="957580"/>
            <a:ext cx="3291842" cy="73660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b="1" sz="2400">
                <a:solidFill>
                  <a:srgbClr val="1E293B"/>
                </a:solidFill>
              </a:defRPr>
            </a:lvl1pPr>
          </a:lstStyle>
          <a:p>
            <a:pPr/>
            <a:r>
              <a:t>Mean Absolute Error (MAE)</a:t>
            </a:r>
          </a:p>
        </p:txBody>
      </p:sp>
      <p:sp>
        <p:nvSpPr>
          <p:cNvPr id="106" name="Text 5"/>
          <p:cNvSpPr txBox="1"/>
          <p:nvPr/>
        </p:nvSpPr>
        <p:spPr>
          <a:xfrm>
            <a:off x="1051560" y="1965960"/>
            <a:ext cx="3063240" cy="384049"/>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normAutofit fontScale="100000" lnSpcReduction="0"/>
          </a:bodyPr>
          <a:lstStyle>
            <a:lvl1pPr algn="ctr" defTabSz="512063">
              <a:defRPr b="1" sz="1344">
                <a:solidFill>
                  <a:srgbClr val="2C6EAF"/>
                </a:solidFill>
              </a:defRPr>
            </a:lvl1pPr>
          </a:lstStyle>
          <a:p>
            <a:pPr/>
            <a:r>
              <a:t>MAE = average of |actual − predicted|</a:t>
            </a:r>
          </a:p>
        </p:txBody>
      </p:sp>
      <p:sp>
        <p:nvSpPr>
          <p:cNvPr id="107" name="Text 6"/>
          <p:cNvSpPr txBox="1"/>
          <p:nvPr/>
        </p:nvSpPr>
        <p:spPr>
          <a:xfrm>
            <a:off x="1097280" y="2926079"/>
            <a:ext cx="3200401" cy="640081"/>
          </a:xfrm>
          <a:prstGeom prst="rect">
            <a:avLst/>
          </a:prstGeom>
          <a:ln w="12700">
            <a:miter lim="400000"/>
          </a:ln>
          <a:extLst>
            <a:ext uri="{C572A759-6A51-4108-AA02-DFA0A04FC94B}">
              <ma14:wrappingTextBoxFlag xmlns:ma14="http://schemas.microsoft.com/office/mac/drawingml/2011/main" val="1"/>
            </a:ext>
          </a:extLst>
        </p:spPr>
        <p:txBody>
          <a:bodyPr lIns="507" tIns="507" rIns="507" bIns="507">
            <a:normAutofit fontScale="100000" lnSpcReduction="0"/>
          </a:bodyPr>
          <a:lstStyle>
            <a:lvl1pPr defTabSz="768095">
              <a:lnSpc>
                <a:spcPct val="110000"/>
              </a:lnSpc>
              <a:defRPr b="1" sz="1679">
                <a:solidFill>
                  <a:srgbClr val="2C6EAF"/>
                </a:solidFill>
              </a:defRPr>
            </a:lvl1pPr>
          </a:lstStyle>
          <a:p>
            <a:pPr/>
            <a:r>
              <a:t>Interpretation: on average, how far off are our predictions?</a:t>
            </a:r>
          </a:p>
        </p:txBody>
      </p:sp>
      <p:sp>
        <p:nvSpPr>
          <p:cNvPr id="108" name="Shape 7"/>
          <p:cNvSpPr/>
          <p:nvPr/>
        </p:nvSpPr>
        <p:spPr>
          <a:xfrm>
            <a:off x="855226" y="3754223"/>
            <a:ext cx="3647972" cy="2573120"/>
          </a:xfrm>
          <a:prstGeom prst="roundRect">
            <a:avLst>
              <a:gd name="adj" fmla="val 4537"/>
            </a:avLst>
          </a:prstGeom>
          <a:solidFill>
            <a:srgbClr val="EAF3FB"/>
          </a:solidFill>
          <a:ln w="12700">
            <a:solidFill>
              <a:srgbClr val="2C6EAF"/>
            </a:solidFill>
          </a:ln>
          <a:effectLst>
            <a:outerShdw sx="100000" sy="100000" kx="0" ky="0" algn="b" rotWithShape="0" blurRad="25400" dist="12700" dir="2700000">
              <a:srgbClr val="000000">
                <a:alpha val="10000"/>
              </a:srgbClr>
            </a:outerShdw>
          </a:effectLst>
          <a:extLst>
            <a:ext uri="{C572A759-6A51-4108-AA02-DFA0A04FC94B}">
              <ma14:wrappingTextBoxFlag xmlns:ma14="http://schemas.microsoft.com/office/mac/drawingml/2011/main" val="1"/>
            </a:ext>
          </a:extLst>
        </p:spPr>
        <p:txBody>
          <a:bodyPr lIns="45719" rIns="45719"/>
          <a:lstStyle>
            <a:lvl1pPr defTabSz="457200">
              <a:defRPr sz="1600">
                <a:solidFill>
                  <a:srgbClr val="05192D"/>
                </a:solidFill>
                <a:latin typeface="Times Roman"/>
                <a:ea typeface="Times Roman"/>
                <a:cs typeface="Times Roman"/>
                <a:sym typeface="Times Roman"/>
              </a:defRPr>
            </a:lvl1pPr>
          </a:lstStyle>
          <a:p>
            <a:pPr/>
            <a:r>
              <a:t>When you need a clear way to measure how accurate your predictions are, mean absolute error is a good place to start. It tells you, on average, how far off your model’s predictions are from the actual values without worrying about whether these predictions were too high or too low.</a:t>
            </a:r>
          </a:p>
        </p:txBody>
      </p:sp>
      <p:sp>
        <p:nvSpPr>
          <p:cNvPr id="109" name="Text 9"/>
          <p:cNvSpPr txBox="1"/>
          <p:nvPr/>
        </p:nvSpPr>
        <p:spPr>
          <a:xfrm>
            <a:off x="5074920" y="1051560"/>
            <a:ext cx="6080761" cy="1783079"/>
          </a:xfrm>
          <a:prstGeom prst="rect">
            <a:avLst/>
          </a:prstGeom>
          <a:ln w="12700">
            <a:miter lim="400000"/>
          </a:ln>
          <a:extLst>
            <a:ext uri="{C572A759-6A51-4108-AA02-DFA0A04FC94B}">
              <ma14:wrappingTextBoxFlag xmlns:ma14="http://schemas.microsoft.com/office/mac/drawingml/2011/main" val="1"/>
            </a:ext>
          </a:extLst>
        </p:spPr>
        <p:txBody>
          <a:bodyPr lIns="507" tIns="507" rIns="507" bIns="507">
            <a:normAutofit fontScale="100000" lnSpcReduction="0"/>
          </a:bodyPr>
          <a:lstStyle>
            <a:lvl1pPr>
              <a:lnSpc>
                <a:spcPct val="110000"/>
              </a:lnSpc>
              <a:defRPr sz="2000">
                <a:solidFill>
                  <a:srgbClr val="1E293B"/>
                </a:solidFill>
              </a:defRPr>
            </a:lvl1pPr>
          </a:lstStyle>
          <a:p>
            <a:pPr/>
            <a:r>
              <a:t>For regression problems like predicting house price or fruit weight, accuracy is not the right idea. We need a metric that measures distance between the real value and the prediction. MAE takes the absolute error for each example and then averages those errors.</a:t>
            </a:r>
          </a:p>
        </p:txBody>
      </p:sp>
      <p:sp>
        <p:nvSpPr>
          <p:cNvPr id="110" name="Text 10"/>
          <p:cNvSpPr txBox="1"/>
          <p:nvPr/>
        </p:nvSpPr>
        <p:spPr>
          <a:xfrm>
            <a:off x="5074920" y="3063239"/>
            <a:ext cx="6080761" cy="1234442"/>
          </a:xfrm>
          <a:prstGeom prst="rect">
            <a:avLst/>
          </a:prstGeom>
          <a:ln w="12700">
            <a:miter lim="400000"/>
          </a:ln>
          <a:extLst>
            <a:ext uri="{C572A759-6A51-4108-AA02-DFA0A04FC94B}">
              <ma14:wrappingTextBoxFlag xmlns:ma14="http://schemas.microsoft.com/office/mac/drawingml/2011/main" val="1"/>
            </a:ext>
          </a:extLst>
        </p:spPr>
        <p:txBody>
          <a:bodyPr lIns="507" tIns="507" rIns="507" bIns="507">
            <a:normAutofit fontScale="100000" lnSpcReduction="0"/>
          </a:bodyPr>
          <a:lstStyle/>
          <a:p>
            <a:pPr defTabSz="859536">
              <a:lnSpc>
                <a:spcPct val="110000"/>
              </a:lnSpc>
              <a:defRPr sz="1879">
                <a:solidFill>
                  <a:srgbClr val="1E293B"/>
                </a:solidFill>
              </a:defRPr>
            </a:pPr>
            <a:r>
              <a:rPr b="1"/>
              <a:t>The word absolute matters.</a:t>
            </a:r>
            <a:r>
              <a:t> If one prediction is 10 grams too high and another is 10 grams too low, those should not cancel each other out. Both are mistakes, so MAE counts them both.</a:t>
            </a:r>
          </a:p>
        </p:txBody>
      </p:sp>
      <p:sp>
        <p:nvSpPr>
          <p:cNvPr id="111" name="Shape 11"/>
          <p:cNvSpPr/>
          <p:nvPr/>
        </p:nvSpPr>
        <p:spPr>
          <a:xfrm>
            <a:off x="5074920" y="4709159"/>
            <a:ext cx="5669280" cy="1005841"/>
          </a:xfrm>
          <a:prstGeom prst="roundRect">
            <a:avLst>
              <a:gd name="adj" fmla="val 10909"/>
            </a:avLst>
          </a:prstGeom>
          <a:solidFill>
            <a:srgbClr val="FFF6E5"/>
          </a:solidFill>
          <a:ln w="12700">
            <a:solidFill>
              <a:srgbClr val="D99B2B"/>
            </a:solidFill>
          </a:ln>
          <a:effectLst>
            <a:outerShdw sx="100000" sy="100000" kx="0" ky="0" algn="b" rotWithShape="0" blurRad="25400" dist="12700" dir="2700000">
              <a:srgbClr val="000000">
                <a:alpha val="10000"/>
              </a:srgbClr>
            </a:outerShdw>
          </a:effectLst>
        </p:spPr>
        <p:txBody>
          <a:bodyPr lIns="45719" rIns="45719"/>
          <a:lstStyle/>
          <a:p>
            <a:pPr/>
          </a:p>
        </p:txBody>
      </p:sp>
      <p:sp>
        <p:nvSpPr>
          <p:cNvPr id="112" name="Text 12"/>
          <p:cNvSpPr txBox="1"/>
          <p:nvPr/>
        </p:nvSpPr>
        <p:spPr>
          <a:xfrm>
            <a:off x="5349240" y="5001767"/>
            <a:ext cx="5212081" cy="256033"/>
          </a:xfrm>
          <a:prstGeom prst="rect">
            <a:avLst/>
          </a:prstGeom>
          <a:ln w="12700">
            <a:miter lim="400000"/>
          </a:ln>
          <a:extLst>
            <a:ext uri="{C572A759-6A51-4108-AA02-DFA0A04FC94B}">
              <ma14:wrappingTextBoxFlag xmlns:ma14="http://schemas.microsoft.com/office/mac/drawingml/2011/main" val="1"/>
            </a:ext>
          </a:extLst>
        </p:spPr>
        <p:txBody>
          <a:bodyPr lIns="507" tIns="507" rIns="507" bIns="507" anchor="ctr">
            <a:normAutofit fontScale="100000" lnSpcReduction="0"/>
          </a:bodyPr>
          <a:lstStyle>
            <a:lvl1pPr defTabSz="676655">
              <a:lnSpc>
                <a:spcPct val="110000"/>
              </a:lnSpc>
              <a:defRPr b="1" sz="1480">
                <a:solidFill>
                  <a:srgbClr val="D99B2B"/>
                </a:solidFill>
              </a:defRPr>
            </a:lvl1pPr>
          </a:lstStyle>
          <a:p>
            <a:pPr/>
            <a:r>
              <a:t>“Our model is off by about 12 grams per fruit on average.”</a:t>
            </a:r>
          </a:p>
        </p:txBody>
      </p:sp>
      <p:sp>
        <p:nvSpPr>
          <p:cNvPr id="113" name="Text 13"/>
          <p:cNvSpPr txBox="1"/>
          <p:nvPr/>
        </p:nvSpPr>
        <p:spPr>
          <a:xfrm>
            <a:off x="11475719" y="6489192"/>
            <a:ext cx="320041" cy="15240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lgn="r">
              <a:defRPr sz="1000">
                <a:solidFill>
                  <a:srgbClr val="64748B"/>
                </a:solidFill>
              </a:defRPr>
            </a:lvl1pPr>
          </a:lstStyle>
          <a:p>
            <a:pPr/>
            <a:r>
              <a:t>6</a:t>
            </a:r>
          </a:p>
        </p:txBody>
      </p:sp>
    </p:spTree>
  </p:cSld>
  <p:clrMapOvr>
    <a:masterClrMapping/>
  </p:clrMapOvr>
  <p:transition xmlns:p14="http://schemas.microsoft.com/office/powerpoint/2010/main" spd="med" advClick="1"/>
</p:sld>
</file>

<file path=ppt/slides/slide9.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bg>
      <p:bgPr>
        <a:solidFill>
          <a:srgbClr val="FCFCFD"/>
        </a:solidFill>
      </p:bgPr>
    </p:bg>
    <p:spTree>
      <p:nvGrpSpPr>
        <p:cNvPr id="1" name=""/>
        <p:cNvGrpSpPr/>
        <p:nvPr/>
      </p:nvGrpSpPr>
      <p:grpSpPr>
        <a:xfrm>
          <a:off x="0" y="0"/>
          <a:ext cx="0" cy="0"/>
          <a:chOff x="0" y="0"/>
          <a:chExt cx="0" cy="0"/>
        </a:xfrm>
      </p:grpSpPr>
      <p:sp>
        <p:nvSpPr>
          <p:cNvPr id="117" name="Shape 0"/>
          <p:cNvSpPr/>
          <p:nvPr/>
        </p:nvSpPr>
        <p:spPr>
          <a:xfrm>
            <a:off x="-1" y="0"/>
            <a:ext cx="12191697" cy="384048"/>
          </a:xfrm>
          <a:prstGeom prst="rect">
            <a:avLst/>
          </a:prstGeom>
          <a:solidFill>
            <a:srgbClr val="2C6EAF"/>
          </a:solidFill>
          <a:ln w="12700">
            <a:solidFill>
              <a:srgbClr val="2C6EAF"/>
            </a:solidFill>
          </a:ln>
        </p:spPr>
        <p:txBody>
          <a:bodyPr lIns="45719" rIns="45719"/>
          <a:lstStyle/>
          <a:p>
            <a:pPr/>
          </a:p>
        </p:txBody>
      </p:sp>
      <p:sp>
        <p:nvSpPr>
          <p:cNvPr id="118" name="Text 1"/>
          <p:cNvSpPr txBox="1"/>
          <p:nvPr/>
        </p:nvSpPr>
        <p:spPr>
          <a:xfrm>
            <a:off x="411480" y="-19558"/>
            <a:ext cx="8961120" cy="36830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b="1" sz="2400">
                <a:solidFill>
                  <a:srgbClr val="FFFFFF"/>
                </a:solidFill>
                <a:latin typeface="Aptos Display"/>
                <a:ea typeface="Aptos Display"/>
                <a:cs typeface="Aptos Display"/>
                <a:sym typeface="Aptos Display"/>
              </a:defRPr>
            </a:lvl1pPr>
          </a:lstStyle>
          <a:p>
            <a:pPr/>
            <a:r>
              <a:t>Worked fruit example: calculating MAE</a:t>
            </a:r>
          </a:p>
        </p:txBody>
      </p:sp>
      <p:sp>
        <p:nvSpPr>
          <p:cNvPr id="119" name="Text 2"/>
          <p:cNvSpPr txBox="1"/>
          <p:nvPr/>
        </p:nvSpPr>
        <p:spPr>
          <a:xfrm>
            <a:off x="9966959" y="82041"/>
            <a:ext cx="1737361" cy="16510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lgn="r">
              <a:defRPr sz="1100">
                <a:solidFill>
                  <a:srgbClr val="F8FAFC"/>
                </a:solidFill>
              </a:defRPr>
            </a:lvl1pPr>
          </a:lstStyle>
          <a:p>
            <a:pPr/>
            <a:r>
              <a:t>Model Evaluation</a:t>
            </a:r>
          </a:p>
        </p:txBody>
      </p:sp>
      <p:sp>
        <p:nvSpPr>
          <p:cNvPr id="120" name="Shape 3"/>
          <p:cNvSpPr/>
          <p:nvPr/>
        </p:nvSpPr>
        <p:spPr>
          <a:xfrm>
            <a:off x="731519" y="960119"/>
            <a:ext cx="5669281" cy="5349242"/>
          </a:xfrm>
          <a:prstGeom prst="roundRect">
            <a:avLst>
              <a:gd name="adj" fmla="val 2051"/>
            </a:avLst>
          </a:prstGeom>
          <a:solidFill>
            <a:srgbClr val="FFFFFF"/>
          </a:solidFill>
          <a:ln w="12700">
            <a:solidFill>
              <a:srgbClr val="D7DEE7"/>
            </a:solidFill>
          </a:ln>
          <a:effectLst>
            <a:outerShdw sx="100000" sy="100000" kx="0" ky="0" algn="b" rotWithShape="0" blurRad="25400" dist="12700" dir="2700000">
              <a:srgbClr val="000000">
                <a:alpha val="10000"/>
              </a:srgbClr>
            </a:outerShdw>
          </a:effectLst>
        </p:spPr>
        <p:txBody>
          <a:bodyPr lIns="45719" rIns="45719"/>
          <a:lstStyle/>
          <a:p>
            <a:pPr/>
          </a:p>
        </p:txBody>
      </p:sp>
      <p:graphicFrame>
        <p:nvGraphicFramePr>
          <p:cNvPr id="121" name="Table 0"/>
          <p:cNvGraphicFramePr/>
          <p:nvPr/>
        </p:nvGraphicFramePr>
        <p:xfrm>
          <a:off x="960119" y="1325880"/>
          <a:ext cx="5029201" cy="2267712"/>
        </p:xfrm>
        <a:graphic xmlns:a="http://schemas.openxmlformats.org/drawingml/2006/main">
          <a:graphicData uri="http://schemas.openxmlformats.org/drawingml/2006/table">
            <a:tbl>
              <a:tblPr firstCol="0" firstRow="0" lastCol="0" lastRow="0" bandCol="0" bandRow="0" rtl="0">
                <a:tableStyleId>{4C3C2611-4C71-4FC5-86AE-919BDF0F9419}</a:tableStyleId>
              </a:tblPr>
              <a:tblGrid>
                <a:gridCol w="914400"/>
                <a:gridCol w="1188720"/>
                <a:gridCol w="1371600"/>
                <a:gridCol w="1554480"/>
              </a:tblGrid>
              <a:tr h="566928">
                <a:tc>
                  <a:txBody>
                    <a:bodyPr/>
                    <a:lstStyle/>
                    <a:p>
                      <a:pPr algn="ctr">
                        <a:defRPr b="1" sz="2000">
                          <a:solidFill>
                            <a:srgbClr val="FFFFFF"/>
                          </a:solidFill>
                        </a:defRPr>
                      </a:pPr>
                      <a:r>
                        <a:rPr>
                          <a:solidFill>
                            <a:srgbClr val="000000"/>
                          </a:solidFill>
                        </a:rPr>
                        <a:t>Fruit</a:t>
                      </a:r>
                    </a:p>
                  </a:txBody>
                  <a:tcPr marL="36576" marR="36576" marT="36576" marB="36576" anchor="t" anchorCtr="0" horzOverflow="overflow">
                    <a:lnL w="12700">
                      <a:solidFill>
                        <a:srgbClr val="D7DEE7"/>
                      </a:solidFill>
                    </a:lnL>
                    <a:lnR w="12700">
                      <a:solidFill>
                        <a:srgbClr val="D7DEE7"/>
                      </a:solidFill>
                    </a:lnR>
                    <a:lnT w="12700">
                      <a:solidFill>
                        <a:srgbClr val="D7DEE7"/>
                      </a:solidFill>
                    </a:lnT>
                    <a:lnB w="12700">
                      <a:solidFill>
                        <a:srgbClr val="D7DEE7"/>
                      </a:solidFill>
                    </a:lnB>
                    <a:solidFill>
                      <a:srgbClr val="FFFFFF"/>
                    </a:solidFill>
                  </a:tcPr>
                </a:tc>
                <a:tc>
                  <a:txBody>
                    <a:bodyPr/>
                    <a:lstStyle/>
                    <a:p>
                      <a:pPr algn="ctr">
                        <a:defRPr sz="1800"/>
                      </a:pPr>
                      <a:r>
                        <a:rPr b="1" sz="2000"/>
                        <a:t>Actual</a:t>
                      </a:r>
                    </a:p>
                  </a:txBody>
                  <a:tcPr marL="36576" marR="36576" marT="36576" marB="36576" anchor="t" anchorCtr="0" horzOverflow="overflow">
                    <a:lnL w="12700">
                      <a:solidFill>
                        <a:srgbClr val="D7DEE7"/>
                      </a:solidFill>
                    </a:lnL>
                    <a:lnR w="12700">
                      <a:solidFill>
                        <a:srgbClr val="D7DEE7"/>
                      </a:solidFill>
                    </a:lnR>
                    <a:lnT w="12700">
                      <a:solidFill>
                        <a:srgbClr val="D7DEE7"/>
                      </a:solidFill>
                    </a:lnT>
                    <a:lnB w="12700">
                      <a:solidFill>
                        <a:srgbClr val="D7DEE7"/>
                      </a:solidFill>
                    </a:lnB>
                    <a:solidFill>
                      <a:srgbClr val="FFFFFF"/>
                    </a:solidFill>
                  </a:tcPr>
                </a:tc>
                <a:tc>
                  <a:txBody>
                    <a:bodyPr/>
                    <a:lstStyle/>
                    <a:p>
                      <a:pPr algn="ctr">
                        <a:defRPr sz="1800"/>
                      </a:pPr>
                      <a:r>
                        <a:rPr b="1" sz="2000"/>
                        <a:t>Predicted</a:t>
                      </a:r>
                    </a:p>
                  </a:txBody>
                  <a:tcPr marL="36576" marR="36576" marT="36576" marB="36576" anchor="t" anchorCtr="0" horzOverflow="overflow">
                    <a:lnL w="12700">
                      <a:solidFill>
                        <a:srgbClr val="D7DEE7"/>
                      </a:solidFill>
                    </a:lnL>
                    <a:lnR w="12700">
                      <a:solidFill>
                        <a:srgbClr val="D7DEE7"/>
                      </a:solidFill>
                    </a:lnR>
                    <a:lnT w="12700">
                      <a:solidFill>
                        <a:srgbClr val="D7DEE7"/>
                      </a:solidFill>
                    </a:lnT>
                    <a:lnB w="12700">
                      <a:solidFill>
                        <a:srgbClr val="D7DEE7"/>
                      </a:solidFill>
                    </a:lnB>
                    <a:solidFill>
                      <a:srgbClr val="FFFFFF"/>
                    </a:solidFill>
                  </a:tcPr>
                </a:tc>
                <a:tc>
                  <a:txBody>
                    <a:bodyPr/>
                    <a:lstStyle/>
                    <a:p>
                      <a:pPr algn="ctr">
                        <a:defRPr sz="1800"/>
                      </a:pPr>
                      <a:r>
                        <a:rPr b="1" sz="2000"/>
                        <a:t>Absolute error</a:t>
                      </a:r>
                    </a:p>
                  </a:txBody>
                  <a:tcPr marL="36576" marR="36576" marT="36576" marB="36576" anchor="t" anchorCtr="0" horzOverflow="overflow">
                    <a:lnL w="12700">
                      <a:solidFill>
                        <a:srgbClr val="D7DEE7"/>
                      </a:solidFill>
                    </a:lnL>
                    <a:lnR w="12700">
                      <a:solidFill>
                        <a:srgbClr val="D7DEE7"/>
                      </a:solidFill>
                    </a:lnR>
                    <a:lnT w="12700">
                      <a:solidFill>
                        <a:srgbClr val="D7DEE7"/>
                      </a:solidFill>
                    </a:lnT>
                    <a:lnB w="12700">
                      <a:solidFill>
                        <a:srgbClr val="D7DEE7"/>
                      </a:solidFill>
                    </a:lnB>
                    <a:solidFill>
                      <a:srgbClr val="FFFFFF"/>
                    </a:solidFill>
                  </a:tcPr>
                </a:tc>
              </a:tr>
              <a:tr h="566928">
                <a:tc>
                  <a:txBody>
                    <a:bodyPr/>
                    <a:lstStyle/>
                    <a:p>
                      <a:pPr algn="ctr">
                        <a:defRPr sz="1800"/>
                      </a:pPr>
                      <a:r>
                        <a:rPr sz="2000"/>
                        <a:t>🍎</a:t>
                      </a:r>
                    </a:p>
                  </a:txBody>
                  <a:tcPr marL="36576" marR="36576" marT="36576" marB="36576" anchor="t" anchorCtr="0" horzOverflow="overflow">
                    <a:lnL w="12700">
                      <a:solidFill>
                        <a:srgbClr val="D7DEE7"/>
                      </a:solidFill>
                    </a:lnL>
                    <a:lnR w="12700">
                      <a:solidFill>
                        <a:srgbClr val="D7DEE7"/>
                      </a:solidFill>
                    </a:lnR>
                    <a:lnT w="12700">
                      <a:solidFill>
                        <a:srgbClr val="D7DEE7"/>
                      </a:solidFill>
                    </a:lnT>
                    <a:lnB w="12700">
                      <a:solidFill>
                        <a:srgbClr val="D7DEE7"/>
                      </a:solidFill>
                    </a:lnB>
                    <a:solidFill>
                      <a:srgbClr val="FFFFFF"/>
                    </a:solidFill>
                  </a:tcPr>
                </a:tc>
                <a:tc>
                  <a:txBody>
                    <a:bodyPr/>
                    <a:lstStyle/>
                    <a:p>
                      <a:pPr algn="ctr">
                        <a:defRPr sz="1800"/>
                      </a:pPr>
                      <a:r>
                        <a:rPr sz="2000"/>
                        <a:t>150 g</a:t>
                      </a:r>
                    </a:p>
                  </a:txBody>
                  <a:tcPr marL="36576" marR="36576" marT="36576" marB="36576" anchor="t" anchorCtr="0" horzOverflow="overflow">
                    <a:lnL w="12700">
                      <a:solidFill>
                        <a:srgbClr val="D7DEE7"/>
                      </a:solidFill>
                    </a:lnL>
                    <a:lnR w="12700">
                      <a:solidFill>
                        <a:srgbClr val="D7DEE7"/>
                      </a:solidFill>
                    </a:lnR>
                    <a:lnT w="12700">
                      <a:solidFill>
                        <a:srgbClr val="D7DEE7"/>
                      </a:solidFill>
                    </a:lnT>
                    <a:lnB w="12700">
                      <a:solidFill>
                        <a:srgbClr val="D7DEE7"/>
                      </a:solidFill>
                    </a:lnB>
                    <a:solidFill>
                      <a:srgbClr val="FFFFFF"/>
                    </a:solidFill>
                  </a:tcPr>
                </a:tc>
                <a:tc>
                  <a:txBody>
                    <a:bodyPr/>
                    <a:lstStyle/>
                    <a:p>
                      <a:pPr algn="ctr">
                        <a:defRPr sz="1800"/>
                      </a:pPr>
                      <a:r>
                        <a:rPr sz="2000"/>
                        <a:t>140 g</a:t>
                      </a:r>
                    </a:p>
                  </a:txBody>
                  <a:tcPr marL="36576" marR="36576" marT="36576" marB="36576" anchor="t" anchorCtr="0" horzOverflow="overflow">
                    <a:lnL w="12700">
                      <a:solidFill>
                        <a:srgbClr val="D7DEE7"/>
                      </a:solidFill>
                    </a:lnL>
                    <a:lnR w="12700">
                      <a:solidFill>
                        <a:srgbClr val="D7DEE7"/>
                      </a:solidFill>
                    </a:lnR>
                    <a:lnT w="12700">
                      <a:solidFill>
                        <a:srgbClr val="D7DEE7"/>
                      </a:solidFill>
                    </a:lnT>
                    <a:lnB w="12700">
                      <a:solidFill>
                        <a:srgbClr val="D7DEE7"/>
                      </a:solidFill>
                    </a:lnB>
                    <a:solidFill>
                      <a:srgbClr val="FFFFFF"/>
                    </a:solidFill>
                  </a:tcPr>
                </a:tc>
                <a:tc>
                  <a:txBody>
                    <a:bodyPr/>
                    <a:lstStyle/>
                    <a:p>
                      <a:pPr algn="ctr">
                        <a:defRPr sz="1800"/>
                      </a:pPr>
                      <a:r>
                        <a:rPr sz="2000"/>
                        <a:t>10 g</a:t>
                      </a:r>
                    </a:p>
                  </a:txBody>
                  <a:tcPr marL="36576" marR="36576" marT="36576" marB="36576" anchor="t" anchorCtr="0" horzOverflow="overflow">
                    <a:lnL w="12700">
                      <a:solidFill>
                        <a:srgbClr val="D7DEE7"/>
                      </a:solidFill>
                    </a:lnL>
                    <a:lnR w="12700">
                      <a:solidFill>
                        <a:srgbClr val="D7DEE7"/>
                      </a:solidFill>
                    </a:lnR>
                    <a:lnT w="12700">
                      <a:solidFill>
                        <a:srgbClr val="D7DEE7"/>
                      </a:solidFill>
                    </a:lnT>
                    <a:lnB w="12700">
                      <a:solidFill>
                        <a:srgbClr val="D7DEE7"/>
                      </a:solidFill>
                    </a:lnB>
                    <a:solidFill>
                      <a:srgbClr val="FFFFFF"/>
                    </a:solidFill>
                  </a:tcPr>
                </a:tc>
              </a:tr>
              <a:tr h="566928">
                <a:tc>
                  <a:txBody>
                    <a:bodyPr/>
                    <a:lstStyle/>
                    <a:p>
                      <a:pPr algn="ctr">
                        <a:defRPr sz="1800"/>
                      </a:pPr>
                      <a:r>
                        <a:rPr sz="2000"/>
                        <a:t>🍊</a:t>
                      </a:r>
                    </a:p>
                  </a:txBody>
                  <a:tcPr marL="36576" marR="36576" marT="36576" marB="36576" anchor="t" anchorCtr="0" horzOverflow="overflow">
                    <a:lnL w="12700">
                      <a:solidFill>
                        <a:srgbClr val="D7DEE7"/>
                      </a:solidFill>
                    </a:lnL>
                    <a:lnR w="12700">
                      <a:solidFill>
                        <a:srgbClr val="D7DEE7"/>
                      </a:solidFill>
                    </a:lnR>
                    <a:lnT w="12700">
                      <a:solidFill>
                        <a:srgbClr val="D7DEE7"/>
                      </a:solidFill>
                    </a:lnT>
                    <a:lnB w="12700">
                      <a:solidFill>
                        <a:srgbClr val="D7DEE7"/>
                      </a:solidFill>
                    </a:lnB>
                    <a:solidFill>
                      <a:srgbClr val="FFFFFF"/>
                    </a:solidFill>
                  </a:tcPr>
                </a:tc>
                <a:tc>
                  <a:txBody>
                    <a:bodyPr/>
                    <a:lstStyle/>
                    <a:p>
                      <a:pPr algn="ctr">
                        <a:defRPr sz="1800"/>
                      </a:pPr>
                      <a:r>
                        <a:rPr sz="2000"/>
                        <a:t>130 g</a:t>
                      </a:r>
                    </a:p>
                  </a:txBody>
                  <a:tcPr marL="36576" marR="36576" marT="36576" marB="36576" anchor="t" anchorCtr="0" horzOverflow="overflow">
                    <a:lnL w="12700">
                      <a:solidFill>
                        <a:srgbClr val="D7DEE7"/>
                      </a:solidFill>
                    </a:lnL>
                    <a:lnR w="12700">
                      <a:solidFill>
                        <a:srgbClr val="D7DEE7"/>
                      </a:solidFill>
                    </a:lnR>
                    <a:lnT w="12700">
                      <a:solidFill>
                        <a:srgbClr val="D7DEE7"/>
                      </a:solidFill>
                    </a:lnT>
                    <a:lnB w="12700">
                      <a:solidFill>
                        <a:srgbClr val="D7DEE7"/>
                      </a:solidFill>
                    </a:lnB>
                    <a:solidFill>
                      <a:srgbClr val="FFFFFF"/>
                    </a:solidFill>
                  </a:tcPr>
                </a:tc>
                <a:tc>
                  <a:txBody>
                    <a:bodyPr/>
                    <a:lstStyle/>
                    <a:p>
                      <a:pPr algn="ctr">
                        <a:defRPr sz="1800"/>
                      </a:pPr>
                      <a:r>
                        <a:rPr sz="2000"/>
                        <a:t>150 g</a:t>
                      </a:r>
                    </a:p>
                  </a:txBody>
                  <a:tcPr marL="36576" marR="36576" marT="36576" marB="36576" anchor="t" anchorCtr="0" horzOverflow="overflow">
                    <a:lnL w="12700">
                      <a:solidFill>
                        <a:srgbClr val="D7DEE7"/>
                      </a:solidFill>
                    </a:lnL>
                    <a:lnR w="12700">
                      <a:solidFill>
                        <a:srgbClr val="D7DEE7"/>
                      </a:solidFill>
                    </a:lnR>
                    <a:lnT w="12700">
                      <a:solidFill>
                        <a:srgbClr val="D7DEE7"/>
                      </a:solidFill>
                    </a:lnT>
                    <a:lnB w="12700">
                      <a:solidFill>
                        <a:srgbClr val="D7DEE7"/>
                      </a:solidFill>
                    </a:lnB>
                    <a:solidFill>
                      <a:srgbClr val="FFFFFF"/>
                    </a:solidFill>
                  </a:tcPr>
                </a:tc>
                <a:tc>
                  <a:txBody>
                    <a:bodyPr/>
                    <a:lstStyle/>
                    <a:p>
                      <a:pPr algn="ctr">
                        <a:defRPr sz="1800"/>
                      </a:pPr>
                      <a:r>
                        <a:rPr sz="2000"/>
                        <a:t>20 g</a:t>
                      </a:r>
                    </a:p>
                  </a:txBody>
                  <a:tcPr marL="36576" marR="36576" marT="36576" marB="36576" anchor="t" anchorCtr="0" horzOverflow="overflow">
                    <a:lnL w="12700">
                      <a:solidFill>
                        <a:srgbClr val="D7DEE7"/>
                      </a:solidFill>
                    </a:lnL>
                    <a:lnR w="12700">
                      <a:solidFill>
                        <a:srgbClr val="D7DEE7"/>
                      </a:solidFill>
                    </a:lnR>
                    <a:lnT w="12700">
                      <a:solidFill>
                        <a:srgbClr val="D7DEE7"/>
                      </a:solidFill>
                    </a:lnT>
                    <a:lnB w="12700">
                      <a:solidFill>
                        <a:srgbClr val="D7DEE7"/>
                      </a:solidFill>
                    </a:lnB>
                    <a:solidFill>
                      <a:srgbClr val="FFFFFF"/>
                    </a:solidFill>
                  </a:tcPr>
                </a:tc>
              </a:tr>
              <a:tr h="566928">
                <a:tc>
                  <a:txBody>
                    <a:bodyPr/>
                    <a:lstStyle/>
                    <a:p>
                      <a:pPr algn="ctr">
                        <a:defRPr sz="1800"/>
                      </a:pPr>
                      <a:r>
                        <a:rPr sz="2000"/>
                        <a:t>🍎</a:t>
                      </a:r>
                    </a:p>
                  </a:txBody>
                  <a:tcPr marL="36576" marR="36576" marT="36576" marB="36576" anchor="t" anchorCtr="0" horzOverflow="overflow">
                    <a:lnL w="12700">
                      <a:solidFill>
                        <a:srgbClr val="D7DEE7"/>
                      </a:solidFill>
                    </a:lnL>
                    <a:lnR w="12700">
                      <a:solidFill>
                        <a:srgbClr val="D7DEE7"/>
                      </a:solidFill>
                    </a:lnR>
                    <a:lnT w="12700">
                      <a:solidFill>
                        <a:srgbClr val="D7DEE7"/>
                      </a:solidFill>
                    </a:lnT>
                    <a:lnB w="12700">
                      <a:solidFill>
                        <a:srgbClr val="D7DEE7"/>
                      </a:solidFill>
                    </a:lnB>
                    <a:solidFill>
                      <a:srgbClr val="FFFFFF"/>
                    </a:solidFill>
                  </a:tcPr>
                </a:tc>
                <a:tc>
                  <a:txBody>
                    <a:bodyPr/>
                    <a:lstStyle/>
                    <a:p>
                      <a:pPr algn="ctr">
                        <a:defRPr sz="1800"/>
                      </a:pPr>
                      <a:r>
                        <a:rPr sz="2000"/>
                        <a:t>160 g</a:t>
                      </a:r>
                    </a:p>
                  </a:txBody>
                  <a:tcPr marL="36576" marR="36576" marT="36576" marB="36576" anchor="t" anchorCtr="0" horzOverflow="overflow">
                    <a:lnL w="12700">
                      <a:solidFill>
                        <a:srgbClr val="D7DEE7"/>
                      </a:solidFill>
                    </a:lnL>
                    <a:lnR w="12700">
                      <a:solidFill>
                        <a:srgbClr val="D7DEE7"/>
                      </a:solidFill>
                    </a:lnR>
                    <a:lnT w="12700">
                      <a:solidFill>
                        <a:srgbClr val="D7DEE7"/>
                      </a:solidFill>
                    </a:lnT>
                    <a:lnB w="12700">
                      <a:solidFill>
                        <a:srgbClr val="D7DEE7"/>
                      </a:solidFill>
                    </a:lnB>
                    <a:solidFill>
                      <a:srgbClr val="FFFFFF"/>
                    </a:solidFill>
                  </a:tcPr>
                </a:tc>
                <a:tc>
                  <a:txBody>
                    <a:bodyPr/>
                    <a:lstStyle/>
                    <a:p>
                      <a:pPr algn="ctr">
                        <a:defRPr sz="1800"/>
                      </a:pPr>
                      <a:r>
                        <a:rPr sz="2000"/>
                        <a:t>155 g</a:t>
                      </a:r>
                    </a:p>
                  </a:txBody>
                  <a:tcPr marL="36576" marR="36576" marT="36576" marB="36576" anchor="t" anchorCtr="0" horzOverflow="overflow">
                    <a:lnL w="12700">
                      <a:solidFill>
                        <a:srgbClr val="D7DEE7"/>
                      </a:solidFill>
                    </a:lnL>
                    <a:lnR w="12700">
                      <a:solidFill>
                        <a:srgbClr val="D7DEE7"/>
                      </a:solidFill>
                    </a:lnR>
                    <a:lnT w="12700">
                      <a:solidFill>
                        <a:srgbClr val="D7DEE7"/>
                      </a:solidFill>
                    </a:lnT>
                    <a:lnB w="12700">
                      <a:solidFill>
                        <a:srgbClr val="D7DEE7"/>
                      </a:solidFill>
                    </a:lnB>
                    <a:solidFill>
                      <a:srgbClr val="FFFFFF"/>
                    </a:solidFill>
                  </a:tcPr>
                </a:tc>
                <a:tc>
                  <a:txBody>
                    <a:bodyPr/>
                    <a:lstStyle/>
                    <a:p>
                      <a:pPr algn="ctr">
                        <a:defRPr sz="1800"/>
                      </a:pPr>
                      <a:r>
                        <a:rPr sz="2000"/>
                        <a:t>5 g</a:t>
                      </a:r>
                    </a:p>
                  </a:txBody>
                  <a:tcPr marL="36576" marR="36576" marT="36576" marB="36576" anchor="t" anchorCtr="0" horzOverflow="overflow">
                    <a:lnL w="12700">
                      <a:solidFill>
                        <a:srgbClr val="D7DEE7"/>
                      </a:solidFill>
                    </a:lnL>
                    <a:lnR w="12700">
                      <a:solidFill>
                        <a:srgbClr val="D7DEE7"/>
                      </a:solidFill>
                    </a:lnR>
                    <a:lnT w="12700">
                      <a:solidFill>
                        <a:srgbClr val="D7DEE7"/>
                      </a:solidFill>
                    </a:lnT>
                    <a:lnB w="12700">
                      <a:solidFill>
                        <a:srgbClr val="D7DEE7"/>
                      </a:solidFill>
                    </a:lnB>
                    <a:solidFill>
                      <a:srgbClr val="FFFFFF"/>
                    </a:solidFill>
                  </a:tcPr>
                </a:tc>
              </a:tr>
            </a:tbl>
          </a:graphicData>
        </a:graphic>
      </p:graphicFrame>
      <p:sp>
        <p:nvSpPr>
          <p:cNvPr id="122" name="Shape 4"/>
          <p:cNvSpPr/>
          <p:nvPr/>
        </p:nvSpPr>
        <p:spPr>
          <a:xfrm>
            <a:off x="1051560" y="4069079"/>
            <a:ext cx="4983480" cy="1417321"/>
          </a:xfrm>
          <a:prstGeom prst="roundRect">
            <a:avLst>
              <a:gd name="adj" fmla="val 7742"/>
            </a:avLst>
          </a:prstGeom>
          <a:solidFill>
            <a:srgbClr val="EAF3FB"/>
          </a:solidFill>
          <a:ln w="12700">
            <a:solidFill>
              <a:srgbClr val="2C6EAF"/>
            </a:solidFill>
          </a:ln>
          <a:effectLst>
            <a:outerShdw sx="100000" sy="100000" kx="0" ky="0" algn="b" rotWithShape="0" blurRad="25400" dist="12700" dir="2700000">
              <a:srgbClr val="000000">
                <a:alpha val="10000"/>
              </a:srgbClr>
            </a:outerShdw>
          </a:effectLst>
        </p:spPr>
        <p:txBody>
          <a:bodyPr lIns="45719" rIns="45719"/>
          <a:lstStyle/>
          <a:p>
            <a:pPr/>
          </a:p>
        </p:txBody>
      </p:sp>
      <p:sp>
        <p:nvSpPr>
          <p:cNvPr id="123" name="Text 5"/>
          <p:cNvSpPr txBox="1"/>
          <p:nvPr/>
        </p:nvSpPr>
        <p:spPr>
          <a:xfrm>
            <a:off x="1280160" y="4590288"/>
            <a:ext cx="4480560" cy="292609"/>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normAutofit fontScale="100000" lnSpcReduction="0"/>
          </a:bodyPr>
          <a:lstStyle>
            <a:lvl1pPr algn="ctr" defTabSz="740663">
              <a:defRPr b="1" sz="1944">
                <a:solidFill>
                  <a:srgbClr val="2C6EAF"/>
                </a:solidFill>
              </a:defRPr>
            </a:lvl1pPr>
          </a:lstStyle>
          <a:p>
            <a:pPr/>
            <a:r>
              <a:t>MAE = (10 + 20 + 5) / 3 = 11.67 g</a:t>
            </a:r>
          </a:p>
        </p:txBody>
      </p:sp>
      <p:sp>
        <p:nvSpPr>
          <p:cNvPr id="124" name="Text 7"/>
          <p:cNvSpPr txBox="1"/>
          <p:nvPr/>
        </p:nvSpPr>
        <p:spPr>
          <a:xfrm>
            <a:off x="6675119" y="1624263"/>
            <a:ext cx="4983481" cy="1417321"/>
          </a:xfrm>
          <a:prstGeom prst="rect">
            <a:avLst/>
          </a:prstGeom>
          <a:ln w="12700">
            <a:miter lim="400000"/>
          </a:ln>
          <a:extLst>
            <a:ext uri="{C572A759-6A51-4108-AA02-DFA0A04FC94B}">
              <ma14:wrappingTextBoxFlag xmlns:ma14="http://schemas.microsoft.com/office/mac/drawingml/2011/main" val="1"/>
            </a:ext>
          </a:extLst>
        </p:spPr>
        <p:txBody>
          <a:bodyPr lIns="507" tIns="507" rIns="507" bIns="507">
            <a:normAutofit fontScale="100000" lnSpcReduction="0"/>
          </a:bodyPr>
          <a:lstStyle>
            <a:lvl1pPr>
              <a:lnSpc>
                <a:spcPct val="110000"/>
              </a:lnSpc>
              <a:defRPr sz="2000">
                <a:solidFill>
                  <a:srgbClr val="1E293B"/>
                </a:solidFill>
              </a:defRPr>
            </a:lvl1pPr>
          </a:lstStyle>
          <a:p>
            <a:pPr/>
            <a:r>
              <a:t>The interpretive punchline is the most important part: this model misses by about 11.7 grams per fruit.</a:t>
            </a:r>
          </a:p>
        </p:txBody>
      </p:sp>
      <p:sp>
        <p:nvSpPr>
          <p:cNvPr id="125" name="Shape 8"/>
          <p:cNvSpPr/>
          <p:nvPr/>
        </p:nvSpPr>
        <p:spPr>
          <a:xfrm>
            <a:off x="6720840" y="4983479"/>
            <a:ext cx="4846321" cy="868681"/>
          </a:xfrm>
          <a:prstGeom prst="roundRect">
            <a:avLst>
              <a:gd name="adj" fmla="val 12632"/>
            </a:avLst>
          </a:prstGeom>
          <a:solidFill>
            <a:srgbClr val="EAF6F1"/>
          </a:solidFill>
          <a:ln w="12700">
            <a:solidFill>
              <a:srgbClr val="2F8F69"/>
            </a:solidFill>
          </a:ln>
          <a:effectLst>
            <a:outerShdw sx="100000" sy="100000" kx="0" ky="0" algn="b" rotWithShape="0" blurRad="25400" dist="12700" dir="2700000">
              <a:srgbClr val="000000">
                <a:alpha val="10000"/>
              </a:srgbClr>
            </a:outerShdw>
          </a:effectLst>
        </p:spPr>
        <p:txBody>
          <a:bodyPr lIns="45719" rIns="45719"/>
          <a:lstStyle/>
          <a:p>
            <a:pPr/>
          </a:p>
        </p:txBody>
      </p:sp>
      <p:sp>
        <p:nvSpPr>
          <p:cNvPr id="126" name="Text 9"/>
          <p:cNvSpPr txBox="1"/>
          <p:nvPr/>
        </p:nvSpPr>
        <p:spPr>
          <a:xfrm>
            <a:off x="6995159" y="5063275"/>
            <a:ext cx="4343401" cy="709090"/>
          </a:xfrm>
          <a:prstGeom prst="rect">
            <a:avLst/>
          </a:prstGeom>
          <a:ln w="12700">
            <a:miter lim="400000"/>
          </a:ln>
          <a:extLst>
            <a:ext uri="{C572A759-6A51-4108-AA02-DFA0A04FC94B}">
              <ma14:wrappingTextBoxFlag xmlns:ma14="http://schemas.microsoft.com/office/mac/drawingml/2011/main" val="1"/>
            </a:ext>
          </a:extLst>
        </p:spPr>
        <p:txBody>
          <a:bodyPr lIns="507" tIns="507" rIns="507" bIns="507" anchor="ctr">
            <a:normAutofit fontScale="100000" lnSpcReduction="0"/>
          </a:bodyPr>
          <a:lstStyle>
            <a:lvl1pPr defTabSz="512063">
              <a:lnSpc>
                <a:spcPct val="110000"/>
              </a:lnSpc>
              <a:defRPr b="1" sz="1568">
                <a:solidFill>
                  <a:srgbClr val="2F8F69"/>
                </a:solidFill>
              </a:defRPr>
            </a:lvl1pPr>
          </a:lstStyle>
          <a:p>
            <a:pPr/>
            <a:r>
              <a:t>Student check: lower MAE means predictions are, on average, closer to the truth.</a:t>
            </a:r>
          </a:p>
        </p:txBody>
      </p:sp>
      <p:sp>
        <p:nvSpPr>
          <p:cNvPr id="127" name="Text 10"/>
          <p:cNvSpPr txBox="1"/>
          <p:nvPr/>
        </p:nvSpPr>
        <p:spPr>
          <a:xfrm>
            <a:off x="11475719" y="6489192"/>
            <a:ext cx="320041" cy="15240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lgn="r">
              <a:defRPr sz="1000">
                <a:solidFill>
                  <a:srgbClr val="64748B"/>
                </a:solidFill>
              </a:defRPr>
            </a:lvl1pPr>
          </a:lstStyle>
          <a:p>
            <a:pPr/>
            <a:r>
              <a:t>7</a:t>
            </a:r>
          </a:p>
        </p:txBody>
      </p:sp>
    </p:spTree>
  </p:cSld>
  <p:clrMapOvr>
    <a:masterClrMapping/>
  </p:clrMapOvr>
  <p:transition xmlns:p14="http://schemas.microsoft.com/office/powerpoint/2010/main" spd="med" advClick="1"/>
</p:sld>
</file>

<file path=ppt/slides/slide10.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bg>
      <p:bgPr>
        <a:solidFill>
          <a:srgbClr val="FCFCFD"/>
        </a:solidFill>
      </p:bgPr>
    </p:bg>
    <p:spTree>
      <p:nvGrpSpPr>
        <p:cNvPr id="1" name=""/>
        <p:cNvGrpSpPr/>
        <p:nvPr/>
      </p:nvGrpSpPr>
      <p:grpSpPr>
        <a:xfrm>
          <a:off x="0" y="0"/>
          <a:ext cx="0" cy="0"/>
          <a:chOff x="0" y="0"/>
          <a:chExt cx="0" cy="0"/>
        </a:xfrm>
      </p:grpSpPr>
      <p:sp>
        <p:nvSpPr>
          <p:cNvPr id="131" name="Shape 0"/>
          <p:cNvSpPr/>
          <p:nvPr/>
        </p:nvSpPr>
        <p:spPr>
          <a:xfrm>
            <a:off x="-1" y="0"/>
            <a:ext cx="12191697" cy="384048"/>
          </a:xfrm>
          <a:prstGeom prst="rect">
            <a:avLst/>
          </a:prstGeom>
          <a:solidFill>
            <a:srgbClr val="2E8B9E"/>
          </a:solidFill>
          <a:ln w="12700">
            <a:solidFill>
              <a:srgbClr val="2E8B9E"/>
            </a:solidFill>
          </a:ln>
        </p:spPr>
        <p:txBody>
          <a:bodyPr lIns="45719" rIns="45719"/>
          <a:lstStyle/>
          <a:p>
            <a:pPr/>
          </a:p>
        </p:txBody>
      </p:sp>
      <p:sp>
        <p:nvSpPr>
          <p:cNvPr id="132" name="Text 1"/>
          <p:cNvSpPr txBox="1"/>
          <p:nvPr/>
        </p:nvSpPr>
        <p:spPr>
          <a:xfrm>
            <a:off x="411480" y="-19558"/>
            <a:ext cx="8961120" cy="36830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b="1" sz="2400">
                <a:solidFill>
                  <a:srgbClr val="FFFFFF"/>
                </a:solidFill>
                <a:latin typeface="Aptos Display"/>
                <a:ea typeface="Aptos Display"/>
                <a:cs typeface="Aptos Display"/>
                <a:sym typeface="Aptos Display"/>
              </a:defRPr>
            </a:lvl1pPr>
          </a:lstStyle>
          <a:p>
            <a:pPr/>
            <a:r>
              <a:t>From concept to code: the honest evaluation loop</a:t>
            </a:r>
          </a:p>
        </p:txBody>
      </p:sp>
      <p:sp>
        <p:nvSpPr>
          <p:cNvPr id="133" name="Text 2"/>
          <p:cNvSpPr txBox="1"/>
          <p:nvPr/>
        </p:nvSpPr>
        <p:spPr>
          <a:xfrm>
            <a:off x="9966959" y="82041"/>
            <a:ext cx="1737361" cy="16510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lgn="r">
              <a:defRPr sz="1100">
                <a:solidFill>
                  <a:srgbClr val="F8FAFC"/>
                </a:solidFill>
              </a:defRPr>
            </a:lvl1pPr>
          </a:lstStyle>
          <a:p>
            <a:pPr/>
            <a:r>
              <a:t>Model Evaluation</a:t>
            </a:r>
          </a:p>
        </p:txBody>
      </p:sp>
      <p:sp>
        <p:nvSpPr>
          <p:cNvPr id="134" name="Shape 3"/>
          <p:cNvSpPr/>
          <p:nvPr/>
        </p:nvSpPr>
        <p:spPr>
          <a:xfrm>
            <a:off x="731519" y="914400"/>
            <a:ext cx="4754881" cy="5440680"/>
          </a:xfrm>
          <a:prstGeom prst="roundRect">
            <a:avLst>
              <a:gd name="adj" fmla="val 2308"/>
            </a:avLst>
          </a:prstGeom>
          <a:solidFill>
            <a:srgbClr val="F3F4F6"/>
          </a:solidFill>
          <a:ln w="12700">
            <a:solidFill>
              <a:srgbClr val="D7DEE7"/>
            </a:solidFill>
          </a:ln>
          <a:effectLst>
            <a:outerShdw sx="100000" sy="100000" kx="0" ky="0" algn="b" rotWithShape="0" blurRad="25400" dist="12700" dir="2700000">
              <a:srgbClr val="000000">
                <a:alpha val="10000"/>
              </a:srgbClr>
            </a:outerShdw>
          </a:effectLst>
        </p:spPr>
        <p:txBody>
          <a:bodyPr lIns="45719" rIns="45719"/>
          <a:lstStyle/>
          <a:p>
            <a:pPr/>
          </a:p>
        </p:txBody>
      </p:sp>
      <p:sp>
        <p:nvSpPr>
          <p:cNvPr id="135" name="Text 4"/>
          <p:cNvSpPr txBox="1"/>
          <p:nvPr/>
        </p:nvSpPr>
        <p:spPr>
          <a:xfrm>
            <a:off x="937259" y="1120139"/>
            <a:ext cx="4343401" cy="4617722"/>
          </a:xfrm>
          <a:prstGeom prst="rect">
            <a:avLst/>
          </a:prstGeom>
          <a:ln w="12700">
            <a:miter lim="400000"/>
          </a:ln>
          <a:extLst>
            <a:ext uri="{C572A759-6A51-4108-AA02-DFA0A04FC94B}">
              <ma14:wrappingTextBoxFlag xmlns:ma14="http://schemas.microsoft.com/office/mac/drawingml/2011/main" val="1"/>
            </a:ext>
          </a:extLst>
        </p:spPr>
        <p:txBody>
          <a:bodyPr lIns="507" tIns="507" rIns="507" bIns="507" anchor="ctr">
            <a:normAutofit fontScale="100000" lnSpcReduction="0"/>
          </a:bodyPr>
          <a:lstStyle/>
          <a:p>
            <a:pPr>
              <a:defRPr sz="1400">
                <a:solidFill>
                  <a:srgbClr val="8292A2"/>
                </a:solidFill>
                <a:latin typeface="Consolas"/>
                <a:ea typeface="Consolas"/>
                <a:cs typeface="Consolas"/>
                <a:sym typeface="Consolas"/>
              </a:defRPr>
            </a:pPr>
            <a:r>
              <a:t>1 </a:t>
            </a:r>
            <a:r>
              <a:rPr>
                <a:solidFill>
                  <a:srgbClr val="66D9EF"/>
                </a:solidFill>
              </a:rPr>
              <a:t>from</a:t>
            </a:r>
            <a:r>
              <a:rPr>
                <a:solidFill>
                  <a:srgbClr val="FFFFFF"/>
                </a:solidFill>
              </a:rPr>
              <a:t> sklearn</a:t>
            </a:r>
            <a:r>
              <a:rPr>
                <a:solidFill>
                  <a:srgbClr val="F8F8F2"/>
                </a:solidFill>
              </a:rPr>
              <a:t>.</a:t>
            </a:r>
            <a:r>
              <a:rPr>
                <a:solidFill>
                  <a:srgbClr val="FFFFFF"/>
                </a:solidFill>
              </a:rPr>
              <a:t>model_selection </a:t>
            </a:r>
            <a:r>
              <a:rPr>
                <a:solidFill>
                  <a:srgbClr val="66D9EF"/>
                </a:solidFill>
              </a:rPr>
              <a:t>import</a:t>
            </a:r>
            <a:r>
              <a:rPr>
                <a:solidFill>
                  <a:srgbClr val="FFFFFF"/>
                </a:solidFill>
              </a:rPr>
              <a:t> train_test_split</a:t>
            </a:r>
            <a:endParaRPr>
              <a:solidFill>
                <a:srgbClr val="FFFFFF"/>
              </a:solidFill>
            </a:endParaRPr>
          </a:p>
          <a:p>
            <a:pPr>
              <a:defRPr sz="1400">
                <a:solidFill>
                  <a:srgbClr val="8292A2"/>
                </a:solidFill>
                <a:latin typeface="Consolas"/>
                <a:ea typeface="Consolas"/>
                <a:cs typeface="Consolas"/>
                <a:sym typeface="Consolas"/>
              </a:defRPr>
            </a:pPr>
            <a:r>
              <a:t>2 </a:t>
            </a:r>
            <a:r>
              <a:rPr>
                <a:solidFill>
                  <a:srgbClr val="66D9EF"/>
                </a:solidFill>
              </a:rPr>
              <a:t>from</a:t>
            </a:r>
            <a:r>
              <a:rPr>
                <a:solidFill>
                  <a:srgbClr val="FFFFFF"/>
                </a:solidFill>
              </a:rPr>
              <a:t> sklearn</a:t>
            </a:r>
            <a:r>
              <a:rPr>
                <a:solidFill>
                  <a:srgbClr val="F8F8F2"/>
                </a:solidFill>
              </a:rPr>
              <a:t>.</a:t>
            </a:r>
            <a:r>
              <a:rPr>
                <a:solidFill>
                  <a:srgbClr val="FFFFFF"/>
                </a:solidFill>
              </a:rPr>
              <a:t>metrics </a:t>
            </a:r>
            <a:r>
              <a:rPr>
                <a:solidFill>
                  <a:srgbClr val="66D9EF"/>
                </a:solidFill>
              </a:rPr>
              <a:t>import</a:t>
            </a:r>
            <a:r>
              <a:rPr>
                <a:solidFill>
                  <a:srgbClr val="FFFFFF"/>
                </a:solidFill>
              </a:rPr>
              <a:t> mean_absolute_error</a:t>
            </a:r>
            <a:endParaRPr>
              <a:solidFill>
                <a:srgbClr val="FFFFFF"/>
              </a:solidFill>
            </a:endParaRPr>
          </a:p>
          <a:p>
            <a:pPr>
              <a:defRPr sz="1400">
                <a:solidFill>
                  <a:srgbClr val="8292A2"/>
                </a:solidFill>
                <a:latin typeface="Consolas"/>
                <a:ea typeface="Consolas"/>
                <a:cs typeface="Consolas"/>
                <a:sym typeface="Consolas"/>
              </a:defRPr>
            </a:pPr>
            <a:r>
              <a:t>3 </a:t>
            </a:r>
            <a:r>
              <a:rPr>
                <a:solidFill>
                  <a:srgbClr val="66D9EF"/>
                </a:solidFill>
              </a:rPr>
              <a:t>from</a:t>
            </a:r>
            <a:r>
              <a:rPr>
                <a:solidFill>
                  <a:srgbClr val="FFFFFF"/>
                </a:solidFill>
              </a:rPr>
              <a:t> sklearn</a:t>
            </a:r>
            <a:r>
              <a:rPr>
                <a:solidFill>
                  <a:srgbClr val="F8F8F2"/>
                </a:solidFill>
              </a:rPr>
              <a:t>.</a:t>
            </a:r>
            <a:r>
              <a:rPr>
                <a:solidFill>
                  <a:srgbClr val="FFFFFF"/>
                </a:solidFill>
              </a:rPr>
              <a:t>tree </a:t>
            </a:r>
            <a:r>
              <a:rPr>
                <a:solidFill>
                  <a:srgbClr val="66D9EF"/>
                </a:solidFill>
              </a:rPr>
              <a:t>import</a:t>
            </a:r>
            <a:r>
              <a:rPr>
                <a:solidFill>
                  <a:srgbClr val="FFFFFF"/>
                </a:solidFill>
              </a:rPr>
              <a:t> DecisionTreeRegressor</a:t>
            </a:r>
            <a:endParaRPr>
              <a:solidFill>
                <a:srgbClr val="FFFFFF"/>
              </a:solidFill>
            </a:endParaRPr>
          </a:p>
          <a:p>
            <a:pPr>
              <a:defRPr sz="1400">
                <a:solidFill>
                  <a:srgbClr val="8292A2"/>
                </a:solidFill>
                <a:latin typeface="Consolas"/>
                <a:ea typeface="Consolas"/>
                <a:cs typeface="Consolas"/>
                <a:sym typeface="Consolas"/>
              </a:defRPr>
            </a:pPr>
            <a:r>
              <a:t>4 </a:t>
            </a:r>
            <a:endParaRPr>
              <a:solidFill>
                <a:srgbClr val="FFFFFF"/>
              </a:solidFill>
            </a:endParaRPr>
          </a:p>
          <a:p>
            <a:pPr>
              <a:defRPr sz="1400">
                <a:solidFill>
                  <a:srgbClr val="8292A2"/>
                </a:solidFill>
                <a:latin typeface="Consolas"/>
                <a:ea typeface="Consolas"/>
                <a:cs typeface="Consolas"/>
                <a:sym typeface="Consolas"/>
              </a:defRPr>
            </a:pPr>
            <a:r>
              <a:t>5 </a:t>
            </a:r>
            <a:r>
              <a:rPr>
                <a:solidFill>
                  <a:srgbClr val="FFFFFF"/>
                </a:solidFill>
              </a:rPr>
              <a:t>train_X</a:t>
            </a:r>
            <a:r>
              <a:rPr>
                <a:solidFill>
                  <a:srgbClr val="F8F8F2"/>
                </a:solidFill>
              </a:rPr>
              <a:t>,</a:t>
            </a:r>
            <a:r>
              <a:rPr>
                <a:solidFill>
                  <a:srgbClr val="FFFFFF"/>
                </a:solidFill>
              </a:rPr>
              <a:t> val_X</a:t>
            </a:r>
            <a:r>
              <a:rPr>
                <a:solidFill>
                  <a:srgbClr val="F8F8F2"/>
                </a:solidFill>
              </a:rPr>
              <a:t>,</a:t>
            </a:r>
            <a:r>
              <a:rPr>
                <a:solidFill>
                  <a:srgbClr val="FFFFFF"/>
                </a:solidFill>
              </a:rPr>
              <a:t> train_y</a:t>
            </a:r>
            <a:r>
              <a:rPr>
                <a:solidFill>
                  <a:srgbClr val="F8F8F2"/>
                </a:solidFill>
              </a:rPr>
              <a:t>,</a:t>
            </a:r>
            <a:r>
              <a:rPr>
                <a:solidFill>
                  <a:srgbClr val="FFFFFF"/>
                </a:solidFill>
              </a:rPr>
              <a:t> val_y </a:t>
            </a:r>
            <a:r>
              <a:rPr>
                <a:solidFill>
                  <a:srgbClr val="F8F8F2"/>
                </a:solidFill>
              </a:rPr>
              <a:t>=</a:t>
            </a:r>
            <a:r>
              <a:rPr>
                <a:solidFill>
                  <a:srgbClr val="FFFFFF"/>
                </a:solidFill>
              </a:rPr>
              <a:t> train_test_split</a:t>
            </a:r>
            <a:r>
              <a:rPr>
                <a:solidFill>
                  <a:srgbClr val="F8F8F2"/>
                </a:solidFill>
              </a:rPr>
              <a:t>(</a:t>
            </a:r>
            <a:r>
              <a:rPr>
                <a:solidFill>
                  <a:srgbClr val="FFFFFF"/>
                </a:solidFill>
              </a:rPr>
              <a:t>X</a:t>
            </a:r>
            <a:r>
              <a:rPr>
                <a:solidFill>
                  <a:srgbClr val="F8F8F2"/>
                </a:solidFill>
              </a:rPr>
              <a:t>,</a:t>
            </a:r>
            <a:r>
              <a:rPr>
                <a:solidFill>
                  <a:srgbClr val="FFFFFF"/>
                </a:solidFill>
              </a:rPr>
              <a:t> y</a:t>
            </a:r>
            <a:r>
              <a:rPr>
                <a:solidFill>
                  <a:srgbClr val="F8F8F2"/>
                </a:solidFill>
              </a:rPr>
              <a:t>,</a:t>
            </a:r>
            <a:r>
              <a:rPr>
                <a:solidFill>
                  <a:srgbClr val="FFFFFF"/>
                </a:solidFill>
              </a:rPr>
              <a:t> random_state</a:t>
            </a:r>
            <a:r>
              <a:rPr>
                <a:solidFill>
                  <a:srgbClr val="F8F8F2"/>
                </a:solidFill>
              </a:rPr>
              <a:t>=</a:t>
            </a:r>
            <a:r>
              <a:rPr>
                <a:solidFill>
                  <a:srgbClr val="FFFFFF"/>
                </a:solidFill>
              </a:rPr>
              <a:t>1</a:t>
            </a:r>
            <a:r>
              <a:rPr>
                <a:solidFill>
                  <a:srgbClr val="F8F8F2"/>
                </a:solidFill>
              </a:rPr>
              <a:t>)</a:t>
            </a:r>
            <a:endParaRPr>
              <a:solidFill>
                <a:srgbClr val="FFFFFF"/>
              </a:solidFill>
            </a:endParaRPr>
          </a:p>
          <a:p>
            <a:pPr>
              <a:defRPr sz="1400">
                <a:solidFill>
                  <a:srgbClr val="8292A2"/>
                </a:solidFill>
                <a:latin typeface="Consolas"/>
                <a:ea typeface="Consolas"/>
                <a:cs typeface="Consolas"/>
                <a:sym typeface="Consolas"/>
              </a:defRPr>
            </a:pPr>
            <a:r>
              <a:t>6 </a:t>
            </a:r>
            <a:r>
              <a:rPr>
                <a:solidFill>
                  <a:srgbClr val="FFFFFF"/>
                </a:solidFill>
              </a:rPr>
              <a:t>model </a:t>
            </a:r>
            <a:r>
              <a:rPr>
                <a:solidFill>
                  <a:srgbClr val="F8F8F2"/>
                </a:solidFill>
              </a:rPr>
              <a:t>=</a:t>
            </a:r>
            <a:r>
              <a:rPr>
                <a:solidFill>
                  <a:srgbClr val="FFFFFF"/>
                </a:solidFill>
              </a:rPr>
              <a:t> DecisionTreeRegressor</a:t>
            </a:r>
            <a:r>
              <a:rPr>
                <a:solidFill>
                  <a:srgbClr val="F8F8F2"/>
                </a:solidFill>
              </a:rPr>
              <a:t>(</a:t>
            </a:r>
            <a:r>
              <a:rPr>
                <a:solidFill>
                  <a:srgbClr val="FFFFFF"/>
                </a:solidFill>
              </a:rPr>
              <a:t>random_state</a:t>
            </a:r>
            <a:r>
              <a:rPr>
                <a:solidFill>
                  <a:srgbClr val="F8F8F2"/>
                </a:solidFill>
              </a:rPr>
              <a:t>=</a:t>
            </a:r>
            <a:r>
              <a:rPr>
                <a:solidFill>
                  <a:srgbClr val="FFFFFF"/>
                </a:solidFill>
              </a:rPr>
              <a:t>1</a:t>
            </a:r>
            <a:r>
              <a:rPr>
                <a:solidFill>
                  <a:srgbClr val="F8F8F2"/>
                </a:solidFill>
              </a:rPr>
              <a:t>)</a:t>
            </a:r>
            <a:endParaRPr>
              <a:solidFill>
                <a:srgbClr val="FFFFFF"/>
              </a:solidFill>
            </a:endParaRPr>
          </a:p>
          <a:p>
            <a:pPr>
              <a:defRPr sz="1400">
                <a:solidFill>
                  <a:srgbClr val="8292A2"/>
                </a:solidFill>
                <a:latin typeface="Consolas"/>
                <a:ea typeface="Consolas"/>
                <a:cs typeface="Consolas"/>
                <a:sym typeface="Consolas"/>
              </a:defRPr>
            </a:pPr>
            <a:r>
              <a:t>7 </a:t>
            </a:r>
            <a:r>
              <a:rPr>
                <a:solidFill>
                  <a:srgbClr val="FFFFFF"/>
                </a:solidFill>
              </a:rPr>
              <a:t>model</a:t>
            </a:r>
            <a:r>
              <a:rPr>
                <a:solidFill>
                  <a:srgbClr val="F8F8F2"/>
                </a:solidFill>
              </a:rPr>
              <a:t>.</a:t>
            </a:r>
            <a:r>
              <a:rPr>
                <a:solidFill>
                  <a:srgbClr val="FFFFFF"/>
                </a:solidFill>
              </a:rPr>
              <a:t>fit</a:t>
            </a:r>
            <a:r>
              <a:rPr>
                <a:solidFill>
                  <a:srgbClr val="F8F8F2"/>
                </a:solidFill>
              </a:rPr>
              <a:t>(</a:t>
            </a:r>
            <a:r>
              <a:rPr>
                <a:solidFill>
                  <a:srgbClr val="FFFFFF"/>
                </a:solidFill>
              </a:rPr>
              <a:t>train_X</a:t>
            </a:r>
            <a:r>
              <a:rPr>
                <a:solidFill>
                  <a:srgbClr val="F8F8F2"/>
                </a:solidFill>
              </a:rPr>
              <a:t>,</a:t>
            </a:r>
            <a:r>
              <a:rPr>
                <a:solidFill>
                  <a:srgbClr val="FFFFFF"/>
                </a:solidFill>
              </a:rPr>
              <a:t> train_y</a:t>
            </a:r>
            <a:r>
              <a:rPr>
                <a:solidFill>
                  <a:srgbClr val="F8F8F2"/>
                </a:solidFill>
              </a:rPr>
              <a:t>)</a:t>
            </a:r>
            <a:endParaRPr>
              <a:solidFill>
                <a:srgbClr val="FFFFFF"/>
              </a:solidFill>
            </a:endParaRPr>
          </a:p>
          <a:p>
            <a:pPr>
              <a:defRPr sz="1400">
                <a:solidFill>
                  <a:srgbClr val="8292A2"/>
                </a:solidFill>
                <a:latin typeface="Consolas"/>
                <a:ea typeface="Consolas"/>
                <a:cs typeface="Consolas"/>
                <a:sym typeface="Consolas"/>
              </a:defRPr>
            </a:pPr>
            <a:r>
              <a:t>8 </a:t>
            </a:r>
            <a:r>
              <a:rPr>
                <a:solidFill>
                  <a:srgbClr val="FFFFFF"/>
                </a:solidFill>
              </a:rPr>
              <a:t>preds </a:t>
            </a:r>
            <a:r>
              <a:rPr>
                <a:solidFill>
                  <a:srgbClr val="F8F8F2"/>
                </a:solidFill>
              </a:rPr>
              <a:t>=</a:t>
            </a:r>
            <a:r>
              <a:rPr>
                <a:solidFill>
                  <a:srgbClr val="FFFFFF"/>
                </a:solidFill>
              </a:rPr>
              <a:t> model</a:t>
            </a:r>
            <a:r>
              <a:rPr>
                <a:solidFill>
                  <a:srgbClr val="F8F8F2"/>
                </a:solidFill>
              </a:rPr>
              <a:t>.</a:t>
            </a:r>
            <a:r>
              <a:rPr>
                <a:solidFill>
                  <a:srgbClr val="FFFFFF"/>
                </a:solidFill>
              </a:rPr>
              <a:t>predict</a:t>
            </a:r>
            <a:r>
              <a:rPr>
                <a:solidFill>
                  <a:srgbClr val="F8F8F2"/>
                </a:solidFill>
              </a:rPr>
              <a:t>(</a:t>
            </a:r>
            <a:r>
              <a:rPr>
                <a:solidFill>
                  <a:srgbClr val="FFFFFF"/>
                </a:solidFill>
              </a:rPr>
              <a:t>val_X</a:t>
            </a:r>
            <a:r>
              <a:rPr>
                <a:solidFill>
                  <a:srgbClr val="F8F8F2"/>
                </a:solidFill>
              </a:rPr>
              <a:t>)</a:t>
            </a:r>
            <a:endParaRPr>
              <a:solidFill>
                <a:srgbClr val="FFFFFF"/>
              </a:solidFill>
            </a:endParaRPr>
          </a:p>
          <a:p>
            <a:pPr>
              <a:defRPr sz="1400">
                <a:solidFill>
                  <a:srgbClr val="8292A2"/>
                </a:solidFill>
                <a:latin typeface="Consolas"/>
                <a:ea typeface="Consolas"/>
                <a:cs typeface="Consolas"/>
                <a:sym typeface="Consolas"/>
              </a:defRPr>
            </a:pPr>
            <a:r>
              <a:t>9 </a:t>
            </a:r>
            <a:r>
              <a:rPr>
                <a:solidFill>
                  <a:srgbClr val="FFFFFF"/>
                </a:solidFill>
              </a:rPr>
              <a:t>mae </a:t>
            </a:r>
            <a:r>
              <a:rPr>
                <a:solidFill>
                  <a:srgbClr val="F8F8F2"/>
                </a:solidFill>
              </a:rPr>
              <a:t>=</a:t>
            </a:r>
            <a:r>
              <a:rPr>
                <a:solidFill>
                  <a:srgbClr val="FFFFFF"/>
                </a:solidFill>
              </a:rPr>
              <a:t> mean_absolute_error</a:t>
            </a:r>
            <a:r>
              <a:rPr>
                <a:solidFill>
                  <a:srgbClr val="F8F8F2"/>
                </a:solidFill>
              </a:rPr>
              <a:t>(</a:t>
            </a:r>
            <a:r>
              <a:rPr>
                <a:solidFill>
                  <a:srgbClr val="FFFFFF"/>
                </a:solidFill>
              </a:rPr>
              <a:t>val_y</a:t>
            </a:r>
            <a:r>
              <a:rPr>
                <a:solidFill>
                  <a:srgbClr val="F8F8F2"/>
                </a:solidFill>
              </a:rPr>
              <a:t>,</a:t>
            </a:r>
            <a:r>
              <a:rPr>
                <a:solidFill>
                  <a:srgbClr val="FFFFFF"/>
                </a:solidFill>
              </a:rPr>
              <a:t> preds</a:t>
            </a:r>
            <a:r>
              <a:rPr>
                <a:solidFill>
                  <a:srgbClr val="F8F8F2"/>
                </a:solidFill>
              </a:rPr>
              <a:t>)</a:t>
            </a:r>
          </a:p>
        </p:txBody>
      </p:sp>
      <p:sp>
        <p:nvSpPr>
          <p:cNvPr id="136" name="Text 5"/>
          <p:cNvSpPr txBox="1"/>
          <p:nvPr/>
        </p:nvSpPr>
        <p:spPr>
          <a:xfrm>
            <a:off x="5806440" y="1097280"/>
            <a:ext cx="5806441" cy="1783079"/>
          </a:xfrm>
          <a:prstGeom prst="rect">
            <a:avLst/>
          </a:prstGeom>
          <a:ln w="12700">
            <a:miter lim="400000"/>
          </a:ln>
          <a:extLst>
            <a:ext uri="{C572A759-6A51-4108-AA02-DFA0A04FC94B}">
              <ma14:wrappingTextBoxFlag xmlns:ma14="http://schemas.microsoft.com/office/mac/drawingml/2011/main" val="1"/>
            </a:ext>
          </a:extLst>
        </p:spPr>
        <p:txBody>
          <a:bodyPr lIns="507" tIns="507" rIns="507" bIns="507">
            <a:normAutofit fontScale="100000" lnSpcReduction="0"/>
          </a:bodyPr>
          <a:lstStyle>
            <a:lvl1pPr defTabSz="822959">
              <a:lnSpc>
                <a:spcPct val="110000"/>
              </a:lnSpc>
              <a:defRPr>
                <a:solidFill>
                  <a:srgbClr val="1E293B"/>
                </a:solidFill>
              </a:defRPr>
            </a:lvl1pPr>
          </a:lstStyle>
          <a:p>
            <a:pPr/>
            <a:r>
              <a:t>The code is short because the ideas are doing the heavy lifting. split the data, fit the model on the training portion, predict on the held-out portion, then compare predictions to the true answers with MAE. Every line corresponds to a decision we already justified conceptually.</a:t>
            </a:r>
          </a:p>
        </p:txBody>
      </p:sp>
      <p:sp>
        <p:nvSpPr>
          <p:cNvPr id="137" name="Shape 6"/>
          <p:cNvSpPr/>
          <p:nvPr/>
        </p:nvSpPr>
        <p:spPr>
          <a:xfrm>
            <a:off x="5897879" y="3246120"/>
            <a:ext cx="5303521" cy="1783080"/>
          </a:xfrm>
          <a:prstGeom prst="roundRect">
            <a:avLst>
              <a:gd name="adj" fmla="val 6154"/>
            </a:avLst>
          </a:prstGeom>
          <a:solidFill>
            <a:srgbClr val="FFFFFF"/>
          </a:solidFill>
          <a:ln w="12700">
            <a:solidFill>
              <a:srgbClr val="D7DEE7"/>
            </a:solidFill>
          </a:ln>
          <a:effectLst>
            <a:outerShdw sx="100000" sy="100000" kx="0" ky="0" algn="b" rotWithShape="0" blurRad="25400" dist="12700" dir="2700000">
              <a:srgbClr val="000000">
                <a:alpha val="10000"/>
              </a:srgbClr>
            </a:outerShdw>
          </a:effectLst>
        </p:spPr>
        <p:txBody>
          <a:bodyPr lIns="45719" rIns="45719"/>
          <a:lstStyle/>
          <a:p>
            <a:pPr/>
          </a:p>
        </p:txBody>
      </p:sp>
      <p:sp>
        <p:nvSpPr>
          <p:cNvPr id="138" name="Text 7"/>
          <p:cNvSpPr txBox="1"/>
          <p:nvPr/>
        </p:nvSpPr>
        <p:spPr>
          <a:xfrm>
            <a:off x="6172200" y="3547871"/>
            <a:ext cx="4754880" cy="1097281"/>
          </a:xfrm>
          <a:prstGeom prst="rect">
            <a:avLst/>
          </a:prstGeom>
          <a:ln w="12700">
            <a:miter lim="400000"/>
          </a:ln>
          <a:extLst>
            <a:ext uri="{C572A759-6A51-4108-AA02-DFA0A04FC94B}">
              <ma14:wrappingTextBoxFlag xmlns:ma14="http://schemas.microsoft.com/office/mac/drawingml/2011/main" val="1"/>
            </a:ext>
          </a:extLst>
        </p:spPr>
        <p:txBody>
          <a:bodyPr lIns="507" tIns="507" rIns="507" bIns="507">
            <a:normAutofit fontScale="100000" lnSpcReduction="0"/>
          </a:bodyPr>
          <a:lstStyle/>
          <a:p>
            <a:pPr defTabSz="557784">
              <a:lnSpc>
                <a:spcPct val="110000"/>
              </a:lnSpc>
              <a:defRPr sz="1220">
                <a:solidFill>
                  <a:srgbClr val="1E293B"/>
                </a:solidFill>
              </a:defRPr>
            </a:pPr>
            <a:r>
              <a:t>What each line means:</a:t>
            </a:r>
          </a:p>
          <a:p>
            <a:pPr defTabSz="557784">
              <a:lnSpc>
                <a:spcPct val="110000"/>
              </a:lnSpc>
              <a:defRPr sz="1220">
                <a:solidFill>
                  <a:srgbClr val="1E293B"/>
                </a:solidFill>
              </a:defRPr>
            </a:pPr>
            <a:r>
              <a:t>• train_test_split creates an honest test.</a:t>
            </a:r>
          </a:p>
          <a:p>
            <a:pPr defTabSz="557784">
              <a:lnSpc>
                <a:spcPct val="110000"/>
              </a:lnSpc>
              <a:defRPr sz="1220">
                <a:solidFill>
                  <a:srgbClr val="1E293B"/>
                </a:solidFill>
              </a:defRPr>
            </a:pPr>
            <a:r>
              <a:t>• fit means “learn from examples.”</a:t>
            </a:r>
          </a:p>
          <a:p>
            <a:pPr defTabSz="557784">
              <a:lnSpc>
                <a:spcPct val="110000"/>
              </a:lnSpc>
              <a:defRPr sz="1220">
                <a:solidFill>
                  <a:srgbClr val="1E293B"/>
                </a:solidFill>
              </a:defRPr>
            </a:pPr>
            <a:r>
              <a:t>• predict means “guess on unseen inputs.”</a:t>
            </a:r>
          </a:p>
          <a:p>
            <a:pPr defTabSz="557784">
              <a:lnSpc>
                <a:spcPct val="110000"/>
              </a:lnSpc>
              <a:defRPr sz="1220">
                <a:solidFill>
                  <a:srgbClr val="1E293B"/>
                </a:solidFill>
              </a:defRPr>
            </a:pPr>
            <a:r>
              <a:t>• mean_absolute_error asks “how wrong were those guesses?”</a:t>
            </a:r>
          </a:p>
        </p:txBody>
      </p:sp>
      <p:sp>
        <p:nvSpPr>
          <p:cNvPr id="139" name="Shape 8"/>
          <p:cNvSpPr/>
          <p:nvPr/>
        </p:nvSpPr>
        <p:spPr>
          <a:xfrm>
            <a:off x="5897879" y="5394959"/>
            <a:ext cx="4343401" cy="685801"/>
          </a:xfrm>
          <a:prstGeom prst="roundRect">
            <a:avLst>
              <a:gd name="adj" fmla="val 16000"/>
            </a:avLst>
          </a:prstGeom>
          <a:solidFill>
            <a:srgbClr val="FFF6E5"/>
          </a:solidFill>
          <a:ln w="12700">
            <a:solidFill>
              <a:srgbClr val="D99B2B"/>
            </a:solidFill>
          </a:ln>
          <a:effectLst>
            <a:outerShdw sx="100000" sy="100000" kx="0" ky="0" algn="b" rotWithShape="0" blurRad="25400" dist="12700" dir="2700000">
              <a:srgbClr val="000000">
                <a:alpha val="10000"/>
              </a:srgbClr>
            </a:outerShdw>
          </a:effectLst>
        </p:spPr>
        <p:txBody>
          <a:bodyPr lIns="45719" rIns="45719"/>
          <a:lstStyle/>
          <a:p>
            <a:pPr/>
          </a:p>
        </p:txBody>
      </p:sp>
      <p:sp>
        <p:nvSpPr>
          <p:cNvPr id="140" name="Text 9"/>
          <p:cNvSpPr txBox="1"/>
          <p:nvPr/>
        </p:nvSpPr>
        <p:spPr>
          <a:xfrm>
            <a:off x="6172200" y="5605271"/>
            <a:ext cx="3749041" cy="182881"/>
          </a:xfrm>
          <a:prstGeom prst="rect">
            <a:avLst/>
          </a:prstGeom>
          <a:ln w="12700">
            <a:miter lim="400000"/>
          </a:ln>
          <a:extLst>
            <a:ext uri="{C572A759-6A51-4108-AA02-DFA0A04FC94B}">
              <ma14:wrappingTextBoxFlag xmlns:ma14="http://schemas.microsoft.com/office/mac/drawingml/2011/main" val="1"/>
            </a:ext>
          </a:extLst>
        </p:spPr>
        <p:txBody>
          <a:bodyPr lIns="507" tIns="507" rIns="507" bIns="507" anchor="ctr">
            <a:normAutofit fontScale="100000" lnSpcReduction="0"/>
          </a:bodyPr>
          <a:lstStyle>
            <a:lvl1pPr defTabSz="429768">
              <a:lnSpc>
                <a:spcPct val="110000"/>
              </a:lnSpc>
              <a:defRPr b="1" sz="846">
                <a:solidFill>
                  <a:srgbClr val="D99B2B"/>
                </a:solidFill>
              </a:defRPr>
            </a:lvl1pPr>
          </a:lstStyle>
          <a:p>
            <a:pPr/>
            <a:r>
              <a:t>You can read the code as a sentence: split → learn → predict → measure.</a:t>
            </a:r>
          </a:p>
        </p:txBody>
      </p:sp>
      <p:sp>
        <p:nvSpPr>
          <p:cNvPr id="141" name="Text 10"/>
          <p:cNvSpPr txBox="1"/>
          <p:nvPr/>
        </p:nvSpPr>
        <p:spPr>
          <a:xfrm>
            <a:off x="11475719" y="6489192"/>
            <a:ext cx="320041" cy="15240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lgn="r">
              <a:defRPr sz="1000">
                <a:solidFill>
                  <a:srgbClr val="64748B"/>
                </a:solidFill>
              </a:defRPr>
            </a:lvl1pPr>
          </a:lstStyle>
          <a:p>
            <a:pPr/>
            <a:r>
              <a:t>8</a:t>
            </a:r>
          </a:p>
        </p:txBody>
      </p:sp>
    </p:spTree>
  </p:cSld>
  <p:clrMapOvr>
    <a:masterClrMapping/>
  </p:clrMapOvr>
  <p:transition xmlns:p14="http://schemas.microsoft.com/office/powerpoint/2010/main" spd="med" advClick="1"/>
</p:sld>
</file>

<file path=ppt/slides/slide11.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145" name="Random_State=0 vs 1"/>
          <p:cNvSpPr txBox="1"/>
          <p:nvPr>
            <p:ph type="title" idx="4294967295"/>
          </p:nvPr>
        </p:nvSpPr>
        <p:spPr>
          <a:prstGeom prst="rect">
            <a:avLst/>
          </a:prstGeom>
        </p:spPr>
        <p:txBody>
          <a:bodyPr/>
          <a:lstStyle/>
          <a:p>
            <a:pPr/>
            <a:r>
              <a:t>Random_State=0 vs 1</a:t>
            </a:r>
          </a:p>
        </p:txBody>
      </p:sp>
      <p:sp>
        <p:nvSpPr>
          <p:cNvPr id="146" name="Where the number generator is started is known as the seed. When you specify the random_state parameter, you are just setting the random seed for the random number generator.…"/>
          <p:cNvSpPr txBox="1"/>
          <p:nvPr>
            <p:ph type="body" idx="4294967295"/>
          </p:nvPr>
        </p:nvSpPr>
        <p:spPr>
          <a:prstGeom prst="rect">
            <a:avLst/>
          </a:prstGeom>
        </p:spPr>
        <p:txBody>
          <a:bodyPr/>
          <a:lstStyle/>
          <a:p>
            <a:pPr marL="0" indent="0" defTabSz="457200">
              <a:spcBef>
                <a:spcPts val="1600"/>
              </a:spcBef>
              <a:buSzTx/>
              <a:buFontTx/>
              <a:buNone/>
              <a:defRPr sz="2000">
                <a:solidFill>
                  <a:srgbClr val="3C4043"/>
                </a:solidFill>
                <a:latin typeface="+mn-lt"/>
                <a:ea typeface="+mn-ea"/>
                <a:cs typeface="+mn-cs"/>
                <a:sym typeface="Helvetica"/>
              </a:defRPr>
            </a:pPr>
            <a:r>
              <a:t>Where the number generator is started is known as the </a:t>
            </a:r>
            <a:r>
              <a:rPr i="1"/>
              <a:t>seed.</a:t>
            </a:r>
            <a:r>
              <a:t> When you specify the random_state parameter, you are just setting the random seed for the random number generator.</a:t>
            </a:r>
          </a:p>
          <a:p>
            <a:pPr marL="0" indent="0" defTabSz="457200">
              <a:spcBef>
                <a:spcPts val="1600"/>
              </a:spcBef>
              <a:buSzTx/>
              <a:buFontTx/>
              <a:buNone/>
              <a:defRPr sz="2000">
                <a:solidFill>
                  <a:srgbClr val="3C4043"/>
                </a:solidFill>
                <a:latin typeface="+mn-lt"/>
                <a:ea typeface="+mn-ea"/>
                <a:cs typeface="+mn-cs"/>
                <a:sym typeface="Helvetica"/>
              </a:defRPr>
            </a:pPr>
            <a:r>
              <a:t>To make this a bit more concrete, suppose you set </a:t>
            </a:r>
            <a:r>
              <a:rPr>
                <a:latin typeface="Courier"/>
                <a:ea typeface="Courier"/>
                <a:cs typeface="Courier"/>
                <a:sym typeface="Courier"/>
              </a:rPr>
              <a:t>random_seed = 0</a:t>
            </a:r>
            <a:r>
              <a:t>. The random number generator might then produce the sequence of integers</a:t>
            </a:r>
          </a:p>
          <a:p>
            <a:pPr marL="0" indent="0" defTabSz="457200">
              <a:spcBef>
                <a:spcPts val="1600"/>
              </a:spcBef>
              <a:buSzTx/>
              <a:buFontTx/>
              <a:buNone/>
              <a:defRPr sz="2000">
                <a:solidFill>
                  <a:srgbClr val="3C4043"/>
                </a:solidFill>
                <a:latin typeface="+mn-lt"/>
                <a:ea typeface="+mn-ea"/>
                <a:cs typeface="+mn-cs"/>
                <a:sym typeface="Helvetica"/>
              </a:defRPr>
            </a:pPr>
            <a:r>
              <a:t>0, 19, 11, 2, 34, 5, 23, 24, 0, 1, 89, …</a:t>
            </a:r>
          </a:p>
          <a:p>
            <a:pPr marL="0" indent="0" defTabSz="457200">
              <a:spcBef>
                <a:spcPts val="1600"/>
              </a:spcBef>
              <a:buSzTx/>
              <a:buFontTx/>
              <a:buNone/>
              <a:defRPr sz="2000">
                <a:solidFill>
                  <a:srgbClr val="3C4043"/>
                </a:solidFill>
                <a:latin typeface="+mn-lt"/>
                <a:ea typeface="+mn-ea"/>
                <a:cs typeface="+mn-cs"/>
                <a:sym typeface="Helvetica"/>
              </a:defRPr>
            </a:pPr>
            <a:r>
              <a:t>and by fixing </a:t>
            </a:r>
            <a:r>
              <a:rPr>
                <a:latin typeface="Courier"/>
                <a:ea typeface="Courier"/>
                <a:cs typeface="Courier"/>
                <a:sym typeface="Courier"/>
              </a:rPr>
              <a:t>random_state=0</a:t>
            </a:r>
            <a:r>
              <a:t>, you will </a:t>
            </a:r>
            <a:r>
              <a:rPr i="1"/>
              <a:t>always</a:t>
            </a:r>
            <a:r>
              <a:t> see this sequence each time you call your </a:t>
            </a:r>
            <a:r>
              <a:rPr>
                <a:latin typeface="Courier"/>
                <a:ea typeface="Courier"/>
                <a:cs typeface="Courier"/>
                <a:sym typeface="Courier"/>
              </a:rPr>
              <a:t>train_test_split</a:t>
            </a:r>
            <a:r>
              <a:t> function. On the other hand, maybe </a:t>
            </a:r>
            <a:r>
              <a:rPr>
                <a:latin typeface="Courier"/>
                <a:ea typeface="Courier"/>
                <a:cs typeface="Courier"/>
                <a:sym typeface="Courier"/>
              </a:rPr>
              <a:t>random_state=1</a:t>
            </a:r>
            <a:r>
              <a:t> produces the following sequence of integers:</a:t>
            </a:r>
          </a:p>
          <a:p>
            <a:pPr marL="0" indent="0" defTabSz="457200">
              <a:spcBef>
                <a:spcPts val="1600"/>
              </a:spcBef>
              <a:buSzTx/>
              <a:buFontTx/>
              <a:buNone/>
              <a:defRPr sz="2000">
                <a:solidFill>
                  <a:srgbClr val="3C4043"/>
                </a:solidFill>
                <a:latin typeface="+mn-lt"/>
                <a:ea typeface="+mn-ea"/>
                <a:cs typeface="+mn-cs"/>
                <a:sym typeface="Helvetica"/>
              </a:defRPr>
            </a:pPr>
            <a:r>
              <a:t>91, 18, 11, 34, 34, 5, 19, 18, 0, 0, 1, …</a:t>
            </a:r>
          </a:p>
          <a:p>
            <a:pPr marL="0" indent="0" defTabSz="457200">
              <a:spcBef>
                <a:spcPts val="1600"/>
              </a:spcBef>
              <a:buSzTx/>
              <a:buFontTx/>
              <a:buNone/>
              <a:defRPr sz="2000">
                <a:solidFill>
                  <a:srgbClr val="3C4043"/>
                </a:solidFill>
                <a:latin typeface="+mn-lt"/>
                <a:ea typeface="+mn-ea"/>
                <a:cs typeface="+mn-cs"/>
                <a:sym typeface="Helvetica"/>
              </a:defRPr>
            </a:pPr>
            <a:r>
              <a:t>Even though this is different from the </a:t>
            </a:r>
            <a:r>
              <a:rPr>
                <a:latin typeface="Courier"/>
                <a:ea typeface="Courier"/>
                <a:cs typeface="Courier"/>
                <a:sym typeface="Courier"/>
              </a:rPr>
              <a:t>random_state=0</a:t>
            </a:r>
            <a:r>
              <a:t>, the point is you will always see these random numbers popping up when you set </a:t>
            </a:r>
            <a:r>
              <a:rPr>
                <a:latin typeface="Courier"/>
                <a:ea typeface="Courier"/>
                <a:cs typeface="Courier"/>
                <a:sym typeface="Courier"/>
              </a:rPr>
              <a:t>random_state = 1</a:t>
            </a:r>
            <a:r>
              <a:t>.</a:t>
            </a:r>
          </a:p>
        </p:txBody>
      </p:sp>
    </p:spTree>
  </p:cSld>
  <p:clrMapOvr>
    <a:masterClrMapping/>
  </p:clrMapOvr>
  <p:transition xmlns:p14="http://schemas.microsoft.com/office/powerpoint/2010/main" spd="med" advClick="1"/>
</p:sld>
</file>

<file path=ppt/slides/slide12.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bg>
      <p:bgPr>
        <a:solidFill>
          <a:srgbClr val="FCFCFD"/>
        </a:solidFill>
      </p:bgPr>
    </p:bg>
    <p:spTree>
      <p:nvGrpSpPr>
        <p:cNvPr id="1" name=""/>
        <p:cNvGrpSpPr/>
        <p:nvPr/>
      </p:nvGrpSpPr>
      <p:grpSpPr>
        <a:xfrm>
          <a:off x="0" y="0"/>
          <a:ext cx="0" cy="0"/>
          <a:chOff x="0" y="0"/>
          <a:chExt cx="0" cy="0"/>
        </a:xfrm>
      </p:grpSpPr>
      <p:sp>
        <p:nvSpPr>
          <p:cNvPr id="148" name="Shape 0"/>
          <p:cNvSpPr/>
          <p:nvPr/>
        </p:nvSpPr>
        <p:spPr>
          <a:xfrm>
            <a:off x="-1" y="0"/>
            <a:ext cx="12191697" cy="384048"/>
          </a:xfrm>
          <a:prstGeom prst="rect">
            <a:avLst/>
          </a:prstGeom>
          <a:solidFill>
            <a:srgbClr val="C84A3A"/>
          </a:solidFill>
          <a:ln w="12700">
            <a:solidFill>
              <a:srgbClr val="C84A3A"/>
            </a:solidFill>
          </a:ln>
        </p:spPr>
        <p:txBody>
          <a:bodyPr lIns="45719" rIns="45719"/>
          <a:lstStyle/>
          <a:p>
            <a:pPr/>
          </a:p>
        </p:txBody>
      </p:sp>
      <p:sp>
        <p:nvSpPr>
          <p:cNvPr id="149" name="Text 1"/>
          <p:cNvSpPr txBox="1"/>
          <p:nvPr/>
        </p:nvSpPr>
        <p:spPr>
          <a:xfrm>
            <a:off x="411480" y="-19558"/>
            <a:ext cx="8961120" cy="36830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b="1" sz="2400">
                <a:solidFill>
                  <a:srgbClr val="FFFFFF"/>
                </a:solidFill>
                <a:latin typeface="Aptos Display"/>
                <a:ea typeface="Aptos Display"/>
                <a:cs typeface="Aptos Display"/>
                <a:sym typeface="Aptos Display"/>
              </a:defRPr>
            </a:lvl1pPr>
          </a:lstStyle>
          <a:p>
            <a:pPr/>
            <a:r>
              <a:t>A deeper trap: trying many models can fool us</a:t>
            </a:r>
          </a:p>
        </p:txBody>
      </p:sp>
      <p:sp>
        <p:nvSpPr>
          <p:cNvPr id="150" name="Text 2"/>
          <p:cNvSpPr txBox="1"/>
          <p:nvPr/>
        </p:nvSpPr>
        <p:spPr>
          <a:xfrm>
            <a:off x="9966959" y="82041"/>
            <a:ext cx="1737361" cy="16510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lgn="r">
              <a:defRPr sz="1100">
                <a:solidFill>
                  <a:srgbClr val="F8FAFC"/>
                </a:solidFill>
              </a:defRPr>
            </a:lvl1pPr>
          </a:lstStyle>
          <a:p>
            <a:pPr/>
            <a:r>
              <a:t>Model Evaluation</a:t>
            </a:r>
          </a:p>
        </p:txBody>
      </p:sp>
      <p:sp>
        <p:nvSpPr>
          <p:cNvPr id="151" name="Shape 3"/>
          <p:cNvSpPr/>
          <p:nvPr/>
        </p:nvSpPr>
        <p:spPr>
          <a:xfrm>
            <a:off x="640080" y="914400"/>
            <a:ext cx="4663441" cy="5394960"/>
          </a:xfrm>
          <a:prstGeom prst="roundRect">
            <a:avLst>
              <a:gd name="adj" fmla="val 2353"/>
            </a:avLst>
          </a:prstGeom>
          <a:solidFill>
            <a:srgbClr val="FFFFFF"/>
          </a:solidFill>
          <a:ln w="12700">
            <a:solidFill>
              <a:srgbClr val="D7DEE7"/>
            </a:solidFill>
          </a:ln>
          <a:effectLst>
            <a:outerShdw sx="100000" sy="100000" kx="0" ky="0" algn="b" rotWithShape="0" blurRad="25400" dist="12700" dir="2700000">
              <a:srgbClr val="000000">
                <a:alpha val="10000"/>
              </a:srgbClr>
            </a:outerShdw>
          </a:effectLst>
        </p:spPr>
        <p:txBody>
          <a:bodyPr lIns="45719" rIns="45719"/>
          <a:lstStyle/>
          <a:p>
            <a:pPr/>
          </a:p>
        </p:txBody>
      </p:sp>
      <p:sp>
        <p:nvSpPr>
          <p:cNvPr id="152" name="Text 4"/>
          <p:cNvSpPr txBox="1"/>
          <p:nvPr/>
        </p:nvSpPr>
        <p:spPr>
          <a:xfrm>
            <a:off x="914400" y="1105916"/>
            <a:ext cx="1828800" cy="33020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b="1" sz="2200">
                <a:solidFill>
                  <a:srgbClr val="1E293B"/>
                </a:solidFill>
              </a:defRPr>
            </a:lvl1pPr>
          </a:lstStyle>
          <a:p>
            <a:pPr/>
            <a:r>
              <a:t>Same test set</a:t>
            </a:r>
          </a:p>
        </p:txBody>
      </p:sp>
      <p:graphicFrame>
        <p:nvGraphicFramePr>
          <p:cNvPr id="153" name="Table 0"/>
          <p:cNvGraphicFramePr/>
          <p:nvPr/>
        </p:nvGraphicFramePr>
        <p:xfrm>
          <a:off x="960119" y="1554480"/>
          <a:ext cx="3566161" cy="2743201"/>
        </p:xfrm>
        <a:graphic xmlns:a="http://schemas.openxmlformats.org/drawingml/2006/main">
          <a:graphicData uri="http://schemas.openxmlformats.org/drawingml/2006/table">
            <a:tbl>
              <a:tblPr firstCol="0" firstRow="0" lastCol="0" lastRow="0" bandCol="0" bandRow="0" rtl="0">
                <a:tableStyleId>{4C3C2611-4C71-4FC5-86AE-919BDF0F9419}</a:tableStyleId>
              </a:tblPr>
              <a:tblGrid>
                <a:gridCol w="1463040"/>
                <a:gridCol w="2103120"/>
              </a:tblGrid>
              <a:tr h="457200">
                <a:tc>
                  <a:txBody>
                    <a:bodyPr/>
                    <a:lstStyle/>
                    <a:p>
                      <a:pPr algn="ctr">
                        <a:defRPr sz="1800"/>
                      </a:pPr>
                      <a:r>
                        <a:rPr b="1" sz="1900">
                          <a:solidFill>
                            <a:srgbClr val="FFFFFF"/>
                          </a:solidFill>
                        </a:rPr>
                        <a:t>Model</a:t>
                      </a:r>
                    </a:p>
                  </a:txBody>
                  <a:tcPr marL="36576" marR="36576" marT="36576" marB="36576" anchor="t" anchorCtr="0" horzOverflow="overflow">
                    <a:lnL w="12700">
                      <a:solidFill>
                        <a:srgbClr val="D7DEE7"/>
                      </a:solidFill>
                    </a:lnL>
                    <a:lnR w="12700">
                      <a:solidFill>
                        <a:srgbClr val="D7DEE7"/>
                      </a:solidFill>
                    </a:lnR>
                    <a:lnT w="12700">
                      <a:solidFill>
                        <a:srgbClr val="D7DEE7"/>
                      </a:solidFill>
                    </a:lnT>
                    <a:lnB w="12700">
                      <a:solidFill>
                        <a:srgbClr val="D7DEE7"/>
                      </a:solidFill>
                    </a:lnB>
                    <a:solidFill>
                      <a:srgbClr val="FFFFFF"/>
                    </a:solidFill>
                  </a:tcPr>
                </a:tc>
                <a:tc>
                  <a:txBody>
                    <a:bodyPr/>
                    <a:lstStyle/>
                    <a:p>
                      <a:pPr algn="ctr">
                        <a:defRPr sz="1800"/>
                      </a:pPr>
                      <a:r>
                        <a:rPr b="1" sz="1900">
                          <a:solidFill>
                            <a:srgbClr val="FFFFFF"/>
                          </a:solidFill>
                        </a:rPr>
                        <a:t>MAE on test set</a:t>
                      </a:r>
                    </a:p>
                  </a:txBody>
                  <a:tcPr marL="36576" marR="36576" marT="36576" marB="36576" anchor="t" anchorCtr="0" horzOverflow="overflow">
                    <a:lnL w="12700">
                      <a:solidFill>
                        <a:srgbClr val="D7DEE7"/>
                      </a:solidFill>
                    </a:lnL>
                    <a:lnR w="12700">
                      <a:solidFill>
                        <a:srgbClr val="D7DEE7"/>
                      </a:solidFill>
                    </a:lnR>
                    <a:lnT w="12700">
                      <a:solidFill>
                        <a:srgbClr val="D7DEE7"/>
                      </a:solidFill>
                    </a:lnT>
                    <a:lnB w="12700">
                      <a:solidFill>
                        <a:srgbClr val="D7DEE7"/>
                      </a:solidFill>
                    </a:lnB>
                    <a:solidFill>
                      <a:srgbClr val="FFFFFF"/>
                    </a:solidFill>
                  </a:tcPr>
                </a:tc>
              </a:tr>
              <a:tr h="457200">
                <a:tc>
                  <a:txBody>
                    <a:bodyPr/>
                    <a:lstStyle/>
                    <a:p>
                      <a:pPr algn="ctr">
                        <a:defRPr sz="1800"/>
                      </a:pPr>
                      <a:r>
                        <a:rPr sz="1900"/>
                        <a:t>k = 1</a:t>
                      </a:r>
                    </a:p>
                  </a:txBody>
                  <a:tcPr marL="36576" marR="36576" marT="36576" marB="36576" anchor="t" anchorCtr="0" horzOverflow="overflow">
                    <a:lnL w="12700">
                      <a:solidFill>
                        <a:srgbClr val="D7DEE7"/>
                      </a:solidFill>
                    </a:lnL>
                    <a:lnR w="12700">
                      <a:solidFill>
                        <a:srgbClr val="D7DEE7"/>
                      </a:solidFill>
                    </a:lnR>
                    <a:lnT w="12700">
                      <a:solidFill>
                        <a:srgbClr val="D7DEE7"/>
                      </a:solidFill>
                    </a:lnT>
                    <a:lnB w="12700">
                      <a:solidFill>
                        <a:srgbClr val="D7DEE7"/>
                      </a:solidFill>
                    </a:lnB>
                    <a:solidFill>
                      <a:srgbClr val="FFFFFF"/>
                    </a:solidFill>
                  </a:tcPr>
                </a:tc>
                <a:tc>
                  <a:txBody>
                    <a:bodyPr/>
                    <a:lstStyle/>
                    <a:p>
                      <a:pPr algn="ctr">
                        <a:defRPr sz="1800"/>
                      </a:pPr>
                      <a:r>
                        <a:rPr sz="1900"/>
                        <a:t>9</a:t>
                      </a:r>
                    </a:p>
                  </a:txBody>
                  <a:tcPr marL="36576" marR="36576" marT="36576" marB="36576" anchor="t" anchorCtr="0" horzOverflow="overflow">
                    <a:lnL w="12700">
                      <a:solidFill>
                        <a:srgbClr val="D7DEE7"/>
                      </a:solidFill>
                    </a:lnL>
                    <a:lnR w="12700">
                      <a:solidFill>
                        <a:srgbClr val="D7DEE7"/>
                      </a:solidFill>
                    </a:lnR>
                    <a:lnT w="12700">
                      <a:solidFill>
                        <a:srgbClr val="D7DEE7"/>
                      </a:solidFill>
                    </a:lnT>
                    <a:lnB w="12700">
                      <a:solidFill>
                        <a:srgbClr val="D7DEE7"/>
                      </a:solidFill>
                    </a:lnB>
                    <a:solidFill>
                      <a:srgbClr val="FFFFFF"/>
                    </a:solidFill>
                  </a:tcPr>
                </a:tc>
              </a:tr>
              <a:tr h="457200">
                <a:tc>
                  <a:txBody>
                    <a:bodyPr/>
                    <a:lstStyle/>
                    <a:p>
                      <a:pPr algn="ctr">
                        <a:defRPr sz="1800"/>
                      </a:pPr>
                      <a:r>
                        <a:rPr sz="1900"/>
                        <a:t>k = 2</a:t>
                      </a:r>
                    </a:p>
                  </a:txBody>
                  <a:tcPr marL="36576" marR="36576" marT="36576" marB="36576" anchor="t" anchorCtr="0" horzOverflow="overflow">
                    <a:lnL w="12700">
                      <a:solidFill>
                        <a:srgbClr val="D7DEE7"/>
                      </a:solidFill>
                    </a:lnL>
                    <a:lnR w="12700">
                      <a:solidFill>
                        <a:srgbClr val="D7DEE7"/>
                      </a:solidFill>
                    </a:lnR>
                    <a:lnT w="12700">
                      <a:solidFill>
                        <a:srgbClr val="D7DEE7"/>
                      </a:solidFill>
                    </a:lnT>
                    <a:lnB w="12700">
                      <a:solidFill>
                        <a:srgbClr val="D7DEE7"/>
                      </a:solidFill>
                    </a:lnB>
                    <a:solidFill>
                      <a:srgbClr val="FFFFFF"/>
                    </a:solidFill>
                  </a:tcPr>
                </a:tc>
                <a:tc>
                  <a:txBody>
                    <a:bodyPr/>
                    <a:lstStyle/>
                    <a:p>
                      <a:pPr algn="ctr">
                        <a:defRPr sz="1800"/>
                      </a:pPr>
                      <a:r>
                        <a:rPr sz="1900"/>
                        <a:t>12</a:t>
                      </a:r>
                    </a:p>
                  </a:txBody>
                  <a:tcPr marL="36576" marR="36576" marT="36576" marB="36576" anchor="t" anchorCtr="0" horzOverflow="overflow">
                    <a:lnL w="12700">
                      <a:solidFill>
                        <a:srgbClr val="D7DEE7"/>
                      </a:solidFill>
                    </a:lnL>
                    <a:lnR w="12700">
                      <a:solidFill>
                        <a:srgbClr val="D7DEE7"/>
                      </a:solidFill>
                    </a:lnR>
                    <a:lnT w="12700">
                      <a:solidFill>
                        <a:srgbClr val="D7DEE7"/>
                      </a:solidFill>
                    </a:lnT>
                    <a:lnB w="12700">
                      <a:solidFill>
                        <a:srgbClr val="D7DEE7"/>
                      </a:solidFill>
                    </a:lnB>
                    <a:solidFill>
                      <a:srgbClr val="FFFFFF"/>
                    </a:solidFill>
                  </a:tcPr>
                </a:tc>
              </a:tr>
              <a:tr h="457200">
                <a:tc>
                  <a:txBody>
                    <a:bodyPr/>
                    <a:lstStyle/>
                    <a:p>
                      <a:pPr algn="ctr">
                        <a:defRPr sz="1800"/>
                      </a:pPr>
                      <a:r>
                        <a:rPr sz="1900"/>
                        <a:t>k = 3</a:t>
                      </a:r>
                    </a:p>
                  </a:txBody>
                  <a:tcPr marL="36576" marR="36576" marT="36576" marB="36576" anchor="t" anchorCtr="0" horzOverflow="overflow">
                    <a:lnL w="12700">
                      <a:solidFill>
                        <a:srgbClr val="D7DEE7"/>
                      </a:solidFill>
                    </a:lnL>
                    <a:lnR w="12700">
                      <a:solidFill>
                        <a:srgbClr val="D7DEE7"/>
                      </a:solidFill>
                    </a:lnR>
                    <a:lnT w="12700">
                      <a:solidFill>
                        <a:srgbClr val="D7DEE7"/>
                      </a:solidFill>
                    </a:lnT>
                    <a:lnB w="12700">
                      <a:solidFill>
                        <a:srgbClr val="D7DEE7"/>
                      </a:solidFill>
                    </a:lnB>
                    <a:solidFill>
                      <a:srgbClr val="FFFFFF"/>
                    </a:solidFill>
                  </a:tcPr>
                </a:tc>
                <a:tc>
                  <a:txBody>
                    <a:bodyPr/>
                    <a:lstStyle/>
                    <a:p>
                      <a:pPr algn="ctr">
                        <a:defRPr sz="1800"/>
                      </a:pPr>
                      <a:r>
                        <a:rPr sz="1900"/>
                        <a:t>10</a:t>
                      </a:r>
                    </a:p>
                  </a:txBody>
                  <a:tcPr marL="36576" marR="36576" marT="36576" marB="36576" anchor="t" anchorCtr="0" horzOverflow="overflow">
                    <a:lnL w="12700">
                      <a:solidFill>
                        <a:srgbClr val="D7DEE7"/>
                      </a:solidFill>
                    </a:lnL>
                    <a:lnR w="12700">
                      <a:solidFill>
                        <a:srgbClr val="D7DEE7"/>
                      </a:solidFill>
                    </a:lnR>
                    <a:lnT w="12700">
                      <a:solidFill>
                        <a:srgbClr val="D7DEE7"/>
                      </a:solidFill>
                    </a:lnT>
                    <a:lnB w="12700">
                      <a:solidFill>
                        <a:srgbClr val="D7DEE7"/>
                      </a:solidFill>
                    </a:lnB>
                    <a:solidFill>
                      <a:srgbClr val="FFFFFF"/>
                    </a:solidFill>
                  </a:tcPr>
                </a:tc>
              </a:tr>
              <a:tr h="457200">
                <a:tc>
                  <a:txBody>
                    <a:bodyPr/>
                    <a:lstStyle/>
                    <a:p>
                      <a:pPr algn="ctr">
                        <a:defRPr sz="1800"/>
                      </a:pPr>
                      <a:r>
                        <a:rPr sz="1900"/>
                        <a:t>k = 4</a:t>
                      </a:r>
                    </a:p>
                  </a:txBody>
                  <a:tcPr marL="36576" marR="36576" marT="36576" marB="36576" anchor="t" anchorCtr="0" horzOverflow="overflow">
                    <a:lnL w="12700">
                      <a:solidFill>
                        <a:srgbClr val="D7DEE7"/>
                      </a:solidFill>
                    </a:lnL>
                    <a:lnR w="12700">
                      <a:solidFill>
                        <a:srgbClr val="D7DEE7"/>
                      </a:solidFill>
                    </a:lnR>
                    <a:lnT w="12700">
                      <a:solidFill>
                        <a:srgbClr val="D7DEE7"/>
                      </a:solidFill>
                    </a:lnT>
                    <a:lnB w="12700">
                      <a:solidFill>
                        <a:srgbClr val="D7DEE7"/>
                      </a:solidFill>
                    </a:lnB>
                    <a:solidFill>
                      <a:srgbClr val="FFFFFF"/>
                    </a:solidFill>
                  </a:tcPr>
                </a:tc>
                <a:tc>
                  <a:txBody>
                    <a:bodyPr/>
                    <a:lstStyle/>
                    <a:p>
                      <a:pPr algn="ctr">
                        <a:defRPr sz="1800"/>
                      </a:pPr>
                      <a:r>
                        <a:rPr sz="1900"/>
                        <a:t>15</a:t>
                      </a:r>
                    </a:p>
                  </a:txBody>
                  <a:tcPr marL="36576" marR="36576" marT="36576" marB="36576" anchor="t" anchorCtr="0" horzOverflow="overflow">
                    <a:lnL w="12700">
                      <a:solidFill>
                        <a:srgbClr val="D7DEE7"/>
                      </a:solidFill>
                    </a:lnL>
                    <a:lnR w="12700">
                      <a:solidFill>
                        <a:srgbClr val="D7DEE7"/>
                      </a:solidFill>
                    </a:lnR>
                    <a:lnT w="12700">
                      <a:solidFill>
                        <a:srgbClr val="D7DEE7"/>
                      </a:solidFill>
                    </a:lnT>
                    <a:lnB w="12700">
                      <a:solidFill>
                        <a:srgbClr val="D7DEE7"/>
                      </a:solidFill>
                    </a:lnB>
                    <a:solidFill>
                      <a:srgbClr val="FFFFFF"/>
                    </a:solidFill>
                  </a:tcPr>
                </a:tc>
              </a:tr>
              <a:tr h="457200">
                <a:tc>
                  <a:txBody>
                    <a:bodyPr/>
                    <a:lstStyle/>
                    <a:p>
                      <a:pPr algn="ctr">
                        <a:defRPr sz="1800"/>
                      </a:pPr>
                      <a:r>
                        <a:rPr sz="1900"/>
                        <a:t>k = 5</a:t>
                      </a:r>
                    </a:p>
                  </a:txBody>
                  <a:tcPr marL="36576" marR="36576" marT="36576" marB="36576" anchor="t" anchorCtr="0" horzOverflow="overflow">
                    <a:lnL w="12700">
                      <a:solidFill>
                        <a:srgbClr val="D7DEE7"/>
                      </a:solidFill>
                    </a:lnL>
                    <a:lnR w="12700">
                      <a:solidFill>
                        <a:srgbClr val="D7DEE7"/>
                      </a:solidFill>
                    </a:lnR>
                    <a:lnT w="12700">
                      <a:solidFill>
                        <a:srgbClr val="D7DEE7"/>
                      </a:solidFill>
                    </a:lnT>
                    <a:lnB w="12700">
                      <a:solidFill>
                        <a:srgbClr val="D7DEE7"/>
                      </a:solidFill>
                    </a:lnB>
                    <a:solidFill>
                      <a:srgbClr val="FFFFFF"/>
                    </a:solidFill>
                  </a:tcPr>
                </a:tc>
                <a:tc>
                  <a:txBody>
                    <a:bodyPr/>
                    <a:lstStyle/>
                    <a:p>
                      <a:pPr algn="ctr">
                        <a:defRPr sz="1800"/>
                      </a:pPr>
                      <a:r>
                        <a:rPr sz="1900"/>
                        <a:t>11</a:t>
                      </a:r>
                    </a:p>
                  </a:txBody>
                  <a:tcPr marL="36576" marR="36576" marT="36576" marB="36576" anchor="t" anchorCtr="0" horzOverflow="overflow">
                    <a:lnL w="12700">
                      <a:solidFill>
                        <a:srgbClr val="D7DEE7"/>
                      </a:solidFill>
                    </a:lnL>
                    <a:lnR w="12700">
                      <a:solidFill>
                        <a:srgbClr val="D7DEE7"/>
                      </a:solidFill>
                    </a:lnR>
                    <a:lnT w="12700">
                      <a:solidFill>
                        <a:srgbClr val="D7DEE7"/>
                      </a:solidFill>
                    </a:lnT>
                    <a:lnB w="12700">
                      <a:solidFill>
                        <a:srgbClr val="D7DEE7"/>
                      </a:solidFill>
                    </a:lnB>
                    <a:solidFill>
                      <a:srgbClr val="FFFFFF"/>
                    </a:solidFill>
                  </a:tcPr>
                </a:tc>
              </a:tr>
            </a:tbl>
          </a:graphicData>
        </a:graphic>
      </p:graphicFrame>
      <p:sp>
        <p:nvSpPr>
          <p:cNvPr id="154" name="Shape 5"/>
          <p:cNvSpPr/>
          <p:nvPr/>
        </p:nvSpPr>
        <p:spPr>
          <a:xfrm>
            <a:off x="1005839" y="4617720"/>
            <a:ext cx="3931922" cy="1097281"/>
          </a:xfrm>
          <a:prstGeom prst="roundRect">
            <a:avLst>
              <a:gd name="adj" fmla="val 10000"/>
            </a:avLst>
          </a:prstGeom>
          <a:solidFill>
            <a:srgbClr val="FBEDEA"/>
          </a:solidFill>
          <a:ln w="12700">
            <a:solidFill>
              <a:srgbClr val="C84A3A"/>
            </a:solidFill>
          </a:ln>
          <a:effectLst>
            <a:outerShdw sx="100000" sy="100000" kx="0" ky="0" algn="b" rotWithShape="0" blurRad="25400" dist="12700" dir="2700000">
              <a:srgbClr val="000000">
                <a:alpha val="10000"/>
              </a:srgbClr>
            </a:outerShdw>
          </a:effectLst>
        </p:spPr>
        <p:txBody>
          <a:bodyPr lIns="45719" rIns="45719"/>
          <a:lstStyle/>
          <a:p>
            <a:pPr/>
          </a:p>
        </p:txBody>
      </p:sp>
      <p:sp>
        <p:nvSpPr>
          <p:cNvPr id="155" name="Text 6"/>
          <p:cNvSpPr txBox="1"/>
          <p:nvPr/>
        </p:nvSpPr>
        <p:spPr>
          <a:xfrm>
            <a:off x="1234439" y="4919471"/>
            <a:ext cx="3474722" cy="475488"/>
          </a:xfrm>
          <a:prstGeom prst="rect">
            <a:avLst/>
          </a:prstGeom>
          <a:ln w="12700">
            <a:miter lim="400000"/>
          </a:ln>
          <a:extLst>
            <a:ext uri="{C572A759-6A51-4108-AA02-DFA0A04FC94B}">
              <ma14:wrappingTextBoxFlag xmlns:ma14="http://schemas.microsoft.com/office/mac/drawingml/2011/main" val="1"/>
            </a:ext>
          </a:extLst>
        </p:spPr>
        <p:txBody>
          <a:bodyPr lIns="507" tIns="507" rIns="507" bIns="507">
            <a:normAutofit fontScale="100000" lnSpcReduction="0"/>
          </a:bodyPr>
          <a:lstStyle>
            <a:lvl1pPr defTabSz="621791">
              <a:lnSpc>
                <a:spcPct val="110000"/>
              </a:lnSpc>
              <a:defRPr b="1" sz="1292">
                <a:solidFill>
                  <a:srgbClr val="C84A3A"/>
                </a:solidFill>
              </a:defRPr>
            </a:lvl1pPr>
          </a:lstStyle>
          <a:p>
            <a:pPr/>
            <a:r>
              <a:t>If we pick k = 1 only because it won this one contest, the “best” score may just be luck.</a:t>
            </a:r>
          </a:p>
        </p:txBody>
      </p:sp>
      <p:sp>
        <p:nvSpPr>
          <p:cNvPr id="156" name="Text 7"/>
          <p:cNvSpPr txBox="1"/>
          <p:nvPr/>
        </p:nvSpPr>
        <p:spPr>
          <a:xfrm>
            <a:off x="5577840" y="1097280"/>
            <a:ext cx="5989321" cy="1828801"/>
          </a:xfrm>
          <a:prstGeom prst="rect">
            <a:avLst/>
          </a:prstGeom>
          <a:ln w="12700">
            <a:miter lim="400000"/>
          </a:ln>
          <a:extLst>
            <a:ext uri="{C572A759-6A51-4108-AA02-DFA0A04FC94B}">
              <ma14:wrappingTextBoxFlag xmlns:ma14="http://schemas.microsoft.com/office/mac/drawingml/2011/main" val="1"/>
            </a:ext>
          </a:extLst>
        </p:spPr>
        <p:txBody>
          <a:bodyPr lIns="507" tIns="507" rIns="507" bIns="507">
            <a:normAutofit fontScale="100000" lnSpcReduction="0"/>
          </a:bodyPr>
          <a:lstStyle>
            <a:lvl1pPr>
              <a:lnSpc>
                <a:spcPct val="110000"/>
              </a:lnSpc>
              <a:defRPr sz="2000">
                <a:solidFill>
                  <a:srgbClr val="1E293B"/>
                </a:solidFill>
              </a:defRPr>
            </a:lvl1pPr>
          </a:lstStyle>
          <a:p>
            <a:pPr/>
            <a:r>
              <a:t>Even after we hide a test set, we can still misuse it. If we try many hyperparameter values, compare all of them on the same test set, and then choose the winner, we start overfitting our choice to the test data.</a:t>
            </a:r>
          </a:p>
        </p:txBody>
      </p:sp>
      <p:sp>
        <p:nvSpPr>
          <p:cNvPr id="157" name="Text 8"/>
          <p:cNvSpPr txBox="1"/>
          <p:nvPr/>
        </p:nvSpPr>
        <p:spPr>
          <a:xfrm>
            <a:off x="5577840" y="3291840"/>
            <a:ext cx="5989321" cy="1828801"/>
          </a:xfrm>
          <a:prstGeom prst="rect">
            <a:avLst/>
          </a:prstGeom>
          <a:ln w="12700">
            <a:miter lim="400000"/>
          </a:ln>
          <a:extLst>
            <a:ext uri="{C572A759-6A51-4108-AA02-DFA0A04FC94B}">
              <ma14:wrappingTextBoxFlag xmlns:ma14="http://schemas.microsoft.com/office/mac/drawingml/2011/main" val="1"/>
            </a:ext>
          </a:extLst>
        </p:spPr>
        <p:txBody>
          <a:bodyPr lIns="507" tIns="507" rIns="507" bIns="507">
            <a:normAutofit fontScale="100000" lnSpcReduction="0"/>
          </a:bodyPr>
          <a:lstStyle>
            <a:lvl1pPr>
              <a:lnSpc>
                <a:spcPct val="110000"/>
              </a:lnSpc>
              <a:defRPr sz="2000">
                <a:solidFill>
                  <a:srgbClr val="1E293B"/>
                </a:solidFill>
              </a:defRPr>
            </a:lvl1pPr>
          </a:lstStyle>
          <a:p>
            <a:pPr/>
            <a:r>
              <a:t>In other words, we did not necessarily find the truly best model. We may have found the model that got lucky on this particular sample. This is where we use k-nearest neighbors as the example (that’s another lesson lol).</a:t>
            </a:r>
          </a:p>
        </p:txBody>
      </p:sp>
      <p:sp>
        <p:nvSpPr>
          <p:cNvPr id="158" name="Text 9"/>
          <p:cNvSpPr txBox="1"/>
          <p:nvPr/>
        </p:nvSpPr>
        <p:spPr>
          <a:xfrm>
            <a:off x="11475719" y="6489192"/>
            <a:ext cx="320041" cy="15240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lgn="r">
              <a:defRPr sz="1000">
                <a:solidFill>
                  <a:srgbClr val="64748B"/>
                </a:solidFill>
              </a:defRPr>
            </a:lvl1pPr>
          </a:lstStyle>
          <a:p>
            <a:pPr/>
            <a:r>
              <a:t>9</a:t>
            </a:r>
          </a:p>
        </p:txBody>
      </p:sp>
    </p:spTree>
  </p:cSld>
  <p:clrMapOvr>
    <a:masterClrMapping/>
  </p:clrMapOvr>
  <p:transition xmlns:p14="http://schemas.microsoft.com/office/powerpoint/2010/main" spd="med" advClick="1"/>
</p:sld>
</file>

<file path=ppt/slides/slide13.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bg>
      <p:bgPr>
        <a:solidFill>
          <a:srgbClr val="FCFCFD"/>
        </a:solidFill>
      </p:bgPr>
    </p:bg>
    <p:spTree>
      <p:nvGrpSpPr>
        <p:cNvPr id="1" name=""/>
        <p:cNvGrpSpPr/>
        <p:nvPr/>
      </p:nvGrpSpPr>
      <p:grpSpPr>
        <a:xfrm>
          <a:off x="0" y="0"/>
          <a:ext cx="0" cy="0"/>
          <a:chOff x="0" y="0"/>
          <a:chExt cx="0" cy="0"/>
        </a:xfrm>
      </p:grpSpPr>
      <p:sp>
        <p:nvSpPr>
          <p:cNvPr id="162" name="Shape 0"/>
          <p:cNvSpPr/>
          <p:nvPr/>
        </p:nvSpPr>
        <p:spPr>
          <a:xfrm>
            <a:off x="-1" y="0"/>
            <a:ext cx="12191697" cy="384048"/>
          </a:xfrm>
          <a:prstGeom prst="rect">
            <a:avLst/>
          </a:prstGeom>
          <a:solidFill>
            <a:srgbClr val="2F8F69"/>
          </a:solidFill>
          <a:ln w="12700">
            <a:solidFill>
              <a:srgbClr val="2F8F69"/>
            </a:solidFill>
          </a:ln>
        </p:spPr>
        <p:txBody>
          <a:bodyPr lIns="45719" rIns="45719"/>
          <a:lstStyle/>
          <a:p>
            <a:pPr/>
          </a:p>
        </p:txBody>
      </p:sp>
      <p:sp>
        <p:nvSpPr>
          <p:cNvPr id="163" name="Text 1"/>
          <p:cNvSpPr txBox="1"/>
          <p:nvPr/>
        </p:nvSpPr>
        <p:spPr>
          <a:xfrm>
            <a:off x="411480" y="-19558"/>
            <a:ext cx="8961120" cy="36830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b="1" sz="2400">
                <a:solidFill>
                  <a:srgbClr val="FFFFFF"/>
                </a:solidFill>
                <a:latin typeface="Aptos Display"/>
                <a:ea typeface="Aptos Display"/>
                <a:cs typeface="Aptos Display"/>
                <a:sym typeface="Aptos Display"/>
              </a:defRPr>
            </a:lvl1pPr>
          </a:lstStyle>
          <a:p>
            <a:pPr/>
            <a:r>
              <a:t>The modern recipe: train, validation, test</a:t>
            </a:r>
          </a:p>
        </p:txBody>
      </p:sp>
      <p:sp>
        <p:nvSpPr>
          <p:cNvPr id="164" name="Text 2"/>
          <p:cNvSpPr txBox="1"/>
          <p:nvPr/>
        </p:nvSpPr>
        <p:spPr>
          <a:xfrm>
            <a:off x="9966959" y="82041"/>
            <a:ext cx="1737361" cy="16510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lgn="r">
              <a:defRPr sz="1100">
                <a:solidFill>
                  <a:srgbClr val="F8FAFC"/>
                </a:solidFill>
              </a:defRPr>
            </a:lvl1pPr>
          </a:lstStyle>
          <a:p>
            <a:pPr/>
            <a:r>
              <a:t>Model Evaluation</a:t>
            </a:r>
          </a:p>
        </p:txBody>
      </p:sp>
      <p:sp>
        <p:nvSpPr>
          <p:cNvPr id="165" name="Shape 3"/>
          <p:cNvSpPr/>
          <p:nvPr/>
        </p:nvSpPr>
        <p:spPr>
          <a:xfrm>
            <a:off x="640080" y="960119"/>
            <a:ext cx="10972801" cy="1965962"/>
          </a:xfrm>
          <a:prstGeom prst="roundRect">
            <a:avLst>
              <a:gd name="adj" fmla="val 5581"/>
            </a:avLst>
          </a:prstGeom>
          <a:solidFill>
            <a:srgbClr val="FFFFFF"/>
          </a:solidFill>
          <a:ln w="12700">
            <a:solidFill>
              <a:srgbClr val="D7DEE7"/>
            </a:solidFill>
          </a:ln>
          <a:effectLst>
            <a:outerShdw sx="100000" sy="100000" kx="0" ky="0" algn="b" rotWithShape="0" blurRad="25400" dist="12700" dir="2700000">
              <a:srgbClr val="000000">
                <a:alpha val="10000"/>
              </a:srgbClr>
            </a:outerShdw>
          </a:effectLst>
        </p:spPr>
        <p:txBody>
          <a:bodyPr lIns="45719" rIns="45719"/>
          <a:lstStyle/>
          <a:p>
            <a:pPr/>
          </a:p>
        </p:txBody>
      </p:sp>
      <p:sp>
        <p:nvSpPr>
          <p:cNvPr id="166" name="Shape 4"/>
          <p:cNvSpPr/>
          <p:nvPr/>
        </p:nvSpPr>
        <p:spPr>
          <a:xfrm>
            <a:off x="914400" y="1627632"/>
            <a:ext cx="4572000" cy="777241"/>
          </a:xfrm>
          <a:prstGeom prst="roundRect">
            <a:avLst>
              <a:gd name="adj" fmla="val 14118"/>
            </a:avLst>
          </a:prstGeom>
          <a:solidFill>
            <a:srgbClr val="EAF3FB"/>
          </a:solidFill>
          <a:ln w="12700">
            <a:solidFill>
              <a:srgbClr val="2C6EAF"/>
            </a:solidFill>
          </a:ln>
          <a:effectLst>
            <a:outerShdw sx="100000" sy="100000" kx="0" ky="0" algn="b" rotWithShape="0" blurRad="25400" dist="12700" dir="2700000">
              <a:srgbClr val="000000">
                <a:alpha val="10000"/>
              </a:srgbClr>
            </a:outerShdw>
          </a:effectLst>
        </p:spPr>
        <p:txBody>
          <a:bodyPr lIns="45719" rIns="45719"/>
          <a:lstStyle/>
          <a:p>
            <a:pPr/>
          </a:p>
        </p:txBody>
      </p:sp>
      <p:sp>
        <p:nvSpPr>
          <p:cNvPr id="167" name="Text 5"/>
          <p:cNvSpPr txBox="1"/>
          <p:nvPr/>
        </p:nvSpPr>
        <p:spPr>
          <a:xfrm>
            <a:off x="2788920" y="1883664"/>
            <a:ext cx="822961" cy="182881"/>
          </a:xfrm>
          <a:prstGeom prst="rect">
            <a:avLst/>
          </a:prstGeom>
          <a:ln w="12700">
            <a:miter lim="400000"/>
          </a:ln>
          <a:extLst>
            <a:ext uri="{C572A759-6A51-4108-AA02-DFA0A04FC94B}">
              <ma14:wrappingTextBoxFlag xmlns:ma14="http://schemas.microsoft.com/office/mac/drawingml/2011/main" val="1"/>
            </a:ext>
          </a:extLst>
        </p:spPr>
        <p:txBody>
          <a:bodyPr lIns="507" tIns="507" rIns="507" bIns="507" anchor="ctr">
            <a:normAutofit fontScale="100000" lnSpcReduction="0"/>
          </a:bodyPr>
          <a:lstStyle>
            <a:lvl1pPr defTabSz="411479">
              <a:lnSpc>
                <a:spcPct val="110000"/>
              </a:lnSpc>
              <a:defRPr b="1" sz="1079">
                <a:solidFill>
                  <a:srgbClr val="2C6EAF"/>
                </a:solidFill>
              </a:defRPr>
            </a:lvl1pPr>
          </a:lstStyle>
          <a:p>
            <a:pPr/>
            <a:r>
              <a:t>Train</a:t>
            </a:r>
          </a:p>
        </p:txBody>
      </p:sp>
      <p:sp>
        <p:nvSpPr>
          <p:cNvPr id="168" name="Shape 6"/>
          <p:cNvSpPr/>
          <p:nvPr/>
        </p:nvSpPr>
        <p:spPr>
          <a:xfrm>
            <a:off x="5669279" y="1627632"/>
            <a:ext cx="2743201" cy="777241"/>
          </a:xfrm>
          <a:prstGeom prst="roundRect">
            <a:avLst>
              <a:gd name="adj" fmla="val 14118"/>
            </a:avLst>
          </a:prstGeom>
          <a:solidFill>
            <a:srgbClr val="FFF6E5"/>
          </a:solidFill>
          <a:ln w="12700">
            <a:solidFill>
              <a:srgbClr val="D99B2B"/>
            </a:solidFill>
          </a:ln>
          <a:effectLst>
            <a:outerShdw sx="100000" sy="100000" kx="0" ky="0" algn="b" rotWithShape="0" blurRad="25400" dist="12700" dir="2700000">
              <a:srgbClr val="000000">
                <a:alpha val="10000"/>
              </a:srgbClr>
            </a:outerShdw>
          </a:effectLst>
        </p:spPr>
        <p:txBody>
          <a:bodyPr lIns="45719" rIns="45719"/>
          <a:lstStyle/>
          <a:p>
            <a:pPr/>
          </a:p>
        </p:txBody>
      </p:sp>
      <p:sp>
        <p:nvSpPr>
          <p:cNvPr id="169" name="Text 7"/>
          <p:cNvSpPr txBox="1"/>
          <p:nvPr/>
        </p:nvSpPr>
        <p:spPr>
          <a:xfrm>
            <a:off x="6355079" y="1883664"/>
            <a:ext cx="1371601" cy="182881"/>
          </a:xfrm>
          <a:prstGeom prst="rect">
            <a:avLst/>
          </a:prstGeom>
          <a:ln w="12700">
            <a:miter lim="400000"/>
          </a:ln>
          <a:extLst>
            <a:ext uri="{C572A759-6A51-4108-AA02-DFA0A04FC94B}">
              <ma14:wrappingTextBoxFlag xmlns:ma14="http://schemas.microsoft.com/office/mac/drawingml/2011/main" val="1"/>
            </a:ext>
          </a:extLst>
        </p:spPr>
        <p:txBody>
          <a:bodyPr lIns="507" tIns="507" rIns="507" bIns="507" anchor="ctr">
            <a:normAutofit fontScale="100000" lnSpcReduction="0"/>
          </a:bodyPr>
          <a:lstStyle>
            <a:lvl1pPr defTabSz="411479">
              <a:lnSpc>
                <a:spcPct val="110000"/>
              </a:lnSpc>
              <a:defRPr b="1" sz="1079">
                <a:solidFill>
                  <a:srgbClr val="D99B2B"/>
                </a:solidFill>
              </a:defRPr>
            </a:lvl1pPr>
          </a:lstStyle>
          <a:p>
            <a:pPr/>
            <a:r>
              <a:t>Validation</a:t>
            </a:r>
          </a:p>
        </p:txBody>
      </p:sp>
      <p:sp>
        <p:nvSpPr>
          <p:cNvPr id="170" name="Shape 8"/>
          <p:cNvSpPr/>
          <p:nvPr/>
        </p:nvSpPr>
        <p:spPr>
          <a:xfrm>
            <a:off x="8641080" y="1627632"/>
            <a:ext cx="2194561" cy="777241"/>
          </a:xfrm>
          <a:prstGeom prst="roundRect">
            <a:avLst>
              <a:gd name="adj" fmla="val 14118"/>
            </a:avLst>
          </a:prstGeom>
          <a:solidFill>
            <a:srgbClr val="EAF6F1"/>
          </a:solidFill>
          <a:ln w="12700">
            <a:solidFill>
              <a:srgbClr val="2F8F69"/>
            </a:solidFill>
          </a:ln>
          <a:effectLst>
            <a:outerShdw sx="100000" sy="100000" kx="0" ky="0" algn="b" rotWithShape="0" blurRad="25400" dist="12700" dir="2700000">
              <a:srgbClr val="000000">
                <a:alpha val="10000"/>
              </a:srgbClr>
            </a:outerShdw>
          </a:effectLst>
        </p:spPr>
        <p:txBody>
          <a:bodyPr lIns="45719" rIns="45719"/>
          <a:lstStyle/>
          <a:p>
            <a:pPr/>
          </a:p>
        </p:txBody>
      </p:sp>
      <p:sp>
        <p:nvSpPr>
          <p:cNvPr id="171" name="Text 9"/>
          <p:cNvSpPr txBox="1"/>
          <p:nvPr/>
        </p:nvSpPr>
        <p:spPr>
          <a:xfrm>
            <a:off x="9372600" y="1883664"/>
            <a:ext cx="731521" cy="182881"/>
          </a:xfrm>
          <a:prstGeom prst="rect">
            <a:avLst/>
          </a:prstGeom>
          <a:ln w="12700">
            <a:miter lim="400000"/>
          </a:ln>
          <a:extLst>
            <a:ext uri="{C572A759-6A51-4108-AA02-DFA0A04FC94B}">
              <ma14:wrappingTextBoxFlag xmlns:ma14="http://schemas.microsoft.com/office/mac/drawingml/2011/main" val="1"/>
            </a:ext>
          </a:extLst>
        </p:spPr>
        <p:txBody>
          <a:bodyPr lIns="507" tIns="507" rIns="507" bIns="507" anchor="ctr">
            <a:normAutofit fontScale="100000" lnSpcReduction="0"/>
          </a:bodyPr>
          <a:lstStyle>
            <a:lvl1pPr defTabSz="411479">
              <a:lnSpc>
                <a:spcPct val="110000"/>
              </a:lnSpc>
              <a:defRPr b="1" sz="1079">
                <a:solidFill>
                  <a:srgbClr val="2F8F69"/>
                </a:solidFill>
              </a:defRPr>
            </a:lvl1pPr>
          </a:lstStyle>
          <a:p>
            <a:pPr/>
            <a:r>
              <a:t>Test</a:t>
            </a:r>
          </a:p>
        </p:txBody>
      </p:sp>
      <p:sp>
        <p:nvSpPr>
          <p:cNvPr id="172" name="Shape 10"/>
          <p:cNvSpPr/>
          <p:nvPr/>
        </p:nvSpPr>
        <p:spPr>
          <a:xfrm>
            <a:off x="868680" y="3429000"/>
            <a:ext cx="3337560" cy="2148840"/>
          </a:xfrm>
          <a:prstGeom prst="roundRect">
            <a:avLst>
              <a:gd name="adj" fmla="val 5106"/>
            </a:avLst>
          </a:prstGeom>
          <a:solidFill>
            <a:srgbClr val="FFFFFF"/>
          </a:solidFill>
          <a:ln w="12700">
            <a:solidFill>
              <a:srgbClr val="D7DEE7"/>
            </a:solidFill>
          </a:ln>
          <a:effectLst>
            <a:outerShdw sx="100000" sy="100000" kx="0" ky="0" algn="b" rotWithShape="0" blurRad="25400" dist="12700" dir="2700000">
              <a:srgbClr val="000000">
                <a:alpha val="10000"/>
              </a:srgbClr>
            </a:outerShdw>
          </a:effectLst>
        </p:spPr>
        <p:txBody>
          <a:bodyPr lIns="45719" rIns="45719"/>
          <a:lstStyle/>
          <a:p>
            <a:pPr/>
          </a:p>
        </p:txBody>
      </p:sp>
      <p:sp>
        <p:nvSpPr>
          <p:cNvPr id="173" name="Text 11"/>
          <p:cNvSpPr txBox="1"/>
          <p:nvPr/>
        </p:nvSpPr>
        <p:spPr>
          <a:xfrm>
            <a:off x="1143000" y="3794759"/>
            <a:ext cx="2743200" cy="685801"/>
          </a:xfrm>
          <a:prstGeom prst="rect">
            <a:avLst/>
          </a:prstGeom>
          <a:ln w="12700">
            <a:miter lim="400000"/>
          </a:ln>
          <a:extLst>
            <a:ext uri="{C572A759-6A51-4108-AA02-DFA0A04FC94B}">
              <ma14:wrappingTextBoxFlag xmlns:ma14="http://schemas.microsoft.com/office/mac/drawingml/2011/main" val="1"/>
            </a:ext>
          </a:extLst>
        </p:spPr>
        <p:txBody>
          <a:bodyPr lIns="507" tIns="507" rIns="507" bIns="507">
            <a:normAutofit fontScale="100000" lnSpcReduction="0"/>
          </a:bodyPr>
          <a:lstStyle/>
          <a:p>
            <a:pPr defTabSz="557784">
              <a:lnSpc>
                <a:spcPct val="110000"/>
              </a:lnSpc>
              <a:defRPr b="1" sz="1342">
                <a:solidFill>
                  <a:srgbClr val="1E293B"/>
                </a:solidFill>
              </a:defRPr>
            </a:pPr>
            <a:r>
              <a:t>Train</a:t>
            </a:r>
          </a:p>
          <a:p>
            <a:pPr defTabSz="557784">
              <a:lnSpc>
                <a:spcPct val="110000"/>
              </a:lnSpc>
              <a:defRPr b="1" sz="1342">
                <a:solidFill>
                  <a:srgbClr val="1E293B"/>
                </a:solidFill>
              </a:defRPr>
            </a:pPr>
            <a:r>
              <a:t>Use this data to fit candidate models.</a:t>
            </a:r>
          </a:p>
        </p:txBody>
      </p:sp>
      <p:sp>
        <p:nvSpPr>
          <p:cNvPr id="174" name="Shape 12"/>
          <p:cNvSpPr/>
          <p:nvPr/>
        </p:nvSpPr>
        <p:spPr>
          <a:xfrm>
            <a:off x="4434840" y="3429000"/>
            <a:ext cx="3337560" cy="2148840"/>
          </a:xfrm>
          <a:prstGeom prst="roundRect">
            <a:avLst>
              <a:gd name="adj" fmla="val 5106"/>
            </a:avLst>
          </a:prstGeom>
          <a:solidFill>
            <a:srgbClr val="FFFFFF"/>
          </a:solidFill>
          <a:ln w="12700">
            <a:solidFill>
              <a:srgbClr val="D7DEE7"/>
            </a:solidFill>
          </a:ln>
          <a:effectLst>
            <a:outerShdw sx="100000" sy="100000" kx="0" ky="0" algn="b" rotWithShape="0" blurRad="25400" dist="12700" dir="2700000">
              <a:srgbClr val="000000">
                <a:alpha val="10000"/>
              </a:srgbClr>
            </a:outerShdw>
          </a:effectLst>
        </p:spPr>
        <p:txBody>
          <a:bodyPr lIns="45719" rIns="45719"/>
          <a:lstStyle/>
          <a:p>
            <a:pPr/>
          </a:p>
        </p:txBody>
      </p:sp>
      <p:sp>
        <p:nvSpPr>
          <p:cNvPr id="175" name="Text 13"/>
          <p:cNvSpPr txBox="1"/>
          <p:nvPr/>
        </p:nvSpPr>
        <p:spPr>
          <a:xfrm>
            <a:off x="4709159" y="3703320"/>
            <a:ext cx="2743201" cy="868681"/>
          </a:xfrm>
          <a:prstGeom prst="rect">
            <a:avLst/>
          </a:prstGeom>
          <a:ln w="12700">
            <a:miter lim="400000"/>
          </a:ln>
          <a:extLst>
            <a:ext uri="{C572A759-6A51-4108-AA02-DFA0A04FC94B}">
              <ma14:wrappingTextBoxFlag xmlns:ma14="http://schemas.microsoft.com/office/mac/drawingml/2011/main" val="1"/>
            </a:ext>
          </a:extLst>
        </p:spPr>
        <p:txBody>
          <a:bodyPr lIns="507" tIns="507" rIns="507" bIns="507">
            <a:normAutofit fontScale="100000" lnSpcReduction="0"/>
          </a:bodyPr>
          <a:lstStyle/>
          <a:p>
            <a:pPr defTabSz="512063">
              <a:lnSpc>
                <a:spcPct val="110000"/>
              </a:lnSpc>
              <a:defRPr b="1" sz="1232">
                <a:solidFill>
                  <a:srgbClr val="1E293B"/>
                </a:solidFill>
              </a:defRPr>
            </a:pPr>
            <a:r>
              <a:t>Validation</a:t>
            </a:r>
          </a:p>
          <a:p>
            <a:pPr defTabSz="512063">
              <a:lnSpc>
                <a:spcPct val="110000"/>
              </a:lnSpc>
              <a:defRPr b="1" sz="1232">
                <a:solidFill>
                  <a:srgbClr val="1E293B"/>
                </a:solidFill>
              </a:defRPr>
            </a:pPr>
            <a:r>
              <a:t>Use this data to compare models and choose settings such as tree depth or k.</a:t>
            </a:r>
          </a:p>
        </p:txBody>
      </p:sp>
      <p:sp>
        <p:nvSpPr>
          <p:cNvPr id="176" name="Shape 14"/>
          <p:cNvSpPr/>
          <p:nvPr/>
        </p:nvSpPr>
        <p:spPr>
          <a:xfrm>
            <a:off x="8001000" y="3429000"/>
            <a:ext cx="3337560" cy="2148840"/>
          </a:xfrm>
          <a:prstGeom prst="roundRect">
            <a:avLst>
              <a:gd name="adj" fmla="val 5106"/>
            </a:avLst>
          </a:prstGeom>
          <a:solidFill>
            <a:srgbClr val="FFFFFF"/>
          </a:solidFill>
          <a:ln w="12700">
            <a:solidFill>
              <a:srgbClr val="D7DEE7"/>
            </a:solidFill>
          </a:ln>
          <a:effectLst>
            <a:outerShdw sx="100000" sy="100000" kx="0" ky="0" algn="b" rotWithShape="0" blurRad="25400" dist="12700" dir="2700000">
              <a:srgbClr val="000000">
                <a:alpha val="10000"/>
              </a:srgbClr>
            </a:outerShdw>
          </a:effectLst>
        </p:spPr>
        <p:txBody>
          <a:bodyPr lIns="45719" rIns="45719"/>
          <a:lstStyle/>
          <a:p>
            <a:pPr/>
          </a:p>
        </p:txBody>
      </p:sp>
      <p:sp>
        <p:nvSpPr>
          <p:cNvPr id="177" name="Text 15"/>
          <p:cNvSpPr txBox="1"/>
          <p:nvPr/>
        </p:nvSpPr>
        <p:spPr>
          <a:xfrm>
            <a:off x="8275319" y="3767328"/>
            <a:ext cx="2743201" cy="731521"/>
          </a:xfrm>
          <a:prstGeom prst="rect">
            <a:avLst/>
          </a:prstGeom>
          <a:ln w="12700">
            <a:miter lim="400000"/>
          </a:ln>
          <a:extLst>
            <a:ext uri="{C572A759-6A51-4108-AA02-DFA0A04FC94B}">
              <ma14:wrappingTextBoxFlag xmlns:ma14="http://schemas.microsoft.com/office/mac/drawingml/2011/main" val="1"/>
            </a:ext>
          </a:extLst>
        </p:spPr>
        <p:txBody>
          <a:bodyPr lIns="507" tIns="507" rIns="507" bIns="507">
            <a:normAutofit fontScale="100000" lnSpcReduction="0"/>
          </a:bodyPr>
          <a:lstStyle/>
          <a:p>
            <a:pPr defTabSz="612648">
              <a:lnSpc>
                <a:spcPct val="110000"/>
              </a:lnSpc>
              <a:defRPr b="1" sz="1474">
                <a:solidFill>
                  <a:srgbClr val="1E293B"/>
                </a:solidFill>
              </a:defRPr>
            </a:pPr>
            <a:r>
              <a:t>Test</a:t>
            </a:r>
          </a:p>
          <a:p>
            <a:pPr defTabSz="612648">
              <a:lnSpc>
                <a:spcPct val="110000"/>
              </a:lnSpc>
              <a:defRPr b="1" sz="1474">
                <a:solidFill>
                  <a:srgbClr val="1E293B"/>
                </a:solidFill>
              </a:defRPr>
            </a:pPr>
            <a:r>
              <a:t>Use this only once, at the very end, for the final honest score.</a:t>
            </a:r>
          </a:p>
        </p:txBody>
      </p:sp>
      <p:sp>
        <p:nvSpPr>
          <p:cNvPr id="178" name="Shape 16"/>
          <p:cNvSpPr/>
          <p:nvPr/>
        </p:nvSpPr>
        <p:spPr>
          <a:xfrm>
            <a:off x="868680" y="5760720"/>
            <a:ext cx="10469881" cy="438913"/>
          </a:xfrm>
          <a:prstGeom prst="roundRect">
            <a:avLst>
              <a:gd name="adj" fmla="val 25000"/>
            </a:avLst>
          </a:prstGeom>
          <a:solidFill>
            <a:srgbClr val="EAF6F1"/>
          </a:solidFill>
          <a:ln w="12700">
            <a:solidFill>
              <a:srgbClr val="2F8F69"/>
            </a:solidFill>
          </a:ln>
          <a:effectLst>
            <a:outerShdw sx="100000" sy="100000" kx="0" ky="0" algn="b" rotWithShape="0" blurRad="25400" dist="12700" dir="2700000">
              <a:srgbClr val="000000">
                <a:alpha val="10000"/>
              </a:srgbClr>
            </a:outerShdw>
          </a:effectLst>
        </p:spPr>
        <p:txBody>
          <a:bodyPr lIns="45719" rIns="45719"/>
          <a:lstStyle/>
          <a:p>
            <a:pPr/>
          </a:p>
        </p:txBody>
      </p:sp>
      <p:sp>
        <p:nvSpPr>
          <p:cNvPr id="179" name="Text 17"/>
          <p:cNvSpPr txBox="1"/>
          <p:nvPr/>
        </p:nvSpPr>
        <p:spPr>
          <a:xfrm>
            <a:off x="1142999" y="5870447"/>
            <a:ext cx="9875522" cy="164593"/>
          </a:xfrm>
          <a:prstGeom prst="rect">
            <a:avLst/>
          </a:prstGeom>
          <a:ln w="12700">
            <a:miter lim="400000"/>
          </a:ln>
          <a:extLst>
            <a:ext uri="{C572A759-6A51-4108-AA02-DFA0A04FC94B}">
              <ma14:wrappingTextBoxFlag xmlns:ma14="http://schemas.microsoft.com/office/mac/drawingml/2011/main" val="1"/>
            </a:ext>
          </a:extLst>
        </p:spPr>
        <p:txBody>
          <a:bodyPr lIns="507" tIns="507" rIns="507" bIns="507" anchor="ctr">
            <a:normAutofit fontScale="100000" lnSpcReduction="0"/>
          </a:bodyPr>
          <a:lstStyle>
            <a:lvl1pPr defTabSz="521208">
              <a:lnSpc>
                <a:spcPct val="110000"/>
              </a:lnSpc>
              <a:defRPr b="1" sz="1083">
                <a:solidFill>
                  <a:srgbClr val="2F8F69"/>
                </a:solidFill>
              </a:defRPr>
            </a:lvl1pPr>
          </a:lstStyle>
          <a:p>
            <a:pPr/>
            <a:r>
              <a:t>Short rule: validation is for choosing; test is for reporting.</a:t>
            </a:r>
          </a:p>
        </p:txBody>
      </p:sp>
      <p:sp>
        <p:nvSpPr>
          <p:cNvPr id="180" name="Text 18"/>
          <p:cNvSpPr txBox="1"/>
          <p:nvPr/>
        </p:nvSpPr>
        <p:spPr>
          <a:xfrm>
            <a:off x="11475719" y="6489192"/>
            <a:ext cx="320041" cy="15240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lgn="r">
              <a:defRPr sz="1000">
                <a:solidFill>
                  <a:srgbClr val="64748B"/>
                </a:solidFill>
              </a:defRPr>
            </a:lvl1pPr>
          </a:lstStyle>
          <a:p>
            <a:pPr/>
            <a:r>
              <a:t>10</a:t>
            </a:r>
          </a:p>
        </p:txBody>
      </p:sp>
    </p:spTree>
  </p:cSld>
  <p:clrMapOvr>
    <a:masterClrMapping/>
  </p:clrMapOvr>
  <p:transition xmlns:p14="http://schemas.microsoft.com/office/powerpoint/2010/main" spd="med" advClick="1"/>
</p:sld>
</file>

<file path=ppt/slides/slide14.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bg>
      <p:bgPr>
        <a:solidFill>
          <a:srgbClr val="FCFCFD"/>
        </a:solidFill>
      </p:bgPr>
    </p:bg>
    <p:spTree>
      <p:nvGrpSpPr>
        <p:cNvPr id="1" name=""/>
        <p:cNvGrpSpPr/>
        <p:nvPr/>
      </p:nvGrpSpPr>
      <p:grpSpPr>
        <a:xfrm>
          <a:off x="0" y="0"/>
          <a:ext cx="0" cy="0"/>
          <a:chOff x="0" y="0"/>
          <a:chExt cx="0" cy="0"/>
        </a:xfrm>
      </p:grpSpPr>
      <p:sp>
        <p:nvSpPr>
          <p:cNvPr id="182" name="Shape 0"/>
          <p:cNvSpPr/>
          <p:nvPr/>
        </p:nvSpPr>
        <p:spPr>
          <a:xfrm>
            <a:off x="-1" y="0"/>
            <a:ext cx="12191697" cy="384048"/>
          </a:xfrm>
          <a:prstGeom prst="rect">
            <a:avLst/>
          </a:prstGeom>
          <a:solidFill>
            <a:srgbClr val="2F8F69"/>
          </a:solidFill>
          <a:ln w="12700">
            <a:solidFill>
              <a:srgbClr val="2F8F69"/>
            </a:solidFill>
          </a:ln>
        </p:spPr>
        <p:txBody>
          <a:bodyPr lIns="45719" rIns="45719"/>
          <a:lstStyle/>
          <a:p>
            <a:pPr/>
          </a:p>
        </p:txBody>
      </p:sp>
      <p:sp>
        <p:nvSpPr>
          <p:cNvPr id="183" name="Text 1"/>
          <p:cNvSpPr txBox="1"/>
          <p:nvPr/>
        </p:nvSpPr>
        <p:spPr>
          <a:xfrm>
            <a:off x="411480" y="-19558"/>
            <a:ext cx="8961120" cy="36830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b="1" sz="2400">
                <a:solidFill>
                  <a:srgbClr val="FFFFFF"/>
                </a:solidFill>
                <a:latin typeface="Aptos Display"/>
                <a:ea typeface="Aptos Display"/>
                <a:cs typeface="Aptos Display"/>
                <a:sym typeface="Aptos Display"/>
              </a:defRPr>
            </a:lvl1pPr>
          </a:lstStyle>
          <a:p>
            <a:pPr/>
            <a:r>
              <a:t>The modern recipe: train, validation, test</a:t>
            </a:r>
          </a:p>
        </p:txBody>
      </p:sp>
      <p:sp>
        <p:nvSpPr>
          <p:cNvPr id="184" name="Text 2"/>
          <p:cNvSpPr txBox="1"/>
          <p:nvPr/>
        </p:nvSpPr>
        <p:spPr>
          <a:xfrm>
            <a:off x="9966959" y="82041"/>
            <a:ext cx="1737361" cy="16510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lgn="r">
              <a:defRPr sz="1100">
                <a:solidFill>
                  <a:srgbClr val="F8FAFC"/>
                </a:solidFill>
              </a:defRPr>
            </a:lvl1pPr>
          </a:lstStyle>
          <a:p>
            <a:pPr/>
            <a:r>
              <a:t>Model Evaluation</a:t>
            </a:r>
          </a:p>
        </p:txBody>
      </p:sp>
      <p:sp>
        <p:nvSpPr>
          <p:cNvPr id="185" name="Shape 3"/>
          <p:cNvSpPr/>
          <p:nvPr/>
        </p:nvSpPr>
        <p:spPr>
          <a:xfrm>
            <a:off x="640080" y="960119"/>
            <a:ext cx="10972801" cy="1965962"/>
          </a:xfrm>
          <a:prstGeom prst="roundRect">
            <a:avLst>
              <a:gd name="adj" fmla="val 5581"/>
            </a:avLst>
          </a:prstGeom>
          <a:solidFill>
            <a:srgbClr val="FFFFFF"/>
          </a:solidFill>
          <a:ln w="12700">
            <a:solidFill>
              <a:srgbClr val="D7DEE7"/>
            </a:solidFill>
          </a:ln>
          <a:effectLst>
            <a:outerShdw sx="100000" sy="100000" kx="0" ky="0" algn="b" rotWithShape="0" blurRad="25400" dist="12700" dir="2700000">
              <a:srgbClr val="000000">
                <a:alpha val="10000"/>
              </a:srgbClr>
            </a:outerShdw>
          </a:effectLst>
        </p:spPr>
        <p:txBody>
          <a:bodyPr lIns="45719" rIns="45719"/>
          <a:lstStyle/>
          <a:p>
            <a:pPr/>
          </a:p>
        </p:txBody>
      </p:sp>
      <p:sp>
        <p:nvSpPr>
          <p:cNvPr id="186" name="Shape 4"/>
          <p:cNvSpPr/>
          <p:nvPr/>
        </p:nvSpPr>
        <p:spPr>
          <a:xfrm>
            <a:off x="914400" y="1627632"/>
            <a:ext cx="4572000" cy="777241"/>
          </a:xfrm>
          <a:prstGeom prst="roundRect">
            <a:avLst>
              <a:gd name="adj" fmla="val 14118"/>
            </a:avLst>
          </a:prstGeom>
          <a:solidFill>
            <a:srgbClr val="EAF3FB"/>
          </a:solidFill>
          <a:ln w="12700">
            <a:solidFill>
              <a:srgbClr val="2C6EAF"/>
            </a:solidFill>
          </a:ln>
          <a:effectLst>
            <a:outerShdw sx="100000" sy="100000" kx="0" ky="0" algn="b" rotWithShape="0" blurRad="25400" dist="12700" dir="2700000">
              <a:srgbClr val="000000">
                <a:alpha val="10000"/>
              </a:srgbClr>
            </a:outerShdw>
          </a:effectLst>
        </p:spPr>
        <p:txBody>
          <a:bodyPr lIns="45719" rIns="45719"/>
          <a:lstStyle/>
          <a:p>
            <a:pPr/>
          </a:p>
        </p:txBody>
      </p:sp>
      <p:sp>
        <p:nvSpPr>
          <p:cNvPr id="187" name="Text 5"/>
          <p:cNvSpPr txBox="1"/>
          <p:nvPr/>
        </p:nvSpPr>
        <p:spPr>
          <a:xfrm>
            <a:off x="2788920" y="1883664"/>
            <a:ext cx="822961" cy="182881"/>
          </a:xfrm>
          <a:prstGeom prst="rect">
            <a:avLst/>
          </a:prstGeom>
          <a:ln w="12700">
            <a:miter lim="400000"/>
          </a:ln>
          <a:extLst>
            <a:ext uri="{C572A759-6A51-4108-AA02-DFA0A04FC94B}">
              <ma14:wrappingTextBoxFlag xmlns:ma14="http://schemas.microsoft.com/office/mac/drawingml/2011/main" val="1"/>
            </a:ext>
          </a:extLst>
        </p:spPr>
        <p:txBody>
          <a:bodyPr lIns="507" tIns="507" rIns="507" bIns="507" anchor="ctr">
            <a:normAutofit fontScale="100000" lnSpcReduction="0"/>
          </a:bodyPr>
          <a:lstStyle>
            <a:lvl1pPr defTabSz="411479">
              <a:lnSpc>
                <a:spcPct val="110000"/>
              </a:lnSpc>
              <a:defRPr b="1" sz="1079">
                <a:solidFill>
                  <a:srgbClr val="2C6EAF"/>
                </a:solidFill>
              </a:defRPr>
            </a:lvl1pPr>
          </a:lstStyle>
          <a:p>
            <a:pPr/>
            <a:r>
              <a:t>Train</a:t>
            </a:r>
          </a:p>
        </p:txBody>
      </p:sp>
      <p:sp>
        <p:nvSpPr>
          <p:cNvPr id="188" name="Shape 6"/>
          <p:cNvSpPr/>
          <p:nvPr/>
        </p:nvSpPr>
        <p:spPr>
          <a:xfrm>
            <a:off x="5669279" y="1627632"/>
            <a:ext cx="2743201" cy="777241"/>
          </a:xfrm>
          <a:prstGeom prst="roundRect">
            <a:avLst>
              <a:gd name="adj" fmla="val 14118"/>
            </a:avLst>
          </a:prstGeom>
          <a:solidFill>
            <a:srgbClr val="FFF6E5"/>
          </a:solidFill>
          <a:ln w="12700">
            <a:solidFill>
              <a:srgbClr val="D99B2B"/>
            </a:solidFill>
          </a:ln>
          <a:effectLst>
            <a:outerShdw sx="100000" sy="100000" kx="0" ky="0" algn="b" rotWithShape="0" blurRad="25400" dist="12700" dir="2700000">
              <a:srgbClr val="000000">
                <a:alpha val="10000"/>
              </a:srgbClr>
            </a:outerShdw>
          </a:effectLst>
        </p:spPr>
        <p:txBody>
          <a:bodyPr lIns="45719" rIns="45719"/>
          <a:lstStyle/>
          <a:p>
            <a:pPr/>
          </a:p>
        </p:txBody>
      </p:sp>
      <p:sp>
        <p:nvSpPr>
          <p:cNvPr id="189" name="Text 7"/>
          <p:cNvSpPr txBox="1"/>
          <p:nvPr/>
        </p:nvSpPr>
        <p:spPr>
          <a:xfrm>
            <a:off x="6355079" y="1883664"/>
            <a:ext cx="1371601" cy="182881"/>
          </a:xfrm>
          <a:prstGeom prst="rect">
            <a:avLst/>
          </a:prstGeom>
          <a:ln w="12700">
            <a:miter lim="400000"/>
          </a:ln>
          <a:extLst>
            <a:ext uri="{C572A759-6A51-4108-AA02-DFA0A04FC94B}">
              <ma14:wrappingTextBoxFlag xmlns:ma14="http://schemas.microsoft.com/office/mac/drawingml/2011/main" val="1"/>
            </a:ext>
          </a:extLst>
        </p:spPr>
        <p:txBody>
          <a:bodyPr lIns="507" tIns="507" rIns="507" bIns="507" anchor="ctr">
            <a:normAutofit fontScale="100000" lnSpcReduction="0"/>
          </a:bodyPr>
          <a:lstStyle>
            <a:lvl1pPr defTabSz="411479">
              <a:lnSpc>
                <a:spcPct val="110000"/>
              </a:lnSpc>
              <a:defRPr b="1" sz="1079">
                <a:solidFill>
                  <a:srgbClr val="D99B2B"/>
                </a:solidFill>
              </a:defRPr>
            </a:lvl1pPr>
          </a:lstStyle>
          <a:p>
            <a:pPr/>
            <a:r>
              <a:t>Validation</a:t>
            </a:r>
          </a:p>
        </p:txBody>
      </p:sp>
      <p:sp>
        <p:nvSpPr>
          <p:cNvPr id="190" name="Shape 8"/>
          <p:cNvSpPr/>
          <p:nvPr/>
        </p:nvSpPr>
        <p:spPr>
          <a:xfrm>
            <a:off x="8641080" y="1627632"/>
            <a:ext cx="2194561" cy="777241"/>
          </a:xfrm>
          <a:prstGeom prst="roundRect">
            <a:avLst>
              <a:gd name="adj" fmla="val 14118"/>
            </a:avLst>
          </a:prstGeom>
          <a:solidFill>
            <a:srgbClr val="EAF6F1"/>
          </a:solidFill>
          <a:ln w="12700">
            <a:solidFill>
              <a:srgbClr val="2F8F69"/>
            </a:solidFill>
          </a:ln>
          <a:effectLst>
            <a:outerShdw sx="100000" sy="100000" kx="0" ky="0" algn="b" rotWithShape="0" blurRad="25400" dist="12700" dir="2700000">
              <a:srgbClr val="000000">
                <a:alpha val="10000"/>
              </a:srgbClr>
            </a:outerShdw>
          </a:effectLst>
        </p:spPr>
        <p:txBody>
          <a:bodyPr lIns="45719" rIns="45719"/>
          <a:lstStyle/>
          <a:p>
            <a:pPr/>
          </a:p>
        </p:txBody>
      </p:sp>
      <p:sp>
        <p:nvSpPr>
          <p:cNvPr id="191" name="Text 9"/>
          <p:cNvSpPr txBox="1"/>
          <p:nvPr/>
        </p:nvSpPr>
        <p:spPr>
          <a:xfrm>
            <a:off x="9372600" y="1883664"/>
            <a:ext cx="731521" cy="182881"/>
          </a:xfrm>
          <a:prstGeom prst="rect">
            <a:avLst/>
          </a:prstGeom>
          <a:ln w="12700">
            <a:miter lim="400000"/>
          </a:ln>
          <a:extLst>
            <a:ext uri="{C572A759-6A51-4108-AA02-DFA0A04FC94B}">
              <ma14:wrappingTextBoxFlag xmlns:ma14="http://schemas.microsoft.com/office/mac/drawingml/2011/main" val="1"/>
            </a:ext>
          </a:extLst>
        </p:spPr>
        <p:txBody>
          <a:bodyPr lIns="507" tIns="507" rIns="507" bIns="507" anchor="ctr">
            <a:normAutofit fontScale="100000" lnSpcReduction="0"/>
          </a:bodyPr>
          <a:lstStyle>
            <a:lvl1pPr defTabSz="411479">
              <a:lnSpc>
                <a:spcPct val="110000"/>
              </a:lnSpc>
              <a:defRPr b="1" sz="1079">
                <a:solidFill>
                  <a:srgbClr val="2F8F69"/>
                </a:solidFill>
              </a:defRPr>
            </a:lvl1pPr>
          </a:lstStyle>
          <a:p>
            <a:pPr/>
            <a:r>
              <a:t>Test</a:t>
            </a:r>
          </a:p>
        </p:txBody>
      </p:sp>
      <p:sp>
        <p:nvSpPr>
          <p:cNvPr id="192" name="Shape 16"/>
          <p:cNvSpPr/>
          <p:nvPr/>
        </p:nvSpPr>
        <p:spPr>
          <a:xfrm>
            <a:off x="868680" y="5760720"/>
            <a:ext cx="10469881" cy="438913"/>
          </a:xfrm>
          <a:prstGeom prst="roundRect">
            <a:avLst>
              <a:gd name="adj" fmla="val 25000"/>
            </a:avLst>
          </a:prstGeom>
          <a:solidFill>
            <a:srgbClr val="EAF6F1"/>
          </a:solidFill>
          <a:ln w="12700">
            <a:solidFill>
              <a:srgbClr val="2F8F69"/>
            </a:solidFill>
          </a:ln>
          <a:effectLst>
            <a:outerShdw sx="100000" sy="100000" kx="0" ky="0" algn="b" rotWithShape="0" blurRad="25400" dist="12700" dir="2700000">
              <a:srgbClr val="000000">
                <a:alpha val="10000"/>
              </a:srgbClr>
            </a:outerShdw>
          </a:effectLst>
        </p:spPr>
        <p:txBody>
          <a:bodyPr lIns="45719" rIns="45719"/>
          <a:lstStyle/>
          <a:p>
            <a:pPr/>
          </a:p>
        </p:txBody>
      </p:sp>
      <p:sp>
        <p:nvSpPr>
          <p:cNvPr id="193" name="Text 17"/>
          <p:cNvSpPr txBox="1"/>
          <p:nvPr/>
        </p:nvSpPr>
        <p:spPr>
          <a:xfrm>
            <a:off x="1142999" y="5870447"/>
            <a:ext cx="9875522" cy="164593"/>
          </a:xfrm>
          <a:prstGeom prst="rect">
            <a:avLst/>
          </a:prstGeom>
          <a:ln w="12700">
            <a:miter lim="400000"/>
          </a:ln>
          <a:extLst>
            <a:ext uri="{C572A759-6A51-4108-AA02-DFA0A04FC94B}">
              <ma14:wrappingTextBoxFlag xmlns:ma14="http://schemas.microsoft.com/office/mac/drawingml/2011/main" val="1"/>
            </a:ext>
          </a:extLst>
        </p:spPr>
        <p:txBody>
          <a:bodyPr lIns="507" tIns="507" rIns="507" bIns="507" anchor="ctr">
            <a:normAutofit fontScale="100000" lnSpcReduction="0"/>
          </a:bodyPr>
          <a:lstStyle>
            <a:lvl1pPr defTabSz="521208">
              <a:lnSpc>
                <a:spcPct val="110000"/>
              </a:lnSpc>
              <a:defRPr b="1" sz="1083">
                <a:solidFill>
                  <a:srgbClr val="2F8F69"/>
                </a:solidFill>
              </a:defRPr>
            </a:lvl1pPr>
          </a:lstStyle>
          <a:p>
            <a:pPr/>
            <a:r>
              <a:t>Short rule: validation is for choosing; test is for reporting.</a:t>
            </a:r>
          </a:p>
        </p:txBody>
      </p:sp>
      <p:sp>
        <p:nvSpPr>
          <p:cNvPr id="194" name="Text 18"/>
          <p:cNvSpPr txBox="1"/>
          <p:nvPr/>
        </p:nvSpPr>
        <p:spPr>
          <a:xfrm>
            <a:off x="11475719" y="6489192"/>
            <a:ext cx="320041" cy="15240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lgn="r">
              <a:defRPr sz="1000">
                <a:solidFill>
                  <a:srgbClr val="64748B"/>
                </a:solidFill>
              </a:defRPr>
            </a:lvl1pPr>
          </a:lstStyle>
          <a:p>
            <a:pPr/>
            <a:r>
              <a:t>10</a:t>
            </a:r>
          </a:p>
        </p:txBody>
      </p:sp>
      <p:pic>
        <p:nvPicPr>
          <p:cNvPr id="195" name="workflow_with_validation_set.svg" descr="workflow_with_validation_set.svg"/>
          <p:cNvPicPr>
            <a:picLocks noChangeAspect="1"/>
          </p:cNvPicPr>
          <p:nvPr/>
        </p:nvPicPr>
        <p:blipFill>
          <a:blip r:embed="rId2">
            <a:extLst/>
          </a:blip>
          <a:stretch>
            <a:fillRect/>
          </a:stretch>
        </p:blipFill>
        <p:spPr>
          <a:xfrm>
            <a:off x="378433" y="1240766"/>
            <a:ext cx="11676434" cy="4630468"/>
          </a:xfrm>
          <a:prstGeom prst="rect">
            <a:avLst/>
          </a:prstGeom>
          <a:ln w="12700">
            <a:miter lim="400000"/>
          </a:ln>
        </p:spPr>
      </p:pic>
    </p:spTree>
  </p:cSld>
  <p:clrMapOvr>
    <a:masterClrMapping/>
  </p:clrMapOvr>
  <p:transition xmlns:p14="http://schemas.microsoft.com/office/powerpoint/2010/main" spd="med" advClick="1"/>
</p:sld>
</file>

<file path=ppt/slides/slide15.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bg>
      <p:bgPr>
        <a:solidFill>
          <a:srgbClr val="FCFCFD"/>
        </a:solidFill>
      </p:bgPr>
    </p:bg>
    <p:spTree>
      <p:nvGrpSpPr>
        <p:cNvPr id="1" name=""/>
        <p:cNvGrpSpPr/>
        <p:nvPr/>
      </p:nvGrpSpPr>
      <p:grpSpPr>
        <a:xfrm>
          <a:off x="0" y="0"/>
          <a:ext cx="0" cy="0"/>
          <a:chOff x="0" y="0"/>
          <a:chExt cx="0" cy="0"/>
        </a:xfrm>
      </p:grpSpPr>
      <p:sp>
        <p:nvSpPr>
          <p:cNvPr id="197" name="Shape 0"/>
          <p:cNvSpPr/>
          <p:nvPr/>
        </p:nvSpPr>
        <p:spPr>
          <a:xfrm>
            <a:off x="-1" y="0"/>
            <a:ext cx="12191697" cy="384048"/>
          </a:xfrm>
          <a:prstGeom prst="rect">
            <a:avLst/>
          </a:prstGeom>
          <a:solidFill>
            <a:srgbClr val="2E8B9E"/>
          </a:solidFill>
          <a:ln w="12700">
            <a:solidFill>
              <a:srgbClr val="2E8B9E"/>
            </a:solidFill>
          </a:ln>
        </p:spPr>
        <p:txBody>
          <a:bodyPr lIns="45719" rIns="45719"/>
          <a:lstStyle/>
          <a:p>
            <a:pPr/>
          </a:p>
        </p:txBody>
      </p:sp>
      <p:sp>
        <p:nvSpPr>
          <p:cNvPr id="198" name="Text 1"/>
          <p:cNvSpPr txBox="1"/>
          <p:nvPr/>
        </p:nvSpPr>
        <p:spPr>
          <a:xfrm>
            <a:off x="411480" y="-19558"/>
            <a:ext cx="8961120" cy="36830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b="1" sz="2400">
                <a:solidFill>
                  <a:srgbClr val="FFFFFF"/>
                </a:solidFill>
                <a:latin typeface="Aptos Display"/>
                <a:ea typeface="Aptos Display"/>
                <a:cs typeface="Aptos Display"/>
                <a:sym typeface="Aptos Display"/>
              </a:defRPr>
            </a:lvl1pPr>
          </a:lstStyle>
          <a:p>
            <a:pPr/>
            <a:r>
              <a:t>When data is limited: cross-validation</a:t>
            </a:r>
          </a:p>
        </p:txBody>
      </p:sp>
      <p:sp>
        <p:nvSpPr>
          <p:cNvPr id="199" name="Text 2"/>
          <p:cNvSpPr txBox="1"/>
          <p:nvPr/>
        </p:nvSpPr>
        <p:spPr>
          <a:xfrm>
            <a:off x="9966959" y="82041"/>
            <a:ext cx="1737361" cy="16510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lgn="r">
              <a:defRPr sz="1100">
                <a:solidFill>
                  <a:srgbClr val="F8FAFC"/>
                </a:solidFill>
              </a:defRPr>
            </a:lvl1pPr>
          </a:lstStyle>
          <a:p>
            <a:pPr/>
            <a:r>
              <a:t>Model Evaluation</a:t>
            </a:r>
          </a:p>
        </p:txBody>
      </p:sp>
      <p:sp>
        <p:nvSpPr>
          <p:cNvPr id="200" name="Shape 3"/>
          <p:cNvSpPr/>
          <p:nvPr/>
        </p:nvSpPr>
        <p:spPr>
          <a:xfrm>
            <a:off x="685800" y="960119"/>
            <a:ext cx="4709160" cy="5212081"/>
          </a:xfrm>
          <a:prstGeom prst="roundRect">
            <a:avLst>
              <a:gd name="adj" fmla="val 2330"/>
            </a:avLst>
          </a:prstGeom>
          <a:solidFill>
            <a:srgbClr val="FFFFFF"/>
          </a:solidFill>
          <a:ln w="12700">
            <a:solidFill>
              <a:srgbClr val="D7DEE7"/>
            </a:solidFill>
          </a:ln>
          <a:effectLst>
            <a:outerShdw sx="100000" sy="100000" kx="0" ky="0" algn="b" rotWithShape="0" blurRad="25400" dist="12700" dir="2700000">
              <a:srgbClr val="000000">
                <a:alpha val="10000"/>
              </a:srgbClr>
            </a:outerShdw>
          </a:effectLst>
        </p:spPr>
        <p:txBody>
          <a:bodyPr lIns="45719" rIns="45719"/>
          <a:lstStyle/>
          <a:p>
            <a:pPr/>
          </a:p>
        </p:txBody>
      </p:sp>
      <p:sp>
        <p:nvSpPr>
          <p:cNvPr id="201" name="Shape 4"/>
          <p:cNvSpPr/>
          <p:nvPr/>
        </p:nvSpPr>
        <p:spPr>
          <a:xfrm>
            <a:off x="1005839" y="2011679"/>
            <a:ext cx="566929" cy="2651761"/>
          </a:xfrm>
          <a:prstGeom prst="roundRect">
            <a:avLst>
              <a:gd name="adj" fmla="val 19355"/>
            </a:avLst>
          </a:prstGeom>
          <a:solidFill>
            <a:srgbClr val="EAF3FB"/>
          </a:solidFill>
          <a:ln w="12700">
            <a:solidFill>
              <a:srgbClr val="2C6EAF"/>
            </a:solidFill>
          </a:ln>
          <a:effectLst>
            <a:outerShdw sx="100000" sy="100000" kx="0" ky="0" algn="b" rotWithShape="0" blurRad="25400" dist="12700" dir="2700000">
              <a:srgbClr val="000000">
                <a:alpha val="10000"/>
              </a:srgbClr>
            </a:outerShdw>
          </a:effectLst>
        </p:spPr>
        <p:txBody>
          <a:bodyPr lIns="45719" rIns="45719"/>
          <a:lstStyle/>
          <a:p>
            <a:pPr/>
          </a:p>
        </p:txBody>
      </p:sp>
      <p:sp>
        <p:nvSpPr>
          <p:cNvPr id="202" name="Text 5"/>
          <p:cNvSpPr txBox="1"/>
          <p:nvPr/>
        </p:nvSpPr>
        <p:spPr>
          <a:xfrm rot="16200000">
            <a:off x="1069847" y="3023108"/>
            <a:ext cx="438913" cy="48260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lgn="ctr">
              <a:defRPr b="1" sz="1600">
                <a:solidFill>
                  <a:srgbClr val="2C6EAF"/>
                </a:solidFill>
              </a:defRPr>
            </a:lvl1pPr>
          </a:lstStyle>
          <a:p>
            <a:pPr/>
            <a:r>
              <a:t>train</a:t>
            </a:r>
          </a:p>
        </p:txBody>
      </p:sp>
      <p:sp>
        <p:nvSpPr>
          <p:cNvPr id="203" name="Shape 6"/>
          <p:cNvSpPr/>
          <p:nvPr/>
        </p:nvSpPr>
        <p:spPr>
          <a:xfrm>
            <a:off x="1783079" y="2011679"/>
            <a:ext cx="566929" cy="2651761"/>
          </a:xfrm>
          <a:prstGeom prst="roundRect">
            <a:avLst>
              <a:gd name="adj" fmla="val 19355"/>
            </a:avLst>
          </a:prstGeom>
          <a:solidFill>
            <a:srgbClr val="EAF3FB"/>
          </a:solidFill>
          <a:ln w="12700">
            <a:solidFill>
              <a:srgbClr val="2C6EAF"/>
            </a:solidFill>
          </a:ln>
          <a:effectLst>
            <a:outerShdw sx="100000" sy="100000" kx="0" ky="0" algn="b" rotWithShape="0" blurRad="25400" dist="12700" dir="2700000">
              <a:srgbClr val="000000">
                <a:alpha val="10000"/>
              </a:srgbClr>
            </a:outerShdw>
          </a:effectLst>
        </p:spPr>
        <p:txBody>
          <a:bodyPr lIns="45719" rIns="45719"/>
          <a:lstStyle/>
          <a:p>
            <a:pPr/>
          </a:p>
        </p:txBody>
      </p:sp>
      <p:sp>
        <p:nvSpPr>
          <p:cNvPr id="204" name="Text 7"/>
          <p:cNvSpPr txBox="1"/>
          <p:nvPr/>
        </p:nvSpPr>
        <p:spPr>
          <a:xfrm rot="16200000">
            <a:off x="1847088" y="3023108"/>
            <a:ext cx="438912" cy="48260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lgn="ctr">
              <a:defRPr b="1" sz="1600">
                <a:solidFill>
                  <a:srgbClr val="2C6EAF"/>
                </a:solidFill>
              </a:defRPr>
            </a:lvl1pPr>
          </a:lstStyle>
          <a:p>
            <a:pPr/>
            <a:r>
              <a:t>train</a:t>
            </a:r>
          </a:p>
        </p:txBody>
      </p:sp>
      <p:sp>
        <p:nvSpPr>
          <p:cNvPr id="205" name="Shape 8"/>
          <p:cNvSpPr/>
          <p:nvPr/>
        </p:nvSpPr>
        <p:spPr>
          <a:xfrm>
            <a:off x="2560320" y="2011679"/>
            <a:ext cx="566929" cy="2651761"/>
          </a:xfrm>
          <a:prstGeom prst="roundRect">
            <a:avLst>
              <a:gd name="adj" fmla="val 19355"/>
            </a:avLst>
          </a:prstGeom>
          <a:solidFill>
            <a:srgbClr val="FFF6E5"/>
          </a:solidFill>
          <a:ln w="12700">
            <a:solidFill>
              <a:srgbClr val="D99B2B"/>
            </a:solidFill>
          </a:ln>
          <a:effectLst>
            <a:outerShdw sx="100000" sy="100000" kx="0" ky="0" algn="b" rotWithShape="0" blurRad="25400" dist="12700" dir="2700000">
              <a:srgbClr val="000000">
                <a:alpha val="10000"/>
              </a:srgbClr>
            </a:outerShdw>
          </a:effectLst>
        </p:spPr>
        <p:txBody>
          <a:bodyPr lIns="45719" rIns="45719"/>
          <a:lstStyle/>
          <a:p>
            <a:pPr/>
          </a:p>
        </p:txBody>
      </p:sp>
      <p:sp>
        <p:nvSpPr>
          <p:cNvPr id="206" name="Text 9"/>
          <p:cNvSpPr txBox="1"/>
          <p:nvPr/>
        </p:nvSpPr>
        <p:spPr>
          <a:xfrm rot="16200000">
            <a:off x="2624327" y="3143758"/>
            <a:ext cx="438913" cy="24130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lgn="ctr">
              <a:defRPr b="1" sz="1600">
                <a:solidFill>
                  <a:srgbClr val="D99B2B"/>
                </a:solidFill>
              </a:defRPr>
            </a:lvl1pPr>
          </a:lstStyle>
          <a:p>
            <a:pPr/>
            <a:r>
              <a:t>val</a:t>
            </a:r>
          </a:p>
        </p:txBody>
      </p:sp>
      <p:sp>
        <p:nvSpPr>
          <p:cNvPr id="207" name="Shape 10"/>
          <p:cNvSpPr/>
          <p:nvPr/>
        </p:nvSpPr>
        <p:spPr>
          <a:xfrm>
            <a:off x="3337559" y="2011679"/>
            <a:ext cx="566929" cy="2651761"/>
          </a:xfrm>
          <a:prstGeom prst="roundRect">
            <a:avLst>
              <a:gd name="adj" fmla="val 19355"/>
            </a:avLst>
          </a:prstGeom>
          <a:solidFill>
            <a:srgbClr val="EAF3FB"/>
          </a:solidFill>
          <a:ln w="12700">
            <a:solidFill>
              <a:srgbClr val="2C6EAF"/>
            </a:solidFill>
          </a:ln>
          <a:effectLst>
            <a:outerShdw sx="100000" sy="100000" kx="0" ky="0" algn="b" rotWithShape="0" blurRad="25400" dist="12700" dir="2700000">
              <a:srgbClr val="000000">
                <a:alpha val="10000"/>
              </a:srgbClr>
            </a:outerShdw>
          </a:effectLst>
        </p:spPr>
        <p:txBody>
          <a:bodyPr lIns="45719" rIns="45719"/>
          <a:lstStyle/>
          <a:p>
            <a:pPr/>
          </a:p>
        </p:txBody>
      </p:sp>
      <p:sp>
        <p:nvSpPr>
          <p:cNvPr id="208" name="Text 11"/>
          <p:cNvSpPr txBox="1"/>
          <p:nvPr/>
        </p:nvSpPr>
        <p:spPr>
          <a:xfrm rot="16200000">
            <a:off x="3401567" y="3023108"/>
            <a:ext cx="438913" cy="48260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lgn="ctr">
              <a:defRPr b="1" sz="1600">
                <a:solidFill>
                  <a:srgbClr val="2C6EAF"/>
                </a:solidFill>
              </a:defRPr>
            </a:lvl1pPr>
          </a:lstStyle>
          <a:p>
            <a:pPr/>
            <a:r>
              <a:t>train</a:t>
            </a:r>
          </a:p>
        </p:txBody>
      </p:sp>
      <p:sp>
        <p:nvSpPr>
          <p:cNvPr id="209" name="Shape 12"/>
          <p:cNvSpPr/>
          <p:nvPr/>
        </p:nvSpPr>
        <p:spPr>
          <a:xfrm>
            <a:off x="4114800" y="2011679"/>
            <a:ext cx="566928" cy="2651761"/>
          </a:xfrm>
          <a:prstGeom prst="roundRect">
            <a:avLst>
              <a:gd name="adj" fmla="val 19355"/>
            </a:avLst>
          </a:prstGeom>
          <a:solidFill>
            <a:srgbClr val="EAF3FB"/>
          </a:solidFill>
          <a:ln w="12700">
            <a:solidFill>
              <a:srgbClr val="2C6EAF"/>
            </a:solidFill>
          </a:ln>
          <a:effectLst>
            <a:outerShdw sx="100000" sy="100000" kx="0" ky="0" algn="b" rotWithShape="0" blurRad="25400" dist="12700" dir="2700000">
              <a:srgbClr val="000000">
                <a:alpha val="10000"/>
              </a:srgbClr>
            </a:outerShdw>
          </a:effectLst>
        </p:spPr>
        <p:txBody>
          <a:bodyPr lIns="45719" rIns="45719"/>
          <a:lstStyle/>
          <a:p>
            <a:pPr/>
          </a:p>
        </p:txBody>
      </p:sp>
      <p:sp>
        <p:nvSpPr>
          <p:cNvPr id="210" name="Text 13"/>
          <p:cNvSpPr txBox="1"/>
          <p:nvPr/>
        </p:nvSpPr>
        <p:spPr>
          <a:xfrm rot="16200000">
            <a:off x="4178808" y="3023108"/>
            <a:ext cx="438913" cy="48260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lgn="ctr">
              <a:defRPr b="1" sz="1600">
                <a:solidFill>
                  <a:srgbClr val="2C6EAF"/>
                </a:solidFill>
              </a:defRPr>
            </a:lvl1pPr>
          </a:lstStyle>
          <a:p>
            <a:pPr/>
            <a:r>
              <a:t>train</a:t>
            </a:r>
          </a:p>
        </p:txBody>
      </p:sp>
      <p:sp>
        <p:nvSpPr>
          <p:cNvPr id="211" name="Text 14"/>
          <p:cNvSpPr txBox="1"/>
          <p:nvPr/>
        </p:nvSpPr>
        <p:spPr>
          <a:xfrm>
            <a:off x="914400" y="4862830"/>
            <a:ext cx="4023360" cy="24130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lgn="ctr">
              <a:defRPr sz="1600">
                <a:solidFill>
                  <a:srgbClr val="475569"/>
                </a:solidFill>
              </a:defRPr>
            </a:lvl1pPr>
          </a:lstStyle>
          <a:p>
            <a:pPr/>
            <a:r>
              <a:t>Fold 1   Fold 2   Fold 3   Fold 4   Fold 5</a:t>
            </a:r>
          </a:p>
        </p:txBody>
      </p:sp>
      <p:sp>
        <p:nvSpPr>
          <p:cNvPr id="212" name="Text 15"/>
          <p:cNvSpPr txBox="1"/>
          <p:nvPr/>
        </p:nvSpPr>
        <p:spPr>
          <a:xfrm>
            <a:off x="5669279" y="1097280"/>
            <a:ext cx="5806442" cy="1737361"/>
          </a:xfrm>
          <a:prstGeom prst="rect">
            <a:avLst/>
          </a:prstGeom>
          <a:ln w="12700">
            <a:miter lim="400000"/>
          </a:ln>
          <a:extLst>
            <a:ext uri="{C572A759-6A51-4108-AA02-DFA0A04FC94B}">
              <ma14:wrappingTextBoxFlag xmlns:ma14="http://schemas.microsoft.com/office/mac/drawingml/2011/main" val="1"/>
            </a:ext>
          </a:extLst>
        </p:spPr>
        <p:txBody>
          <a:bodyPr lIns="507" tIns="507" rIns="507" bIns="507">
            <a:normAutofit fontScale="100000" lnSpcReduction="0"/>
          </a:bodyPr>
          <a:lstStyle>
            <a:lvl1pPr>
              <a:lnSpc>
                <a:spcPct val="110000"/>
              </a:lnSpc>
              <a:defRPr sz="2000">
                <a:solidFill>
                  <a:srgbClr val="1E293B"/>
                </a:solidFill>
              </a:defRPr>
            </a:lvl1pPr>
          </a:lstStyle>
          <a:p>
            <a:pPr/>
            <a:r>
              <a:t>If your training data is small, splitting off a large validation set can feel expensive. Cross-validation is a way to reuse the training data more efficiently. We rotate which chunk acts as validation, train several times, and average the validation scores.</a:t>
            </a:r>
          </a:p>
        </p:txBody>
      </p:sp>
      <p:sp>
        <p:nvSpPr>
          <p:cNvPr id="213" name="Text 16"/>
          <p:cNvSpPr txBox="1"/>
          <p:nvPr/>
        </p:nvSpPr>
        <p:spPr>
          <a:xfrm>
            <a:off x="5669279" y="3154679"/>
            <a:ext cx="5806442" cy="1783080"/>
          </a:xfrm>
          <a:prstGeom prst="rect">
            <a:avLst/>
          </a:prstGeom>
          <a:ln w="12700">
            <a:miter lim="400000"/>
          </a:ln>
          <a:extLst>
            <a:ext uri="{C572A759-6A51-4108-AA02-DFA0A04FC94B}">
              <ma14:wrappingTextBoxFlag xmlns:ma14="http://schemas.microsoft.com/office/mac/drawingml/2011/main" val="1"/>
            </a:ext>
          </a:extLst>
        </p:spPr>
        <p:txBody>
          <a:bodyPr lIns="507" tIns="507" rIns="507" bIns="507">
            <a:normAutofit fontScale="100000" lnSpcReduction="0"/>
          </a:bodyPr>
          <a:lstStyle>
            <a:lvl1pPr>
              <a:lnSpc>
                <a:spcPct val="110000"/>
              </a:lnSpc>
              <a:defRPr sz="2000">
                <a:solidFill>
                  <a:srgbClr val="1E293B"/>
                </a:solidFill>
              </a:defRPr>
            </a:lvl1pPr>
          </a:lstStyle>
          <a:p>
            <a:pPr/>
            <a:r>
              <a:t>The big idea is not “more math.” It is “more stable evidence.” Every chunk gets a turn as validation, so our choice of model depends less on one lucky split. After selecting settings this way, we still keep a final test set for the very end.</a:t>
            </a:r>
          </a:p>
        </p:txBody>
      </p:sp>
      <p:sp>
        <p:nvSpPr>
          <p:cNvPr id="214" name="Shape 17"/>
          <p:cNvSpPr/>
          <p:nvPr/>
        </p:nvSpPr>
        <p:spPr>
          <a:xfrm>
            <a:off x="5669279" y="5349240"/>
            <a:ext cx="4800601" cy="685801"/>
          </a:xfrm>
          <a:prstGeom prst="roundRect">
            <a:avLst>
              <a:gd name="adj" fmla="val 16000"/>
            </a:avLst>
          </a:prstGeom>
          <a:solidFill>
            <a:srgbClr val="FFF6E5"/>
          </a:solidFill>
          <a:ln w="12700">
            <a:solidFill>
              <a:srgbClr val="D99B2B"/>
            </a:solidFill>
          </a:ln>
          <a:effectLst>
            <a:outerShdw sx="100000" sy="100000" kx="0" ky="0" algn="b" rotWithShape="0" blurRad="25400" dist="12700" dir="2700000">
              <a:srgbClr val="000000">
                <a:alpha val="10000"/>
              </a:srgbClr>
            </a:outerShdw>
          </a:effectLst>
        </p:spPr>
        <p:txBody>
          <a:bodyPr lIns="45719" rIns="45719"/>
          <a:lstStyle/>
          <a:p>
            <a:pPr/>
          </a:p>
        </p:txBody>
      </p:sp>
      <p:sp>
        <p:nvSpPr>
          <p:cNvPr id="215" name="Text 18"/>
          <p:cNvSpPr txBox="1"/>
          <p:nvPr/>
        </p:nvSpPr>
        <p:spPr>
          <a:xfrm>
            <a:off x="5943600" y="5559552"/>
            <a:ext cx="4297680" cy="182881"/>
          </a:xfrm>
          <a:prstGeom prst="rect">
            <a:avLst/>
          </a:prstGeom>
          <a:ln w="12700">
            <a:miter lim="400000"/>
          </a:ln>
          <a:extLst>
            <a:ext uri="{C572A759-6A51-4108-AA02-DFA0A04FC94B}">
              <ma14:wrappingTextBoxFlag xmlns:ma14="http://schemas.microsoft.com/office/mac/drawingml/2011/main" val="1"/>
            </a:ext>
          </a:extLst>
        </p:spPr>
        <p:txBody>
          <a:bodyPr lIns="507" tIns="507" rIns="507" bIns="507" anchor="ctr">
            <a:normAutofit fontScale="100000" lnSpcReduction="0"/>
          </a:bodyPr>
          <a:lstStyle>
            <a:lvl1pPr defTabSz="429768">
              <a:lnSpc>
                <a:spcPct val="110000"/>
              </a:lnSpc>
              <a:defRPr b="1" sz="846">
                <a:solidFill>
                  <a:srgbClr val="D99B2B"/>
                </a:solidFill>
              </a:defRPr>
            </a:lvl1pPr>
          </a:lstStyle>
          <a:p>
            <a:pPr/>
            <a:r>
              <a:t>Cross-validation helps when data is scarce, but it does not replace the final test set.</a:t>
            </a:r>
          </a:p>
        </p:txBody>
      </p:sp>
      <p:sp>
        <p:nvSpPr>
          <p:cNvPr id="216" name="Text 19"/>
          <p:cNvSpPr txBox="1"/>
          <p:nvPr/>
        </p:nvSpPr>
        <p:spPr>
          <a:xfrm>
            <a:off x="11475719" y="6489192"/>
            <a:ext cx="320041" cy="15240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lgn="r">
              <a:defRPr sz="1000">
                <a:solidFill>
                  <a:srgbClr val="64748B"/>
                </a:solidFill>
              </a:defRPr>
            </a:lvl1pPr>
          </a:lstStyle>
          <a:p>
            <a:pPr/>
            <a:r>
              <a:t>11</a:t>
            </a:r>
          </a:p>
        </p:txBody>
      </p:sp>
    </p:spTree>
  </p:cSld>
  <p:clrMapOvr>
    <a:masterClrMapping/>
  </p:clrMapOvr>
  <p:transition xmlns:p14="http://schemas.microsoft.com/office/powerpoint/2010/main" spd="med" advClick="1"/>
</p:sld>
</file>

<file path=ppt/slides/slide16.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bg>
      <p:bgPr>
        <a:solidFill>
          <a:srgbClr val="FCFCFD"/>
        </a:solidFill>
      </p:bgPr>
    </p:bg>
    <p:spTree>
      <p:nvGrpSpPr>
        <p:cNvPr id="1" name=""/>
        <p:cNvGrpSpPr/>
        <p:nvPr/>
      </p:nvGrpSpPr>
      <p:grpSpPr>
        <a:xfrm>
          <a:off x="0" y="0"/>
          <a:ext cx="0" cy="0"/>
          <a:chOff x="0" y="0"/>
          <a:chExt cx="0" cy="0"/>
        </a:xfrm>
      </p:grpSpPr>
      <p:sp>
        <p:nvSpPr>
          <p:cNvPr id="220" name="Shape 0"/>
          <p:cNvSpPr/>
          <p:nvPr/>
        </p:nvSpPr>
        <p:spPr>
          <a:xfrm>
            <a:off x="-1" y="0"/>
            <a:ext cx="12191697" cy="384048"/>
          </a:xfrm>
          <a:prstGeom prst="rect">
            <a:avLst/>
          </a:prstGeom>
          <a:solidFill>
            <a:srgbClr val="2F8F69"/>
          </a:solidFill>
          <a:ln w="12700">
            <a:solidFill>
              <a:srgbClr val="2F8F69"/>
            </a:solidFill>
          </a:ln>
        </p:spPr>
        <p:txBody>
          <a:bodyPr lIns="45719" rIns="45719"/>
          <a:lstStyle/>
          <a:p>
            <a:pPr/>
          </a:p>
        </p:txBody>
      </p:sp>
      <p:sp>
        <p:nvSpPr>
          <p:cNvPr id="221" name="Text 1"/>
          <p:cNvSpPr txBox="1"/>
          <p:nvPr/>
        </p:nvSpPr>
        <p:spPr>
          <a:xfrm>
            <a:off x="411480" y="-19558"/>
            <a:ext cx="8961120" cy="36830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b="1" sz="2400">
                <a:solidFill>
                  <a:srgbClr val="FFFFFF"/>
                </a:solidFill>
                <a:latin typeface="Aptos Display"/>
                <a:ea typeface="Aptos Display"/>
                <a:cs typeface="Aptos Display"/>
                <a:sym typeface="Aptos Display"/>
              </a:defRPr>
            </a:lvl1pPr>
          </a:lstStyle>
          <a:p>
            <a:pPr/>
            <a:r>
              <a:t>Takeaways </a:t>
            </a:r>
          </a:p>
        </p:txBody>
      </p:sp>
      <p:sp>
        <p:nvSpPr>
          <p:cNvPr id="222" name="Text 2"/>
          <p:cNvSpPr txBox="1"/>
          <p:nvPr/>
        </p:nvSpPr>
        <p:spPr>
          <a:xfrm>
            <a:off x="9966959" y="82041"/>
            <a:ext cx="1737361" cy="16510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lgn="r">
              <a:defRPr sz="1100">
                <a:solidFill>
                  <a:srgbClr val="F8FAFC"/>
                </a:solidFill>
              </a:defRPr>
            </a:lvl1pPr>
          </a:lstStyle>
          <a:p>
            <a:pPr/>
            <a:r>
              <a:t>Model Evaluation</a:t>
            </a:r>
          </a:p>
        </p:txBody>
      </p:sp>
      <p:sp>
        <p:nvSpPr>
          <p:cNvPr id="223" name="Shape 3"/>
          <p:cNvSpPr/>
          <p:nvPr/>
        </p:nvSpPr>
        <p:spPr>
          <a:xfrm>
            <a:off x="731519" y="960119"/>
            <a:ext cx="10972801" cy="5349242"/>
          </a:xfrm>
          <a:prstGeom prst="roundRect">
            <a:avLst>
              <a:gd name="adj" fmla="val 2051"/>
            </a:avLst>
          </a:prstGeom>
          <a:solidFill>
            <a:srgbClr val="FFFFFF"/>
          </a:solidFill>
          <a:ln w="12700">
            <a:solidFill>
              <a:srgbClr val="D7DEE7"/>
            </a:solidFill>
          </a:ln>
          <a:effectLst>
            <a:outerShdw sx="100000" sy="100000" kx="0" ky="0" algn="b" rotWithShape="0" blurRad="25400" dist="12700" dir="2700000">
              <a:srgbClr val="000000">
                <a:alpha val="10000"/>
              </a:srgbClr>
            </a:outerShdw>
          </a:effectLst>
        </p:spPr>
        <p:txBody>
          <a:bodyPr lIns="45719" rIns="45719"/>
          <a:lstStyle/>
          <a:p>
            <a:pPr/>
          </a:p>
        </p:txBody>
      </p:sp>
      <p:sp>
        <p:nvSpPr>
          <p:cNvPr id="224" name="Shape 4"/>
          <p:cNvSpPr/>
          <p:nvPr/>
        </p:nvSpPr>
        <p:spPr>
          <a:xfrm>
            <a:off x="1005839" y="1417319"/>
            <a:ext cx="548641" cy="548641"/>
          </a:xfrm>
          <a:prstGeom prst="roundRect">
            <a:avLst>
              <a:gd name="adj" fmla="val 20000"/>
            </a:avLst>
          </a:prstGeom>
          <a:solidFill>
            <a:srgbClr val="EAF6F1"/>
          </a:solidFill>
          <a:ln w="12700">
            <a:solidFill>
              <a:srgbClr val="2F8F69"/>
            </a:solidFill>
          </a:ln>
          <a:effectLst>
            <a:outerShdw sx="100000" sy="100000" kx="0" ky="0" algn="b" rotWithShape="0" blurRad="25400" dist="12700" dir="2700000">
              <a:srgbClr val="000000">
                <a:alpha val="10000"/>
              </a:srgbClr>
            </a:outerShdw>
          </a:effectLst>
        </p:spPr>
        <p:txBody>
          <a:bodyPr lIns="45719" rIns="45719"/>
          <a:lstStyle/>
          <a:p>
            <a:pPr/>
          </a:p>
        </p:txBody>
      </p:sp>
      <p:sp>
        <p:nvSpPr>
          <p:cNvPr id="225" name="Text 5"/>
          <p:cNvSpPr txBox="1"/>
          <p:nvPr/>
        </p:nvSpPr>
        <p:spPr>
          <a:xfrm>
            <a:off x="1161288" y="1502663"/>
            <a:ext cx="228601" cy="30480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lgn="ctr">
              <a:defRPr b="1" sz="2000">
                <a:solidFill>
                  <a:srgbClr val="2F8F69"/>
                </a:solidFill>
              </a:defRPr>
            </a:lvl1pPr>
          </a:lstStyle>
          <a:p>
            <a:pPr/>
            <a:r>
              <a:t>1</a:t>
            </a:r>
          </a:p>
        </p:txBody>
      </p:sp>
      <p:sp>
        <p:nvSpPr>
          <p:cNvPr id="226" name="Text 6"/>
          <p:cNvSpPr txBox="1"/>
          <p:nvPr/>
        </p:nvSpPr>
        <p:spPr>
          <a:xfrm>
            <a:off x="1783079" y="1444752"/>
            <a:ext cx="9326882" cy="384049"/>
          </a:xfrm>
          <a:prstGeom prst="rect">
            <a:avLst/>
          </a:prstGeom>
          <a:ln w="12700">
            <a:miter lim="400000"/>
          </a:ln>
          <a:extLst>
            <a:ext uri="{C572A759-6A51-4108-AA02-DFA0A04FC94B}">
              <ma14:wrappingTextBoxFlag xmlns:ma14="http://schemas.microsoft.com/office/mac/drawingml/2011/main" val="1"/>
            </a:ext>
          </a:extLst>
        </p:spPr>
        <p:txBody>
          <a:bodyPr lIns="507" tIns="507" rIns="507" bIns="507" anchor="ctr">
            <a:normAutofit fontScale="100000" lnSpcReduction="0"/>
          </a:bodyPr>
          <a:lstStyle>
            <a:lvl1pPr>
              <a:lnSpc>
                <a:spcPct val="110000"/>
              </a:lnSpc>
              <a:defRPr sz="2200">
                <a:solidFill>
                  <a:srgbClr val="1E293B"/>
                </a:solidFill>
              </a:defRPr>
            </a:lvl1pPr>
          </a:lstStyle>
          <a:p>
            <a:pPr/>
            <a:r>
              <a:t>A model should be judged on new data, not the training set.</a:t>
            </a:r>
          </a:p>
        </p:txBody>
      </p:sp>
      <p:sp>
        <p:nvSpPr>
          <p:cNvPr id="227" name="Shape 7"/>
          <p:cNvSpPr/>
          <p:nvPr/>
        </p:nvSpPr>
        <p:spPr>
          <a:xfrm>
            <a:off x="1005839" y="2441448"/>
            <a:ext cx="548641" cy="548641"/>
          </a:xfrm>
          <a:prstGeom prst="roundRect">
            <a:avLst>
              <a:gd name="adj" fmla="val 20000"/>
            </a:avLst>
          </a:prstGeom>
          <a:solidFill>
            <a:srgbClr val="EAF6F1"/>
          </a:solidFill>
          <a:ln w="12700">
            <a:solidFill>
              <a:srgbClr val="2F8F69"/>
            </a:solidFill>
          </a:ln>
          <a:effectLst>
            <a:outerShdw sx="100000" sy="100000" kx="0" ky="0" algn="b" rotWithShape="0" blurRad="25400" dist="12700" dir="2700000">
              <a:srgbClr val="000000">
                <a:alpha val="10000"/>
              </a:srgbClr>
            </a:outerShdw>
          </a:effectLst>
        </p:spPr>
        <p:txBody>
          <a:bodyPr lIns="45719" rIns="45719"/>
          <a:lstStyle/>
          <a:p>
            <a:pPr/>
          </a:p>
        </p:txBody>
      </p:sp>
      <p:sp>
        <p:nvSpPr>
          <p:cNvPr id="228" name="Text 8"/>
          <p:cNvSpPr txBox="1"/>
          <p:nvPr/>
        </p:nvSpPr>
        <p:spPr>
          <a:xfrm>
            <a:off x="1161288" y="2526791"/>
            <a:ext cx="228601" cy="30480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lgn="ctr">
              <a:defRPr b="1" sz="2000">
                <a:solidFill>
                  <a:srgbClr val="2F8F69"/>
                </a:solidFill>
              </a:defRPr>
            </a:lvl1pPr>
          </a:lstStyle>
          <a:p>
            <a:pPr/>
            <a:r>
              <a:t>2</a:t>
            </a:r>
          </a:p>
        </p:txBody>
      </p:sp>
      <p:sp>
        <p:nvSpPr>
          <p:cNvPr id="229" name="Text 9"/>
          <p:cNvSpPr txBox="1"/>
          <p:nvPr/>
        </p:nvSpPr>
        <p:spPr>
          <a:xfrm>
            <a:off x="1783079" y="2468879"/>
            <a:ext cx="9326882" cy="384049"/>
          </a:xfrm>
          <a:prstGeom prst="rect">
            <a:avLst/>
          </a:prstGeom>
          <a:ln w="12700">
            <a:miter lim="400000"/>
          </a:ln>
          <a:extLst>
            <a:ext uri="{C572A759-6A51-4108-AA02-DFA0A04FC94B}">
              <ma14:wrappingTextBoxFlag xmlns:ma14="http://schemas.microsoft.com/office/mac/drawingml/2011/main" val="1"/>
            </a:ext>
          </a:extLst>
        </p:spPr>
        <p:txBody>
          <a:bodyPr lIns="507" tIns="507" rIns="507" bIns="507" anchor="ctr">
            <a:normAutofit fontScale="100000" lnSpcReduction="0"/>
          </a:bodyPr>
          <a:lstStyle>
            <a:lvl1pPr>
              <a:lnSpc>
                <a:spcPct val="110000"/>
              </a:lnSpc>
              <a:defRPr sz="2200">
                <a:solidFill>
                  <a:srgbClr val="1E293B"/>
                </a:solidFill>
              </a:defRPr>
            </a:lvl1pPr>
          </a:lstStyle>
          <a:p>
            <a:pPr/>
            <a:r>
              <a:t>For regression, MAE answers: “How wrong are we on average?”</a:t>
            </a:r>
          </a:p>
        </p:txBody>
      </p:sp>
      <p:sp>
        <p:nvSpPr>
          <p:cNvPr id="230" name="Shape 10"/>
          <p:cNvSpPr/>
          <p:nvPr/>
        </p:nvSpPr>
        <p:spPr>
          <a:xfrm>
            <a:off x="1005839" y="3465576"/>
            <a:ext cx="548641" cy="548641"/>
          </a:xfrm>
          <a:prstGeom prst="roundRect">
            <a:avLst>
              <a:gd name="adj" fmla="val 20000"/>
            </a:avLst>
          </a:prstGeom>
          <a:solidFill>
            <a:srgbClr val="EAF6F1"/>
          </a:solidFill>
          <a:ln w="12700">
            <a:solidFill>
              <a:srgbClr val="2F8F69"/>
            </a:solidFill>
          </a:ln>
          <a:effectLst>
            <a:outerShdw sx="100000" sy="100000" kx="0" ky="0" algn="b" rotWithShape="0" blurRad="25400" dist="12700" dir="2700000">
              <a:srgbClr val="000000">
                <a:alpha val="10000"/>
              </a:srgbClr>
            </a:outerShdw>
          </a:effectLst>
        </p:spPr>
        <p:txBody>
          <a:bodyPr lIns="45719" rIns="45719"/>
          <a:lstStyle/>
          <a:p>
            <a:pPr/>
          </a:p>
        </p:txBody>
      </p:sp>
      <p:sp>
        <p:nvSpPr>
          <p:cNvPr id="231" name="Text 11"/>
          <p:cNvSpPr txBox="1"/>
          <p:nvPr/>
        </p:nvSpPr>
        <p:spPr>
          <a:xfrm>
            <a:off x="1161288" y="3550920"/>
            <a:ext cx="228601" cy="30480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lgn="ctr">
              <a:defRPr b="1" sz="2000">
                <a:solidFill>
                  <a:srgbClr val="2F8F69"/>
                </a:solidFill>
              </a:defRPr>
            </a:lvl1pPr>
          </a:lstStyle>
          <a:p>
            <a:pPr/>
            <a:r>
              <a:t>3</a:t>
            </a:r>
          </a:p>
        </p:txBody>
      </p:sp>
      <p:sp>
        <p:nvSpPr>
          <p:cNvPr id="232" name="Text 12"/>
          <p:cNvSpPr txBox="1"/>
          <p:nvPr/>
        </p:nvSpPr>
        <p:spPr>
          <a:xfrm>
            <a:off x="1783079" y="3493008"/>
            <a:ext cx="9326882" cy="384049"/>
          </a:xfrm>
          <a:prstGeom prst="rect">
            <a:avLst/>
          </a:prstGeom>
          <a:ln w="12700">
            <a:miter lim="400000"/>
          </a:ln>
          <a:extLst>
            <a:ext uri="{C572A759-6A51-4108-AA02-DFA0A04FC94B}">
              <ma14:wrappingTextBoxFlag xmlns:ma14="http://schemas.microsoft.com/office/mac/drawingml/2011/main" val="1"/>
            </a:ext>
          </a:extLst>
        </p:spPr>
        <p:txBody>
          <a:bodyPr lIns="507" tIns="507" rIns="507" bIns="507" anchor="ctr">
            <a:normAutofit fontScale="100000" lnSpcReduction="0"/>
          </a:bodyPr>
          <a:lstStyle>
            <a:lvl1pPr defTabSz="905255">
              <a:lnSpc>
                <a:spcPct val="110000"/>
              </a:lnSpc>
              <a:defRPr sz="2178">
                <a:solidFill>
                  <a:srgbClr val="1E293B"/>
                </a:solidFill>
              </a:defRPr>
            </a:lvl1pPr>
          </a:lstStyle>
          <a:p>
            <a:pPr/>
            <a:r>
              <a:t>If we try many models, we need a validation set so the test set stays honest.</a:t>
            </a:r>
          </a:p>
        </p:txBody>
      </p:sp>
      <p:sp>
        <p:nvSpPr>
          <p:cNvPr id="233" name="Shape 13"/>
          <p:cNvSpPr/>
          <p:nvPr/>
        </p:nvSpPr>
        <p:spPr>
          <a:xfrm>
            <a:off x="1005839" y="4489703"/>
            <a:ext cx="548641" cy="548641"/>
          </a:xfrm>
          <a:prstGeom prst="roundRect">
            <a:avLst>
              <a:gd name="adj" fmla="val 20000"/>
            </a:avLst>
          </a:prstGeom>
          <a:solidFill>
            <a:srgbClr val="EAF6F1"/>
          </a:solidFill>
          <a:ln w="12700">
            <a:solidFill>
              <a:srgbClr val="2F8F69"/>
            </a:solidFill>
          </a:ln>
          <a:effectLst>
            <a:outerShdw sx="100000" sy="100000" kx="0" ky="0" algn="b" rotWithShape="0" blurRad="25400" dist="12700" dir="2700000">
              <a:srgbClr val="000000">
                <a:alpha val="10000"/>
              </a:srgbClr>
            </a:outerShdw>
          </a:effectLst>
        </p:spPr>
        <p:txBody>
          <a:bodyPr lIns="45719" rIns="45719"/>
          <a:lstStyle/>
          <a:p>
            <a:pPr/>
          </a:p>
        </p:txBody>
      </p:sp>
      <p:sp>
        <p:nvSpPr>
          <p:cNvPr id="234" name="Text 14"/>
          <p:cNvSpPr txBox="1"/>
          <p:nvPr/>
        </p:nvSpPr>
        <p:spPr>
          <a:xfrm>
            <a:off x="1161288" y="4575048"/>
            <a:ext cx="228601" cy="30480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lgn="ctr">
              <a:defRPr b="1" sz="2000">
                <a:solidFill>
                  <a:srgbClr val="2F8F69"/>
                </a:solidFill>
              </a:defRPr>
            </a:lvl1pPr>
          </a:lstStyle>
          <a:p>
            <a:pPr/>
            <a:r>
              <a:t>4</a:t>
            </a:r>
          </a:p>
        </p:txBody>
      </p:sp>
      <p:sp>
        <p:nvSpPr>
          <p:cNvPr id="235" name="Text 15"/>
          <p:cNvSpPr txBox="1"/>
          <p:nvPr/>
        </p:nvSpPr>
        <p:spPr>
          <a:xfrm>
            <a:off x="1783079" y="4517135"/>
            <a:ext cx="9326882" cy="384049"/>
          </a:xfrm>
          <a:prstGeom prst="rect">
            <a:avLst/>
          </a:prstGeom>
          <a:ln w="12700">
            <a:miter lim="400000"/>
          </a:ln>
          <a:extLst>
            <a:ext uri="{C572A759-6A51-4108-AA02-DFA0A04FC94B}">
              <ma14:wrappingTextBoxFlag xmlns:ma14="http://schemas.microsoft.com/office/mac/drawingml/2011/main" val="1"/>
            </a:ext>
          </a:extLst>
        </p:spPr>
        <p:txBody>
          <a:bodyPr lIns="507" tIns="507" rIns="507" bIns="507" anchor="ctr">
            <a:normAutofit fontScale="100000" lnSpcReduction="0"/>
          </a:bodyPr>
          <a:lstStyle>
            <a:lvl1pPr defTabSz="877823">
              <a:lnSpc>
                <a:spcPct val="110000"/>
              </a:lnSpc>
              <a:defRPr sz="2112">
                <a:solidFill>
                  <a:srgbClr val="1E293B"/>
                </a:solidFill>
              </a:defRPr>
            </a:lvl1pPr>
          </a:lstStyle>
          <a:p>
            <a:pPr/>
            <a:r>
              <a:t>Evaluation is a simulation of real life: how will this model behave in the future?</a:t>
            </a:r>
          </a:p>
        </p:txBody>
      </p:sp>
      <p:sp>
        <p:nvSpPr>
          <p:cNvPr id="236" name="Shape 16"/>
          <p:cNvSpPr/>
          <p:nvPr/>
        </p:nvSpPr>
        <p:spPr>
          <a:xfrm>
            <a:off x="1005839" y="5650991"/>
            <a:ext cx="9966961" cy="411481"/>
          </a:xfrm>
          <a:prstGeom prst="roundRect">
            <a:avLst>
              <a:gd name="adj" fmla="val 26667"/>
            </a:avLst>
          </a:prstGeom>
          <a:solidFill>
            <a:srgbClr val="EAF3FB"/>
          </a:solidFill>
          <a:ln w="12700">
            <a:solidFill>
              <a:srgbClr val="2C6EAF"/>
            </a:solidFill>
          </a:ln>
          <a:effectLst>
            <a:outerShdw sx="100000" sy="100000" kx="0" ky="0" algn="b" rotWithShape="0" blurRad="25400" dist="12700" dir="2700000">
              <a:srgbClr val="000000">
                <a:alpha val="10000"/>
              </a:srgbClr>
            </a:outerShdw>
          </a:effectLst>
        </p:spPr>
        <p:txBody>
          <a:bodyPr lIns="45719" rIns="45719"/>
          <a:lstStyle/>
          <a:p>
            <a:pPr/>
          </a:p>
        </p:txBody>
      </p:sp>
      <p:sp>
        <p:nvSpPr>
          <p:cNvPr id="237" name="Text 17"/>
          <p:cNvSpPr txBox="1"/>
          <p:nvPr/>
        </p:nvSpPr>
        <p:spPr>
          <a:xfrm>
            <a:off x="1280160" y="5751576"/>
            <a:ext cx="9509760" cy="146305"/>
          </a:xfrm>
          <a:prstGeom prst="rect">
            <a:avLst/>
          </a:prstGeom>
          <a:ln w="12700">
            <a:miter lim="400000"/>
          </a:ln>
          <a:extLst>
            <a:ext uri="{C572A759-6A51-4108-AA02-DFA0A04FC94B}">
              <ma14:wrappingTextBoxFlag xmlns:ma14="http://schemas.microsoft.com/office/mac/drawingml/2011/main" val="1"/>
            </a:ext>
          </a:extLst>
        </p:spPr>
        <p:txBody>
          <a:bodyPr lIns="507" tIns="507" rIns="507" bIns="507" anchor="ctr">
            <a:normAutofit fontScale="100000" lnSpcReduction="0"/>
          </a:bodyPr>
          <a:lstStyle>
            <a:lvl1pPr defTabSz="466344">
              <a:lnSpc>
                <a:spcPct val="110000"/>
              </a:lnSpc>
              <a:defRPr b="1" sz="968">
                <a:solidFill>
                  <a:srgbClr val="2C6EAF"/>
                </a:solidFill>
              </a:defRPr>
            </a:lvl1pPr>
          </a:lstStyle>
          <a:p>
            <a:pPr/>
            <a:r>
              <a:t>Closing line: “A good model does not remember apples. It understands fruit.”</a:t>
            </a:r>
          </a:p>
        </p:txBody>
      </p:sp>
      <p:sp>
        <p:nvSpPr>
          <p:cNvPr id="238" name="Text 18"/>
          <p:cNvSpPr txBox="1"/>
          <p:nvPr/>
        </p:nvSpPr>
        <p:spPr>
          <a:xfrm>
            <a:off x="11475719" y="6489192"/>
            <a:ext cx="320041" cy="15240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lgn="r">
              <a:defRPr sz="1000">
                <a:solidFill>
                  <a:srgbClr val="64748B"/>
                </a:solidFill>
              </a:defRPr>
            </a:lvl1pPr>
          </a:lstStyle>
          <a:p>
            <a:pPr/>
            <a:r>
              <a:t>12</a:t>
            </a:r>
          </a:p>
        </p:txBody>
      </p:sp>
    </p:spTree>
  </p:cSld>
  <p:clrMapOvr>
    <a:masterClrMapping/>
  </p:clrMapOvr>
  <p:transition xmlns:p14="http://schemas.microsoft.com/office/powerpoint/2010/main" spd="med" advClick="1"/>
</p:sld>
</file>

<file path=ppt/theme/theme1.xml><?xml version="1.0" encoding="utf-8"?>
<a:theme xmlns:a="http://schemas.openxmlformats.org/drawingml/2006/main" xmlns:r="http://schemas.openxmlformats.org/officeDocument/2006/relationships" name="Office Theme">
  <a:themeElements>
    <a:clrScheme name="Office Theme">
      <a:dk1>
        <a:srgbClr val="000000"/>
      </a:dk1>
      <a:lt1>
        <a:srgbClr val="FFFFFF"/>
      </a:lt1>
      <a:dk2>
        <a:srgbClr val="A7A7A7"/>
      </a:dk2>
      <a:lt2>
        <a:srgbClr val="535353"/>
      </a:lt2>
      <a:accent1>
        <a:srgbClr val="4472C4"/>
      </a:accent1>
      <a:accent2>
        <a:srgbClr val="ED7D31"/>
      </a:accent2>
      <a:accent3>
        <a:srgbClr val="A5A5A5"/>
      </a:accent3>
      <a:accent4>
        <a:srgbClr val="FFC000"/>
      </a:accent4>
      <a:accent5>
        <a:srgbClr val="5B9BD5"/>
      </a:accent5>
      <a:accent6>
        <a:srgbClr val="70AD47"/>
      </a:accent6>
      <a:hlink>
        <a:srgbClr val="0000FF"/>
      </a:hlink>
      <a:folHlink>
        <a:srgbClr val="FF00FF"/>
      </a:folHlink>
    </a:clrScheme>
    <a:fontScheme name="Office Theme">
      <a:majorFont>
        <a:latin typeface="Aptos"/>
        <a:ea typeface="Aptos"/>
        <a:cs typeface="Aptos"/>
      </a:majorFont>
      <a:minorFont>
        <a:latin typeface="Helvetica"/>
        <a:ea typeface="Helvetica"/>
        <a:cs typeface="Helvetica"/>
      </a:minorFont>
    </a:fontScheme>
    <a:fmtScheme name="Office Them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29999"/>
              </a:schemeClr>
            </a:gs>
            <a:gs pos="100000">
              <a:schemeClr val="phClr">
                <a:tint val="50000"/>
                <a:shade val="100000"/>
                <a:satMod val="350000"/>
              </a:schemeClr>
            </a:gs>
          </a:gsLst>
          <a:lin ang="16200000" scaled="0"/>
        </a:gradFill>
      </a:fillStyleLst>
      <a:lnStyleLst>
        <a:ln w="9525" cap="flat" cmpd="sng" algn="ctr">
          <a:solidFill>
            <a:schemeClr val="phClr">
              <a:shade val="95000"/>
              <a:satMod val="104999"/>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effectStyle>
        <a:effectStyle>
          <a:effectLst/>
        </a:effectStyle>
        <a:effectStyle>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rgbClr val="FFFFFF"/>
        </a:solidFill>
        <a:ln w="12700" cap="flat">
          <a:solidFill>
            <a:schemeClr val="accent1"/>
          </a:solidFill>
          <a:prstDash val="solid"/>
          <a:miter lim="800000"/>
        </a:ln>
        <a:effectLst/>
        <a:sp3d/>
      </a:spPr>
      <a:bodyPr rot="0" spcFirstLastPara="1" vertOverflow="overflow" horzOverflow="overflow" vert="horz" wrap="square" lIns="45719" tIns="45719" rIns="45719" bIns="45719" numCol="1" spcCol="38100" rtlCol="0" anchor="ctr" upright="0">
        <a:spAutoFit/>
      </a:bodyPr>
      <a:lstStyle>
        <a:defPPr marL="0" marR="0" indent="0" algn="l" defTabSz="914400" rtl="0" fontAlgn="auto" latinLnBrk="0"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latin typeface="+mj-lt"/>
            <a:ea typeface="+mj-ea"/>
            <a:cs typeface="+mj-cs"/>
            <a:sym typeface="Aptos"/>
          </a:defRPr>
        </a:defPPr>
        <a:lvl1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9pPr>
      </a:lstStyle>
      <a:style>
        <a:lnRef idx="0"/>
        <a:fillRef idx="0"/>
        <a:effectRef idx="0"/>
        <a:fontRef idx="none"/>
      </a:style>
    </a:spDef>
    <a:lnDef>
      <a:spPr>
        <a:noFill/>
        <a:ln w="12700" cap="flat">
          <a:solidFill>
            <a:schemeClr val="accent1"/>
          </a:solidFill>
          <a:prstDash val="solid"/>
          <a:miter lim="800000"/>
        </a:ln>
        <a:effectLst/>
        <a:sp3d/>
      </a:spPr>
      <a:bodyPr rot="0" spcFirstLastPara="1" vertOverflow="overflow" horzOverflow="overflow" vert="horz" wrap="square" lIns="91439" tIns="45719" rIns="91439" bIns="45719" numCol="1" spcCol="38100" rtlCol="0" anchor="t" upright="0">
        <a:noAutofit/>
      </a:bodyPr>
      <a:lstStyle>
        <a:def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defPPr>
        <a:lvl1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9pPr>
      </a:lstStyle>
      <a:style>
        <a:lnRef idx="0"/>
        <a:fillRef idx="0"/>
        <a:effectRef idx="0"/>
        <a:fontRef idx="none"/>
      </a:style>
    </a:lnDef>
    <a:txDef>
      <a:spPr>
        <a:noFill/>
        <a:ln w="12700" cap="flat">
          <a:noFill/>
          <a:miter lim="400000"/>
        </a:ln>
        <a:effectLst/>
        <a:sp3d/>
      </a:spPr>
      <a:bodyPr rot="0" spcFirstLastPara="1" vertOverflow="overflow" horzOverflow="overflow" vert="horz" wrap="square" lIns="45719" tIns="45719" rIns="45719" bIns="45719" numCol="1" spcCol="38100" rtlCol="0" anchor="t" upright="0">
        <a:spAutoFit/>
      </a:bodyPr>
      <a:lstStyle>
        <a:defPPr marL="0" marR="0" indent="0" algn="l" defTabSz="914400" rtl="0" fontAlgn="auto" latinLnBrk="0"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latin typeface="+mj-lt"/>
            <a:ea typeface="+mj-ea"/>
            <a:cs typeface="+mj-cs"/>
            <a:sym typeface="Aptos"/>
          </a:defRPr>
        </a:defPPr>
        <a:lvl1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9pPr>
      </a:lstStyle>
      <a:style>
        <a:lnRef idx="0"/>
        <a:fillRef idx="0"/>
        <a:effectRef idx="0"/>
        <a:fontRef idx="none"/>
      </a:style>
    </a:txDef>
  </a:objectDefaults>
</a:theme>
</file>

<file path=ppt/theme/theme2.xml><?xml version="1.0" encoding="utf-8"?>
<a:theme xmlns:a="http://schemas.openxmlformats.org/drawingml/2006/main" xmlns:r="http://schemas.openxmlformats.org/officeDocument/2006/relationships" name="Office Theme">
  <a:themeElements>
    <a:clrScheme name="Office Theme">
      <a:dk1>
        <a:srgbClr val="000000"/>
      </a:dk1>
      <a:lt1>
        <a:srgbClr val="FFFFFF"/>
      </a:lt1>
      <a:dk2>
        <a:srgbClr val="A7A7A7"/>
      </a:dk2>
      <a:lt2>
        <a:srgbClr val="535353"/>
      </a:lt2>
      <a:accent1>
        <a:srgbClr val="4472C4"/>
      </a:accent1>
      <a:accent2>
        <a:srgbClr val="ED7D31"/>
      </a:accent2>
      <a:accent3>
        <a:srgbClr val="A5A5A5"/>
      </a:accent3>
      <a:accent4>
        <a:srgbClr val="FFC000"/>
      </a:accent4>
      <a:accent5>
        <a:srgbClr val="5B9BD5"/>
      </a:accent5>
      <a:accent6>
        <a:srgbClr val="70AD47"/>
      </a:accent6>
      <a:hlink>
        <a:srgbClr val="0000FF"/>
      </a:hlink>
      <a:folHlink>
        <a:srgbClr val="FF00FF"/>
      </a:folHlink>
    </a:clrScheme>
    <a:fontScheme name="Office Theme">
      <a:majorFont>
        <a:latin typeface="Aptos"/>
        <a:ea typeface="Aptos"/>
        <a:cs typeface="Aptos"/>
      </a:majorFont>
      <a:minorFont>
        <a:latin typeface="Helvetica"/>
        <a:ea typeface="Helvetica"/>
        <a:cs typeface="Helvetica"/>
      </a:minorFont>
    </a:fontScheme>
    <a:fmtScheme name="Office Them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29999"/>
              </a:schemeClr>
            </a:gs>
            <a:gs pos="100000">
              <a:schemeClr val="phClr">
                <a:tint val="50000"/>
                <a:shade val="100000"/>
                <a:satMod val="350000"/>
              </a:schemeClr>
            </a:gs>
          </a:gsLst>
          <a:lin ang="16200000" scaled="0"/>
        </a:gradFill>
      </a:fillStyleLst>
      <a:lnStyleLst>
        <a:ln w="9525" cap="flat" cmpd="sng" algn="ctr">
          <a:solidFill>
            <a:schemeClr val="phClr">
              <a:shade val="95000"/>
              <a:satMod val="104999"/>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effectStyle>
        <a:effectStyle>
          <a:effectLst/>
        </a:effectStyle>
        <a:effectStyle>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rgbClr val="FFFFFF"/>
        </a:solidFill>
        <a:ln w="12700" cap="flat">
          <a:solidFill>
            <a:schemeClr val="accent1"/>
          </a:solidFill>
          <a:prstDash val="solid"/>
          <a:miter lim="800000"/>
        </a:ln>
        <a:effectLst/>
        <a:sp3d/>
      </a:spPr>
      <a:bodyPr rot="0" spcFirstLastPara="1" vertOverflow="overflow" horzOverflow="overflow" vert="horz" wrap="square" lIns="45719" tIns="45719" rIns="45719" bIns="45719" numCol="1" spcCol="38100" rtlCol="0" anchor="ctr" upright="0">
        <a:spAutoFit/>
      </a:bodyPr>
      <a:lstStyle>
        <a:defPPr marL="0" marR="0" indent="0" algn="l" defTabSz="914400" rtl="0" fontAlgn="auto" latinLnBrk="0"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latin typeface="+mj-lt"/>
            <a:ea typeface="+mj-ea"/>
            <a:cs typeface="+mj-cs"/>
            <a:sym typeface="Aptos"/>
          </a:defRPr>
        </a:defPPr>
        <a:lvl1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9pPr>
      </a:lstStyle>
      <a:style>
        <a:lnRef idx="0"/>
        <a:fillRef idx="0"/>
        <a:effectRef idx="0"/>
        <a:fontRef idx="none"/>
      </a:style>
    </a:spDef>
    <a:lnDef>
      <a:spPr>
        <a:noFill/>
        <a:ln w="12700" cap="flat">
          <a:solidFill>
            <a:schemeClr val="accent1"/>
          </a:solidFill>
          <a:prstDash val="solid"/>
          <a:miter lim="800000"/>
        </a:ln>
        <a:effectLst/>
        <a:sp3d/>
      </a:spPr>
      <a:bodyPr rot="0" spcFirstLastPara="1" vertOverflow="overflow" horzOverflow="overflow" vert="horz" wrap="square" lIns="91439" tIns="45719" rIns="91439" bIns="45719" numCol="1" spcCol="38100" rtlCol="0" anchor="t" upright="0">
        <a:noAutofit/>
      </a:bodyPr>
      <a:lstStyle>
        <a:def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defPPr>
        <a:lvl1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9pPr>
      </a:lstStyle>
      <a:style>
        <a:lnRef idx="0"/>
        <a:fillRef idx="0"/>
        <a:effectRef idx="0"/>
        <a:fontRef idx="none"/>
      </a:style>
    </a:lnDef>
    <a:txDef>
      <a:spPr>
        <a:noFill/>
        <a:ln w="12700" cap="flat">
          <a:noFill/>
          <a:miter lim="400000"/>
        </a:ln>
        <a:effectLst/>
        <a:sp3d/>
      </a:spPr>
      <a:bodyPr rot="0" spcFirstLastPara="1" vertOverflow="overflow" horzOverflow="overflow" vert="horz" wrap="square" lIns="45719" tIns="45719" rIns="45719" bIns="45719" numCol="1" spcCol="38100" rtlCol="0" anchor="t" upright="0">
        <a:spAutoFit/>
      </a:bodyPr>
      <a:lstStyle>
        <a:defPPr marL="0" marR="0" indent="0" algn="l" defTabSz="914400" rtl="0" fontAlgn="auto" latinLnBrk="0"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latin typeface="+mj-lt"/>
            <a:ea typeface="+mj-ea"/>
            <a:cs typeface="+mj-cs"/>
            <a:sym typeface="Aptos"/>
          </a:defRPr>
        </a:defPPr>
        <a:lvl1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9pPr>
      </a:lstStyle>
      <a:style>
        <a:lnRef idx="0"/>
        <a:fillRef idx="0"/>
        <a:effectRef idx="0"/>
        <a:fontRef idx="none"/>
      </a:style>
    </a:txDef>
  </a:objectDefaults>
</a:theme>
</file>

<file path=docProps/app.xml><?xml version="1.0" encoding="utf-8"?>
<Properties xmlns="http://schemas.openxmlformats.org/officeDocument/2006/extended-properties" xmlns:vt="http://schemas.openxmlformats.org/officeDocument/2006/docPropsVTypes"/>
</file>

<file path=docProps/core.xml><?xml version="1.0" encoding="utf-8"?>
<cp:coreProperties xmlns:cp="http://schemas.openxmlformats.org/package/2006/metadata/core-properties" xmlns:dc="http://purl.org/dc/elements/1.1/" xmlns:dcterms="http://purl.org/dc/terms/" xmlns:xsi="http://www.w3.org/2001/XMLSchema-instance"/>
</file>