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7"/>
  </p:notesMasterIdLst>
  <p:sldIdLst>
    <p:sldId id="256" r:id="rId2"/>
    <p:sldId id="332" r:id="rId3"/>
    <p:sldId id="320" r:id="rId4"/>
    <p:sldId id="321" r:id="rId5"/>
    <p:sldId id="257" r:id="rId6"/>
    <p:sldId id="264" r:id="rId7"/>
    <p:sldId id="260" r:id="rId8"/>
    <p:sldId id="265" r:id="rId9"/>
    <p:sldId id="268" r:id="rId10"/>
    <p:sldId id="269" r:id="rId11"/>
    <p:sldId id="258" r:id="rId12"/>
    <p:sldId id="333" r:id="rId13"/>
    <p:sldId id="330" r:id="rId14"/>
    <p:sldId id="322" r:id="rId15"/>
    <p:sldId id="324" r:id="rId16"/>
    <p:sldId id="334" r:id="rId17"/>
    <p:sldId id="271" r:id="rId18"/>
    <p:sldId id="336" r:id="rId19"/>
    <p:sldId id="272" r:id="rId20"/>
    <p:sldId id="277" r:id="rId21"/>
    <p:sldId id="280" r:id="rId22"/>
    <p:sldId id="282" r:id="rId23"/>
    <p:sldId id="283" r:id="rId24"/>
    <p:sldId id="288" r:id="rId25"/>
    <p:sldId id="289" r:id="rId26"/>
    <p:sldId id="291" r:id="rId27"/>
    <p:sldId id="292" r:id="rId28"/>
    <p:sldId id="293" r:id="rId29"/>
    <p:sldId id="294" r:id="rId30"/>
    <p:sldId id="296" r:id="rId31"/>
    <p:sldId id="281" r:id="rId32"/>
    <p:sldId id="312" r:id="rId33"/>
    <p:sldId id="297" r:id="rId34"/>
    <p:sldId id="298" r:id="rId35"/>
    <p:sldId id="301" r:id="rId36"/>
    <p:sldId id="302" r:id="rId37"/>
    <p:sldId id="303" r:id="rId38"/>
    <p:sldId id="304" r:id="rId39"/>
    <p:sldId id="305" r:id="rId40"/>
    <p:sldId id="306" r:id="rId41"/>
    <p:sldId id="307" r:id="rId42"/>
    <p:sldId id="308" r:id="rId43"/>
    <p:sldId id="309" r:id="rId44"/>
    <p:sldId id="310" r:id="rId45"/>
    <p:sldId id="311" r:id="rId46"/>
  </p:sldIdLst>
  <p:sldSz cx="9144000" cy="5143500" type="screen16x9"/>
  <p:notesSz cx="6858000" cy="9144000"/>
  <p:embeddedFontLst>
    <p:embeddedFont>
      <p:font typeface="Calibri" panose="020F0502020204030204" pitchFamily="34" charset="0"/>
      <p:regular r:id="rId48"/>
      <p:bold r:id="rId49"/>
      <p:italic r:id="rId50"/>
      <p:boldItalic r:id="rId51"/>
    </p:embeddedFont>
    <p:embeddedFont>
      <p:font typeface="Gill Sans" panose="020B0502020104020203" pitchFamily="34" charset="-79"/>
      <p:regular r:id="rId52"/>
      <p:bold r:id="rId53"/>
    </p:embeddedFont>
    <p:embeddedFont>
      <p:font typeface="Montserrat" pitchFamily="2" charset="77"/>
      <p:regular r:id="rId54"/>
      <p:bold r:id="rId55"/>
      <p:italic r:id="rId56"/>
      <p:boldItalic r:id="rId57"/>
    </p:embeddedFont>
    <p:embeddedFont>
      <p:font typeface="Roboto" panose="02000000000000000000" pitchFamily="2" charset="0"/>
      <p:regular r:id="rId58"/>
      <p:bold r:id="rId59"/>
      <p:italic r:id="rId60"/>
      <p:boldItalic r:id="rId61"/>
    </p:embeddedFont>
    <p:embeddedFont>
      <p:font typeface="Roboto Mono" pitchFamily="49"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B2F37E-D800-42A8-BAA9-B668A769EFE7}">
  <a:tblStyle styleId="{9DB2F37E-D800-42A8-BAA9-B668A769EFE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5236"/>
    <p:restoredTop sz="78010"/>
  </p:normalViewPr>
  <p:slideViewPr>
    <p:cSldViewPr snapToGrid="0">
      <p:cViewPr>
        <p:scale>
          <a:sx n="100" d="100"/>
          <a:sy n="100" d="100"/>
        </p:scale>
        <p:origin x="792" y="3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notesMaster" Target="notesMasters/notesMaster1.xml"/><Relationship Id="rId63" Type="http://schemas.openxmlformats.org/officeDocument/2006/relationships/font" Target="fonts/font16.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font" Target="fonts/font11.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1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font" Target="fonts/font17.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2.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62"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3.fntdata"/><Relationship Id="rId55"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www.nytimes.com/interactive/2024/08/26/upshot/ai-synthetic-data.html"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voyager.minedojo.org/" TargetMode="External"/><Relationship Id="rId2" Type="http://schemas.openxmlformats.org/officeDocument/2006/relationships/slide" Target="../slides/slide35.xml"/><Relationship Id="rId1" Type="http://schemas.openxmlformats.org/officeDocument/2006/relationships/notesMaster" Target="../notesMasters/notesMaster1.xml"/><Relationship Id="rId4" Type="http://schemas.openxmlformats.org/officeDocument/2006/relationships/hyperlink" Target="https://mobile-aloha.github.io/" TargetMode="Externa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700a9d2f54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3700a9d2f5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dirty="0"/>
              <a:t>So rather than telling you </a:t>
            </a:r>
            <a:r>
              <a:rPr lang="en-US" sz="1100" i="1" dirty="0"/>
              <a:t>how to use it in your classroom</a:t>
            </a:r>
            <a:r>
              <a:rPr lang="en-US" sz="1100" dirty="0"/>
              <a:t>, I’ll show you </a:t>
            </a:r>
            <a:r>
              <a:rPr lang="en-US" sz="1100" i="1" dirty="0"/>
              <a:t>what it actually is.</a:t>
            </a:r>
            <a:endParaRPr lang="en-US" dirty="0"/>
          </a:p>
        </p:txBody>
      </p:sp>
    </p:spTree>
    <p:extLst>
      <p:ext uri="{BB962C8B-B14F-4D97-AF65-F5344CB8AC3E}">
        <p14:creationId xmlns:p14="http://schemas.microsoft.com/office/powerpoint/2010/main" val="1088914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14300" indent="0" algn="l">
              <a:buNone/>
            </a:pPr>
            <a:r>
              <a:rPr lang="en-US" b="1" i="0" u="none" strike="noStrike" dirty="0">
                <a:solidFill>
                  <a:srgbClr val="000000"/>
                </a:solidFill>
                <a:effectLst/>
                <a:latin typeface="-apple-system-font"/>
              </a:rPr>
              <a:t>Interested in: Autonomous Systems &amp; Robotics</a:t>
            </a:r>
            <a:r>
              <a:rPr lang="en-US" b="0" i="0" u="none" strike="noStrike" dirty="0">
                <a:solidFill>
                  <a:srgbClr val="000000"/>
                </a:solidFill>
                <a:effectLst/>
                <a:latin typeface="-apple-system-font"/>
              </a:rPr>
              <a:t>, where AI is applied in concrete, embodied ways: </a:t>
            </a:r>
            <a:r>
              <a:rPr lang="en-US" b="1" i="0" u="none" strike="noStrike" dirty="0">
                <a:solidFill>
                  <a:schemeClr val="accent5">
                    <a:lumMod val="75000"/>
                  </a:schemeClr>
                </a:solidFill>
                <a:effectLst/>
                <a:latin typeface="-apple-system-font"/>
              </a:rPr>
              <a:t>sensing</a:t>
            </a:r>
            <a:r>
              <a:rPr lang="en-US" b="0" i="0" u="none" strike="noStrike" dirty="0">
                <a:solidFill>
                  <a:srgbClr val="000000"/>
                </a:solidFill>
                <a:effectLst/>
                <a:latin typeface="-apple-system-font"/>
              </a:rPr>
              <a:t>, </a:t>
            </a:r>
            <a:r>
              <a:rPr lang="en-US" b="1" i="0" u="none" strike="noStrike" dirty="0">
                <a:solidFill>
                  <a:schemeClr val="accent4">
                    <a:lumMod val="75000"/>
                  </a:schemeClr>
                </a:solidFill>
                <a:effectLst/>
                <a:latin typeface="-apple-system-font"/>
              </a:rPr>
              <a:t>navigation</a:t>
            </a:r>
            <a:r>
              <a:rPr lang="en-US" b="0" i="0" u="none" strike="noStrike" dirty="0">
                <a:solidFill>
                  <a:srgbClr val="000000"/>
                </a:solidFill>
                <a:effectLst/>
                <a:latin typeface="-apple-system-font"/>
              </a:rPr>
              <a:t>, </a:t>
            </a:r>
            <a:r>
              <a:rPr lang="en-US" b="1" i="0" u="none" strike="noStrike" dirty="0">
                <a:solidFill>
                  <a:srgbClr val="FF0000"/>
                </a:solidFill>
                <a:effectLst/>
                <a:latin typeface="-apple-system-font"/>
              </a:rPr>
              <a:t>decision-making</a:t>
            </a:r>
            <a:r>
              <a:rPr lang="en-US" b="0" i="0" u="none" strike="noStrike" dirty="0">
                <a:solidFill>
                  <a:srgbClr val="000000"/>
                </a:solidFill>
                <a:effectLst/>
                <a:latin typeface="-apple-system-font"/>
              </a:rPr>
              <a:t>, </a:t>
            </a:r>
            <a:r>
              <a:rPr lang="en-US" b="1" i="0" u="none" strike="noStrike" dirty="0">
                <a:solidFill>
                  <a:schemeClr val="accent1">
                    <a:lumMod val="75000"/>
                  </a:schemeClr>
                </a:solidFill>
                <a:effectLst/>
                <a:latin typeface="-apple-system-font"/>
              </a:rPr>
              <a:t>and interaction</a:t>
            </a:r>
            <a:r>
              <a:rPr lang="en-US" b="0" i="0" u="none" strike="noStrike" dirty="0">
                <a:solidFill>
                  <a:srgbClr val="000000"/>
                </a:solidFill>
                <a:effectLst/>
                <a:latin typeface="-apple-system-font"/>
              </a:rPr>
              <a:t>.</a:t>
            </a:r>
          </a:p>
          <a:p>
            <a:pPr algn="l"/>
            <a:r>
              <a:rPr lang="en-US" b="0" i="0" u="none" strike="noStrike" dirty="0">
                <a:solidFill>
                  <a:srgbClr val="000000"/>
                </a:solidFill>
                <a:effectLst/>
                <a:latin typeface="-apple-system-font"/>
              </a:rPr>
              <a:t>More specifically, my focus is on </a:t>
            </a:r>
            <a:r>
              <a:rPr lang="en-US" b="1" i="0" u="none" strike="noStrike" dirty="0">
                <a:solidFill>
                  <a:srgbClr val="000000"/>
                </a:solidFill>
                <a:effectLst/>
                <a:latin typeface="-apple-system-font"/>
              </a:rPr>
              <a:t>Human-Robot Interaction: </a:t>
            </a:r>
            <a:r>
              <a:rPr lang="en-US" b="0" i="0" u="none" strike="noStrike" dirty="0">
                <a:solidFill>
                  <a:srgbClr val="000000"/>
                </a:solidFill>
                <a:effectLst/>
                <a:latin typeface="-apple-system-font"/>
              </a:rPr>
              <a:t>building robotic systems that can interpret social cues, adapt to feedback and collaborate intelligently in real environments.</a:t>
            </a:r>
            <a:endParaRPr lang="en-US" i="1" dirty="0"/>
          </a:p>
          <a:p>
            <a:endParaRPr lang="en-US" dirty="0"/>
          </a:p>
        </p:txBody>
      </p:sp>
    </p:spTree>
    <p:extLst>
      <p:ext uri="{BB962C8B-B14F-4D97-AF65-F5344CB8AC3E}">
        <p14:creationId xmlns:p14="http://schemas.microsoft.com/office/powerpoint/2010/main" val="1309314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59920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f5a34dbe72_0_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2f5a34dbe72_0_4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ec1f2da49b_2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ec1f2da49b_2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We’ll start with the early days of NLP, walk through the evolution toward transformers, look at what LLMs actually excel at, where they break, and what’s coming next.</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ec1f2da49b_2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ec1f2da49b_2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ELIZA was one of the first chatbots — it didn’t understand anything, it just mirrored patterns back at the user. What’s wild is: many people </a:t>
            </a:r>
            <a:r>
              <a:rPr lang="en-US" i="1" dirty="0"/>
              <a:t>still</a:t>
            </a:r>
            <a:r>
              <a:rPr lang="en-US" dirty="0"/>
              <a:t> felt emotionally connected to it.</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f5a34dbe72_0_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f5a34dbe72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f5a34dbe72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f5a34dbe72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r>
              <a:rPr lang="en-US" dirty="0"/>
              <a:t>Before transformers, computers needed explicit semantic parsers to extract meaning. </a:t>
            </a:r>
            <a:endParaRPr lang="en-US" b="1" dirty="0"/>
          </a:p>
          <a:p>
            <a:r>
              <a:rPr lang="en-US" b="1" dirty="0"/>
              <a:t>Semantic parsing is the process of taking a sentence and converting it into a structured, machine-readable meaning representation</a:t>
            </a:r>
          </a:p>
          <a:p>
            <a:r>
              <a:rPr lang="en-US" dirty="0"/>
              <a:t>The Penn Treebank is a huge collection of English sentences that were hand-labeled with grammatical structure.</a:t>
            </a:r>
            <a:br>
              <a:rPr lang="en-US" dirty="0"/>
            </a:br>
            <a:r>
              <a:rPr lang="en-US" dirty="0"/>
              <a:t>It became the gold-standard dataset for teaching computers how human language is organized. </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f5a34dbe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f5a34dbe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Instead of treating words as symbols, they became points in a high-dimensional space. This gave models a mathematical way to represent meaning — or at least </a:t>
            </a:r>
            <a:r>
              <a:rPr lang="en-US" i="1" dirty="0"/>
              <a:t>relationships</a:t>
            </a:r>
            <a:r>
              <a:rPr lang="en-US" dirty="0"/>
              <a:t> between words. ‘</a:t>
            </a:r>
          </a:p>
          <a:p>
            <a:pPr marL="0" lvl="0" indent="0" algn="l" rtl="0">
              <a:spcBef>
                <a:spcPts val="0"/>
              </a:spcBef>
              <a:spcAft>
                <a:spcPts val="0"/>
              </a:spcAft>
              <a:buClr>
                <a:schemeClr val="dk1"/>
              </a:buClr>
              <a:buSzPts val="1100"/>
              <a:buFont typeface="Arial"/>
              <a:buNone/>
            </a:pPr>
            <a:endParaRPr lang="en-US" dirty="0"/>
          </a:p>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1100" dirty="0">
                <a:effectLst/>
                <a:ea typeface="Times New Roman" panose="02020603050405020304" pitchFamily="18" charset="0"/>
              </a:rPr>
              <a:t>In both sentences, the semantic or meaning-related relationship is preserved, i.e. cat and dog  are animals. And the sentence makes sense. </a:t>
            </a:r>
          </a:p>
          <a:p>
            <a:pPr marL="0" lvl="0" indent="0" algn="l" rtl="0">
              <a:spcBef>
                <a:spcPts val="0"/>
              </a:spcBef>
              <a:spcAft>
                <a:spcPts val="0"/>
              </a:spcAft>
              <a:buClr>
                <a:schemeClr val="dk1"/>
              </a:buClr>
              <a:buSzPts val="1100"/>
              <a:buFont typeface="Arial"/>
              <a:buNone/>
            </a:pPr>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every word has a row of numbers (a vector)</a:t>
            </a:r>
          </a:p>
          <a:p>
            <a:r>
              <a:rPr lang="en-US" dirty="0"/>
              <a:t>Each number corresponds to some dimension like living being, feline, </a:t>
            </a:r>
            <a:r>
              <a:rPr lang="en-US" dirty="0" err="1"/>
              <a:t>etc</a:t>
            </a:r>
            <a:r>
              <a:rPr lang="en-US" dirty="0"/>
              <a:t> in real models, dimensions are </a:t>
            </a:r>
            <a:r>
              <a:rPr lang="en-US" b="1" dirty="0"/>
              <a:t>not interpretable</a:t>
            </a:r>
            <a:r>
              <a:rPr lang="en-US" dirty="0"/>
              <a:t> like this.</a:t>
            </a:r>
          </a:p>
        </p:txBody>
      </p:sp>
    </p:spTree>
    <p:extLst>
      <p:ext uri="{BB962C8B-B14F-4D97-AF65-F5344CB8AC3E}">
        <p14:creationId xmlns:p14="http://schemas.microsoft.com/office/powerpoint/2010/main" val="2317209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f5a34dbe72_0_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f5a34dbe72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8342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solidFill>
                  <a:schemeClr val="tx1"/>
                </a:solidFill>
              </a:rPr>
              <a:t>The main and most important feature of RNN is its </a:t>
            </a:r>
            <a:r>
              <a:rPr lang="en-US" b="1" dirty="0">
                <a:solidFill>
                  <a:schemeClr val="tx1"/>
                </a:solidFill>
              </a:rPr>
              <a:t>Hidden state</a:t>
            </a:r>
            <a:r>
              <a:rPr lang="en-US" dirty="0">
                <a:solidFill>
                  <a:schemeClr val="tx1"/>
                </a:solidFill>
              </a:rPr>
              <a:t>, which remembers some information about a sequence. The state is also referred to as </a:t>
            </a:r>
            <a:r>
              <a:rPr lang="en-US" b="1" i="1" dirty="0">
                <a:solidFill>
                  <a:schemeClr val="tx1"/>
                </a:solidFill>
              </a:rPr>
              <a:t>Memory State </a:t>
            </a:r>
            <a:r>
              <a:rPr lang="en-US" dirty="0">
                <a:solidFill>
                  <a:schemeClr val="tx1"/>
                </a:solidFill>
              </a:rPr>
              <a:t>since it remembers the previous input to the network. </a:t>
            </a:r>
          </a:p>
          <a:p>
            <a:endParaRPr lang="en-US" dirty="0"/>
          </a:p>
          <a:p>
            <a:r>
              <a:rPr lang="en-US" dirty="0"/>
              <a:t>RNNs were the first major attempt to model sequences. They could ‘remember’ previous context through hidden states. But they had big limitations — they forget long-term information, and they’re slow</a:t>
            </a:r>
          </a:p>
        </p:txBody>
      </p:sp>
    </p:spTree>
    <p:extLst>
      <p:ext uri="{BB962C8B-B14F-4D97-AF65-F5344CB8AC3E}">
        <p14:creationId xmlns:p14="http://schemas.microsoft.com/office/powerpoint/2010/main" val="718277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visual gives you a representation of the models that are trained within input at time t</a:t>
            </a:r>
          </a:p>
        </p:txBody>
      </p:sp>
    </p:spTree>
    <p:extLst>
      <p:ext uri="{BB962C8B-B14F-4D97-AF65-F5344CB8AC3E}">
        <p14:creationId xmlns:p14="http://schemas.microsoft.com/office/powerpoint/2010/main" val="36830264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A45CAF-3694-EE43-8C05-1124692B807A}" type="slidenum">
              <a:rPr lang="en-US" smtClean="0"/>
              <a:t>15</a:t>
            </a:fld>
            <a:endParaRPr lang="en-US"/>
          </a:p>
        </p:txBody>
      </p:sp>
    </p:spTree>
    <p:extLst>
      <p:ext uri="{BB962C8B-B14F-4D97-AF65-F5344CB8AC3E}">
        <p14:creationId xmlns:p14="http://schemas.microsoft.com/office/powerpoint/2010/main" val="34619804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hypothetical RNN tries to predict the next word in a sentence, with the prediction shown in the top row of the diagram. This network has three layers, each represented by a rectangle. It is inherently linear: it has to complete its analysis of the first word, “How,” before passing the hidden state back to the bottom layer so the network can start to analyze the second word, “are.”</a:t>
            </a:r>
          </a:p>
          <a:p>
            <a:r>
              <a:rPr lang="en-US" dirty="0"/>
              <a:t>This constraint wasn’t a big deal when machine learning algorithms ran on CPUs. But when people started leveraging the parallel computing power of GPUs, the linear architecture of RNNs became a serious obstacle.</a:t>
            </a:r>
          </a:p>
          <a:p>
            <a:endParaRPr lang="en-US" dirty="0"/>
          </a:p>
        </p:txBody>
      </p:sp>
    </p:spTree>
    <p:extLst>
      <p:ext uri="{BB962C8B-B14F-4D97-AF65-F5344CB8AC3E}">
        <p14:creationId xmlns:p14="http://schemas.microsoft.com/office/powerpoint/2010/main" val="32341854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f5a34dbe72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f5a34dbe72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transformer-based model shown here does roughly as many computations as the RNN in the previous diagram. So it might not run any faster on a (single-core) CPU. But because the model doesn’t need to finish with “How” before starting on “are,” “you,” or “doing,” it can work on all of these words simultaneously. So it can run a </a:t>
            </a:r>
            <a:r>
              <a:rPr lang="en-US" i="1" dirty="0"/>
              <a:t>lot</a:t>
            </a:r>
            <a:r>
              <a:rPr lang="en-US" dirty="0"/>
              <a:t> faster on a GPU with many parallel execution units.</a:t>
            </a:r>
          </a:p>
        </p:txBody>
      </p:sp>
    </p:spTree>
    <p:extLst>
      <p:ext uri="{BB962C8B-B14F-4D97-AF65-F5344CB8AC3E}">
        <p14:creationId xmlns:p14="http://schemas.microsoft.com/office/powerpoint/2010/main" val="14150036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f5a34dbe72_0_4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2f5a34dbe72_0_4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f5a34dbe72_0_4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f5a34dbe72_0_4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f5a34dbe72_0_5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2f5a34dbe72_0_5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f5a34dbe72_0_2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2f5a34dbe72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2f5a34dbe72_0_2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2f5a34dbe72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f5a34dbe72_0_3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2f5a34dbe72_0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f5a34dbe72_0_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2f5a34dbe72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ec1f2da49b_2_2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ec1f2da49b_2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2f60324fabc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2f60324fabc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f60324fab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2f60324fa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f5a34dbe72_0_7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2f5a34dbe72_0_7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ec1f2da49b_2_2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ec1f2da49b_2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f06243a2b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2f06243a2b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At first, statistical language models mainly assisted in some specific tasks (e.g., retrieval or speech tasks), in which the predicted or estimated probabilities can enhance the performance of task-specific approaches. Subsequently, neural language models focused on learning task-agnostic representations (e.g., features), aiming to reduce the efforts for human feature engineering. Furthermore, pre-trained language models learned context-aware representations that can be optimized according to downstream tasks. For the latest generation of language model, LLMs are enhanced by exploring the scaling effect on model capacity, which can be considered as general-purpose task solvers. To summarize, in the evolution process, the task scope that can be solved by language models have been greatly extended, and the task performance attained by language models have been significantly enhanced.</a:t>
            </a:r>
            <a:endParaRPr/>
          </a:p>
        </p:txBody>
      </p:sp>
    </p:spTree>
    <p:extLst>
      <p:ext uri="{BB962C8B-B14F-4D97-AF65-F5344CB8AC3E}">
        <p14:creationId xmlns:p14="http://schemas.microsoft.com/office/powerpoint/2010/main" val="12774695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2f5a34dbe72_0_7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 name="Google Shape;613;g2f5a34dbe72_0_7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f60324fabc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2f60324fabc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f60324fabc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f60324fab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was also discussed just this week in the NYT: </a:t>
            </a:r>
            <a:r>
              <a:rPr lang="en" u="sng">
                <a:solidFill>
                  <a:schemeClr val="hlink"/>
                </a:solidFill>
                <a:hlinkClick r:id="rId3"/>
              </a:rPr>
              <a:t>https://www.nytimes.com/interactive/2024/08/26/upshot/ai-synthetic-data.html</a:t>
            </a:r>
            <a:endParaRPr/>
          </a:p>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f5a34dbe72_0_4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f5a34dbe72_0_4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dirty="0">
                <a:solidFill>
                  <a:schemeClr val="hlink"/>
                </a:solidFill>
                <a:hlinkClick r:id="rId3"/>
              </a:rPr>
              <a:t>https://voyager.minedojo.org/</a:t>
            </a:r>
            <a:endParaRPr dirty="0"/>
          </a:p>
          <a:p>
            <a:pPr marL="0" lvl="0" indent="0" algn="l" rtl="0">
              <a:spcBef>
                <a:spcPts val="0"/>
              </a:spcBef>
              <a:spcAft>
                <a:spcPts val="0"/>
              </a:spcAft>
              <a:buNone/>
            </a:pPr>
            <a:br>
              <a:rPr lang="en" dirty="0"/>
            </a:br>
            <a:r>
              <a:rPr lang="en" u="sng" dirty="0">
                <a:solidFill>
                  <a:schemeClr val="hlink"/>
                </a:solidFill>
                <a:hlinkClick r:id="rId4"/>
              </a:rPr>
              <a:t>https://mobile-aloha.github.io/</a:t>
            </a:r>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2f65db412a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2f65db412ae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2f5a34dbe72_0_7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2f5a34dbe72_0_7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2f5a34dbe72_0_7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2f5a34dbe72_0_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2f5a34dbe72_0_8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2f5a34dbe72_0_8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f5a34dbe72_0_8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f5a34dbe72_0_8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2f5a34dbe72_0_9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2f5a34dbe72_0_9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2f5a34dbe72_0_9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2f5a34dbe72_0_9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2f5a34dbe72_0_9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2f5a34dbe72_0_9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2f5a34dbe72_0_9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2f5a34dbe72_0_9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2f5a34dbe72_0_9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2f5a34dbe72_0_9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98100" y="1996675"/>
            <a:ext cx="8281800" cy="1486200"/>
          </a:xfrm>
          <a:prstGeom prst="rect">
            <a:avLst/>
          </a:prstGeom>
        </p:spPr>
        <p:txBody>
          <a:bodyPr spcFirstLastPara="1" wrap="square" lIns="91425" tIns="91425" rIns="91425" bIns="91425" anchor="ctr" anchorCtr="0">
            <a:normAutofit/>
          </a:bodyPr>
          <a:lstStyle>
            <a:lvl1pPr lvl="0">
              <a:spcBef>
                <a:spcPts val="0"/>
              </a:spcBef>
              <a:spcAft>
                <a:spcPts val="0"/>
              </a:spcAft>
              <a:buClr>
                <a:srgbClr val="434343"/>
              </a:buClr>
              <a:buSzPts val="4200"/>
              <a:buFont typeface="Roboto"/>
              <a:buNone/>
              <a:defRPr sz="4200">
                <a:solidFill>
                  <a:srgbClr val="434343"/>
                </a:solidFill>
                <a:latin typeface="Roboto"/>
                <a:ea typeface="Roboto"/>
                <a:cs typeface="Roboto"/>
                <a:sym typeface="Roboto"/>
              </a:defRPr>
            </a:lvl1pPr>
            <a:lvl2pPr lvl="1" algn="ctr">
              <a:spcBef>
                <a:spcPts val="0"/>
              </a:spcBef>
              <a:spcAft>
                <a:spcPts val="0"/>
              </a:spcAft>
              <a:buClr>
                <a:srgbClr val="434343"/>
              </a:buClr>
              <a:buSzPts val="4600"/>
              <a:buFont typeface="Roboto"/>
              <a:buNone/>
              <a:defRPr sz="4600">
                <a:solidFill>
                  <a:srgbClr val="434343"/>
                </a:solidFill>
                <a:latin typeface="Roboto"/>
                <a:ea typeface="Roboto"/>
                <a:cs typeface="Roboto"/>
                <a:sym typeface="Roboto"/>
              </a:defRPr>
            </a:lvl2pPr>
            <a:lvl3pPr lvl="2" algn="ctr">
              <a:spcBef>
                <a:spcPts val="0"/>
              </a:spcBef>
              <a:spcAft>
                <a:spcPts val="0"/>
              </a:spcAft>
              <a:buClr>
                <a:srgbClr val="434343"/>
              </a:buClr>
              <a:buSzPts val="4600"/>
              <a:buFont typeface="Roboto"/>
              <a:buNone/>
              <a:defRPr sz="4600">
                <a:solidFill>
                  <a:srgbClr val="434343"/>
                </a:solidFill>
                <a:latin typeface="Roboto"/>
                <a:ea typeface="Roboto"/>
                <a:cs typeface="Roboto"/>
                <a:sym typeface="Roboto"/>
              </a:defRPr>
            </a:lvl3pPr>
            <a:lvl4pPr lvl="3" algn="ctr">
              <a:spcBef>
                <a:spcPts val="0"/>
              </a:spcBef>
              <a:spcAft>
                <a:spcPts val="0"/>
              </a:spcAft>
              <a:buClr>
                <a:srgbClr val="434343"/>
              </a:buClr>
              <a:buSzPts val="4600"/>
              <a:buFont typeface="Roboto"/>
              <a:buNone/>
              <a:defRPr sz="4600">
                <a:solidFill>
                  <a:srgbClr val="434343"/>
                </a:solidFill>
                <a:latin typeface="Roboto"/>
                <a:ea typeface="Roboto"/>
                <a:cs typeface="Roboto"/>
                <a:sym typeface="Roboto"/>
              </a:defRPr>
            </a:lvl4pPr>
            <a:lvl5pPr lvl="4" algn="ctr">
              <a:spcBef>
                <a:spcPts val="0"/>
              </a:spcBef>
              <a:spcAft>
                <a:spcPts val="0"/>
              </a:spcAft>
              <a:buClr>
                <a:srgbClr val="434343"/>
              </a:buClr>
              <a:buSzPts val="4600"/>
              <a:buFont typeface="Roboto"/>
              <a:buNone/>
              <a:defRPr sz="4600">
                <a:solidFill>
                  <a:srgbClr val="434343"/>
                </a:solidFill>
                <a:latin typeface="Roboto"/>
                <a:ea typeface="Roboto"/>
                <a:cs typeface="Roboto"/>
                <a:sym typeface="Roboto"/>
              </a:defRPr>
            </a:lvl5pPr>
            <a:lvl6pPr lvl="5" algn="ctr">
              <a:spcBef>
                <a:spcPts val="0"/>
              </a:spcBef>
              <a:spcAft>
                <a:spcPts val="0"/>
              </a:spcAft>
              <a:buClr>
                <a:srgbClr val="434343"/>
              </a:buClr>
              <a:buSzPts val="4600"/>
              <a:buFont typeface="Roboto"/>
              <a:buNone/>
              <a:defRPr sz="4600">
                <a:solidFill>
                  <a:srgbClr val="434343"/>
                </a:solidFill>
                <a:latin typeface="Roboto"/>
                <a:ea typeface="Roboto"/>
                <a:cs typeface="Roboto"/>
                <a:sym typeface="Roboto"/>
              </a:defRPr>
            </a:lvl6pPr>
            <a:lvl7pPr lvl="6" algn="ctr">
              <a:spcBef>
                <a:spcPts val="0"/>
              </a:spcBef>
              <a:spcAft>
                <a:spcPts val="0"/>
              </a:spcAft>
              <a:buClr>
                <a:srgbClr val="434343"/>
              </a:buClr>
              <a:buSzPts val="4600"/>
              <a:buFont typeface="Roboto"/>
              <a:buNone/>
              <a:defRPr sz="4600">
                <a:solidFill>
                  <a:srgbClr val="434343"/>
                </a:solidFill>
                <a:latin typeface="Roboto"/>
                <a:ea typeface="Roboto"/>
                <a:cs typeface="Roboto"/>
                <a:sym typeface="Roboto"/>
              </a:defRPr>
            </a:lvl7pPr>
            <a:lvl8pPr lvl="7" algn="ctr">
              <a:spcBef>
                <a:spcPts val="0"/>
              </a:spcBef>
              <a:spcAft>
                <a:spcPts val="0"/>
              </a:spcAft>
              <a:buClr>
                <a:srgbClr val="434343"/>
              </a:buClr>
              <a:buSzPts val="4600"/>
              <a:buFont typeface="Roboto"/>
              <a:buNone/>
              <a:defRPr sz="4600">
                <a:solidFill>
                  <a:srgbClr val="434343"/>
                </a:solidFill>
                <a:latin typeface="Roboto"/>
                <a:ea typeface="Roboto"/>
                <a:cs typeface="Roboto"/>
                <a:sym typeface="Roboto"/>
              </a:defRPr>
            </a:lvl8pPr>
            <a:lvl9pPr lvl="8" algn="ctr">
              <a:spcBef>
                <a:spcPts val="0"/>
              </a:spcBef>
              <a:spcAft>
                <a:spcPts val="0"/>
              </a:spcAft>
              <a:buClr>
                <a:srgbClr val="434343"/>
              </a:buClr>
              <a:buSzPts val="4600"/>
              <a:buFont typeface="Roboto"/>
              <a:buNone/>
              <a:defRPr sz="4600">
                <a:solidFill>
                  <a:srgbClr val="434343"/>
                </a:solidFill>
                <a:latin typeface="Roboto"/>
                <a:ea typeface="Roboto"/>
                <a:cs typeface="Roboto"/>
                <a:sym typeface="Roboto"/>
              </a:defRPr>
            </a:lvl9pPr>
          </a:lstStyle>
          <a:p>
            <a:endParaRPr/>
          </a:p>
        </p:txBody>
      </p:sp>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2" name="Google Shape;12;p2"/>
          <p:cNvPicPr preferRelativeResize="0"/>
          <p:nvPr/>
        </p:nvPicPr>
        <p:blipFill rotWithShape="1">
          <a:blip r:embed="rId2">
            <a:alphaModFix amt="7000"/>
          </a:blip>
          <a:srcRect/>
          <a:stretch/>
        </p:blipFill>
        <p:spPr>
          <a:xfrm>
            <a:off x="6107325" y="2043700"/>
            <a:ext cx="2627376" cy="2985675"/>
          </a:xfrm>
          <a:prstGeom prst="rect">
            <a:avLst/>
          </a:prstGeom>
          <a:noFill/>
          <a:ln>
            <a:noFill/>
          </a:ln>
        </p:spPr>
      </p:pic>
      <p:pic>
        <p:nvPicPr>
          <p:cNvPr id="13" name="Google Shape;13;p2"/>
          <p:cNvPicPr preferRelativeResize="0"/>
          <p:nvPr/>
        </p:nvPicPr>
        <p:blipFill rotWithShape="1">
          <a:blip r:embed="rId3">
            <a:alphaModFix/>
          </a:blip>
          <a:srcRect t="159" b="149"/>
          <a:stretch/>
        </p:blipFill>
        <p:spPr>
          <a:xfrm>
            <a:off x="413450" y="178821"/>
            <a:ext cx="8281800" cy="1298079"/>
          </a:xfrm>
          <a:prstGeom prst="rect">
            <a:avLst/>
          </a:prstGeom>
          <a:noFill/>
          <a:ln>
            <a:noFill/>
          </a:ln>
        </p:spPr>
      </p:pic>
      <p:sp>
        <p:nvSpPr>
          <p:cNvPr id="14" name="Google Shape;14;p2"/>
          <p:cNvSpPr txBox="1"/>
          <p:nvPr/>
        </p:nvSpPr>
        <p:spPr>
          <a:xfrm>
            <a:off x="398100" y="3495400"/>
            <a:ext cx="3503100" cy="66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a:solidFill>
                  <a:schemeClr val="dk2"/>
                </a:solidFill>
                <a:latin typeface="Roboto"/>
                <a:ea typeface="Roboto"/>
                <a:cs typeface="Roboto"/>
                <a:sym typeface="Roboto"/>
              </a:rPr>
              <a:t>Professor Mayur Naik</a:t>
            </a:r>
            <a:endParaRPr sz="2400" b="1">
              <a:solidFill>
                <a:schemeClr val="dk2"/>
              </a:solidFill>
              <a:latin typeface="Roboto"/>
              <a:ea typeface="Roboto"/>
              <a:cs typeface="Roboto"/>
              <a:sym typeface="Roboto"/>
            </a:endParaRPr>
          </a:p>
        </p:txBody>
      </p:sp>
      <p:sp>
        <p:nvSpPr>
          <p:cNvPr id="15" name="Google Shape;15;p2"/>
          <p:cNvSpPr txBox="1"/>
          <p:nvPr/>
        </p:nvSpPr>
        <p:spPr>
          <a:xfrm>
            <a:off x="5801750" y="1526850"/>
            <a:ext cx="2882100" cy="535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2100" b="1">
                <a:solidFill>
                  <a:schemeClr val="dk2"/>
                </a:solidFill>
                <a:latin typeface="Roboto"/>
                <a:ea typeface="Roboto"/>
                <a:cs typeface="Roboto"/>
                <a:sym typeface="Roboto"/>
              </a:rPr>
              <a:t>CIS 7000 - Fall 2024</a:t>
            </a:r>
            <a:endParaRPr sz="2100" b="1">
              <a:solidFill>
                <a:schemeClr val="dk2"/>
              </a:solidFill>
              <a:latin typeface="Roboto"/>
              <a:ea typeface="Roboto"/>
              <a:cs typeface="Roboto"/>
              <a:sym typeface="Robo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600"/>
              <a:buFont typeface="Roboto"/>
              <a:buNone/>
              <a:defRPr sz="2600">
                <a:latin typeface="Roboto"/>
                <a:ea typeface="Roboto"/>
                <a:cs typeface="Roboto"/>
                <a:sym typeface="Roboto"/>
              </a:defRPr>
            </a:lvl1pPr>
            <a:lvl2pPr lvl="1">
              <a:spcBef>
                <a:spcPts val="0"/>
              </a:spcBef>
              <a:spcAft>
                <a:spcPts val="0"/>
              </a:spcAft>
              <a:buSzPts val="2600"/>
              <a:buFont typeface="Roboto"/>
              <a:buNone/>
              <a:defRPr sz="2600">
                <a:latin typeface="Roboto"/>
                <a:ea typeface="Roboto"/>
                <a:cs typeface="Roboto"/>
                <a:sym typeface="Roboto"/>
              </a:defRPr>
            </a:lvl2pPr>
            <a:lvl3pPr lvl="2">
              <a:spcBef>
                <a:spcPts val="0"/>
              </a:spcBef>
              <a:spcAft>
                <a:spcPts val="0"/>
              </a:spcAft>
              <a:buSzPts val="2600"/>
              <a:buFont typeface="Roboto"/>
              <a:buNone/>
              <a:defRPr sz="2600">
                <a:latin typeface="Roboto"/>
                <a:ea typeface="Roboto"/>
                <a:cs typeface="Roboto"/>
                <a:sym typeface="Roboto"/>
              </a:defRPr>
            </a:lvl3pPr>
            <a:lvl4pPr lvl="3">
              <a:spcBef>
                <a:spcPts val="0"/>
              </a:spcBef>
              <a:spcAft>
                <a:spcPts val="0"/>
              </a:spcAft>
              <a:buSzPts val="2600"/>
              <a:buFont typeface="Roboto"/>
              <a:buNone/>
              <a:defRPr sz="2600">
                <a:latin typeface="Roboto"/>
                <a:ea typeface="Roboto"/>
                <a:cs typeface="Roboto"/>
                <a:sym typeface="Roboto"/>
              </a:defRPr>
            </a:lvl4pPr>
            <a:lvl5pPr lvl="4">
              <a:spcBef>
                <a:spcPts val="0"/>
              </a:spcBef>
              <a:spcAft>
                <a:spcPts val="0"/>
              </a:spcAft>
              <a:buSzPts val="2600"/>
              <a:buFont typeface="Roboto"/>
              <a:buNone/>
              <a:defRPr sz="2600">
                <a:latin typeface="Roboto"/>
                <a:ea typeface="Roboto"/>
                <a:cs typeface="Roboto"/>
                <a:sym typeface="Roboto"/>
              </a:defRPr>
            </a:lvl5pPr>
            <a:lvl6pPr lvl="5">
              <a:spcBef>
                <a:spcPts val="0"/>
              </a:spcBef>
              <a:spcAft>
                <a:spcPts val="0"/>
              </a:spcAft>
              <a:buSzPts val="2600"/>
              <a:buFont typeface="Roboto"/>
              <a:buNone/>
              <a:defRPr sz="2600">
                <a:latin typeface="Roboto"/>
                <a:ea typeface="Roboto"/>
                <a:cs typeface="Roboto"/>
                <a:sym typeface="Roboto"/>
              </a:defRPr>
            </a:lvl6pPr>
            <a:lvl7pPr lvl="6">
              <a:spcBef>
                <a:spcPts val="0"/>
              </a:spcBef>
              <a:spcAft>
                <a:spcPts val="0"/>
              </a:spcAft>
              <a:buSzPts val="2600"/>
              <a:buFont typeface="Roboto"/>
              <a:buNone/>
              <a:defRPr sz="2600">
                <a:latin typeface="Roboto"/>
                <a:ea typeface="Roboto"/>
                <a:cs typeface="Roboto"/>
                <a:sym typeface="Roboto"/>
              </a:defRPr>
            </a:lvl7pPr>
            <a:lvl8pPr lvl="7">
              <a:spcBef>
                <a:spcPts val="0"/>
              </a:spcBef>
              <a:spcAft>
                <a:spcPts val="0"/>
              </a:spcAft>
              <a:buSzPts val="2600"/>
              <a:buFont typeface="Roboto"/>
              <a:buNone/>
              <a:defRPr sz="2600">
                <a:latin typeface="Roboto"/>
                <a:ea typeface="Roboto"/>
                <a:cs typeface="Roboto"/>
                <a:sym typeface="Roboto"/>
              </a:defRPr>
            </a:lvl8pPr>
            <a:lvl9pPr lvl="8">
              <a:spcBef>
                <a:spcPts val="0"/>
              </a:spcBef>
              <a:spcAft>
                <a:spcPts val="0"/>
              </a:spcAft>
              <a:buSzPts val="2600"/>
              <a:buFont typeface="Roboto"/>
              <a:buNone/>
              <a:defRPr sz="2600">
                <a:latin typeface="Roboto"/>
                <a:ea typeface="Roboto"/>
                <a:cs typeface="Roboto"/>
                <a:sym typeface="Roboto"/>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Roboto"/>
              <a:buChar char="●"/>
              <a:defRPr>
                <a:latin typeface="Roboto"/>
                <a:ea typeface="Roboto"/>
                <a:cs typeface="Roboto"/>
                <a:sym typeface="Roboto"/>
              </a:defRPr>
            </a:lvl1pPr>
            <a:lvl2pPr marL="914400" lvl="1" indent="-317500">
              <a:spcBef>
                <a:spcPts val="0"/>
              </a:spcBef>
              <a:spcAft>
                <a:spcPts val="0"/>
              </a:spcAft>
              <a:buSzPts val="1400"/>
              <a:buFont typeface="Roboto"/>
              <a:buChar char="○"/>
              <a:defRPr>
                <a:latin typeface="Roboto"/>
                <a:ea typeface="Roboto"/>
                <a:cs typeface="Roboto"/>
                <a:sym typeface="Roboto"/>
              </a:defRPr>
            </a:lvl2pPr>
            <a:lvl3pPr marL="1371600" lvl="2" indent="-317500">
              <a:spcBef>
                <a:spcPts val="0"/>
              </a:spcBef>
              <a:spcAft>
                <a:spcPts val="0"/>
              </a:spcAft>
              <a:buSzPts val="1400"/>
              <a:buFont typeface="Roboto"/>
              <a:buChar char="■"/>
              <a:defRPr>
                <a:latin typeface="Roboto"/>
                <a:ea typeface="Roboto"/>
                <a:cs typeface="Roboto"/>
                <a:sym typeface="Roboto"/>
              </a:defRPr>
            </a:lvl3pPr>
            <a:lvl4pPr marL="1828800" lvl="3" indent="-317500">
              <a:spcBef>
                <a:spcPts val="0"/>
              </a:spcBef>
              <a:spcAft>
                <a:spcPts val="0"/>
              </a:spcAft>
              <a:buSzPts val="1400"/>
              <a:buFont typeface="Roboto"/>
              <a:buChar char="●"/>
              <a:defRPr>
                <a:latin typeface="Roboto"/>
                <a:ea typeface="Roboto"/>
                <a:cs typeface="Roboto"/>
                <a:sym typeface="Roboto"/>
              </a:defRPr>
            </a:lvl4pPr>
            <a:lvl5pPr marL="2286000" lvl="4" indent="-317500">
              <a:spcBef>
                <a:spcPts val="0"/>
              </a:spcBef>
              <a:spcAft>
                <a:spcPts val="0"/>
              </a:spcAft>
              <a:buSzPts val="1400"/>
              <a:buFont typeface="Roboto"/>
              <a:buChar char="○"/>
              <a:defRPr>
                <a:latin typeface="Roboto"/>
                <a:ea typeface="Roboto"/>
                <a:cs typeface="Roboto"/>
                <a:sym typeface="Roboto"/>
              </a:defRPr>
            </a:lvl5pPr>
            <a:lvl6pPr marL="2743200" lvl="5" indent="-317500">
              <a:spcBef>
                <a:spcPts val="0"/>
              </a:spcBef>
              <a:spcAft>
                <a:spcPts val="0"/>
              </a:spcAft>
              <a:buSzPts val="1400"/>
              <a:buFont typeface="Roboto"/>
              <a:buChar char="■"/>
              <a:defRPr>
                <a:latin typeface="Roboto"/>
                <a:ea typeface="Roboto"/>
                <a:cs typeface="Roboto"/>
                <a:sym typeface="Roboto"/>
              </a:defRPr>
            </a:lvl6pPr>
            <a:lvl7pPr marL="3200400" lvl="6" indent="-317500">
              <a:spcBef>
                <a:spcPts val="0"/>
              </a:spcBef>
              <a:spcAft>
                <a:spcPts val="0"/>
              </a:spcAft>
              <a:buSzPts val="1400"/>
              <a:buFont typeface="Roboto"/>
              <a:buChar char="●"/>
              <a:defRPr>
                <a:latin typeface="Roboto"/>
                <a:ea typeface="Roboto"/>
                <a:cs typeface="Roboto"/>
                <a:sym typeface="Roboto"/>
              </a:defRPr>
            </a:lvl7pPr>
            <a:lvl8pPr marL="3657600" lvl="7" indent="-317500">
              <a:spcBef>
                <a:spcPts val="0"/>
              </a:spcBef>
              <a:spcAft>
                <a:spcPts val="0"/>
              </a:spcAft>
              <a:buSzPts val="1400"/>
              <a:buFont typeface="Roboto"/>
              <a:buChar char="○"/>
              <a:defRPr>
                <a:latin typeface="Roboto"/>
                <a:ea typeface="Roboto"/>
                <a:cs typeface="Roboto"/>
                <a:sym typeface="Roboto"/>
              </a:defRPr>
            </a:lvl8pPr>
            <a:lvl9pPr marL="4114800" lvl="8" indent="-317500">
              <a:spcBef>
                <a:spcPts val="0"/>
              </a:spcBef>
              <a:spcAft>
                <a:spcPts val="0"/>
              </a:spcAft>
              <a:buSzPts val="1400"/>
              <a:buFont typeface="Roboto"/>
              <a:buChar char="■"/>
              <a:defRPr>
                <a:latin typeface="Roboto"/>
                <a:ea typeface="Roboto"/>
                <a:cs typeface="Roboto"/>
                <a:sym typeface="Roboto"/>
              </a:defRPr>
            </a:lvl9pPr>
          </a:lstStyle>
          <a:p>
            <a:endParaRPr/>
          </a:p>
        </p:txBody>
      </p:sp>
      <p:sp>
        <p:nvSpPr>
          <p:cNvPr id="22" name="Google Shape;22;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3" name="Google Shape;23;p4"/>
          <p:cNvPicPr preferRelativeResize="0"/>
          <p:nvPr/>
        </p:nvPicPr>
        <p:blipFill>
          <a:blip r:embed="rId2">
            <a:alphaModFix/>
          </a:blip>
          <a:stretch>
            <a:fillRect/>
          </a:stretch>
        </p:blipFill>
        <p:spPr>
          <a:xfrm>
            <a:off x="152400" y="762000"/>
            <a:ext cx="8839199" cy="516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1" name="Google Shape;5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13553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s://web.njit.edu/~ronkowit/eliza.html"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hyperlink" Target="https://arxiv.org/abs/1706.03762" TargetMode="External"/><Relationship Id="rId4" Type="http://schemas.openxmlformats.org/officeDocument/2006/relationships/hyperlink" Target="https://jalammar.github.io/illustrated-transformer/"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hyperlink" Target="https://arxiv.org/abs/2303.18223"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arxiv.org/abs/2005.14165"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hyperlink" Target="https://arxiv.org/abs/2201.11903"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hyperlink" Target="https://arxiv.org/abs/2106.09685"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tiktokenizer.vercel.app/" TargetMode="External"/><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hyperlink" Target="https://arxiv.org/abs/2310.08419" TargetMode="External"/><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hyperlink" Target="https://arxiv.org/abs/2307.03172"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hyperlink" Target="https://arxiv.org/abs/2303.18223"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hyperlink" Target="https://about.fb.com/news/2024/07/open-source-ai-is-the-path-forward/"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hyperlink" Target="https://lmarena.ai/" TargetMode="External"/><Relationship Id="rId5" Type="http://schemas.openxmlformats.org/officeDocument/2006/relationships/image" Target="../media/image38.pn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hyperlink" Target="https://www.nature.com/articles/s41586-024-07566-y"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hyperlink" Target="https://arxiv.org/abs/2401.02117"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hyperlink" Target="https://arxiv.org/abs/2305.16291" TargetMode="External"/><Relationship Id="rId5" Type="http://schemas.openxmlformats.org/officeDocument/2006/relationships/image" Target="../media/image42.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hyperlink" Target="https://arxiv.org/abs/2312.14125"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hyperlink" Target="https://ojs.aaai.org/index.php/AAAI/article/view/28934" TargetMode="External"/><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3.xml"/><Relationship Id="rId5" Type="http://schemas.openxmlformats.org/officeDocument/2006/relationships/hyperlink" Target="https://ojs.aaai.org/index.php/AAAI/article/view/28934" TargetMode="External"/><Relationship Id="rId4" Type="http://schemas.openxmlformats.org/officeDocument/2006/relationships/image" Target="../media/image5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body" idx="1"/>
          </p:nvPr>
        </p:nvSpPr>
        <p:spPr>
          <a:xfrm>
            <a:off x="1027989" y="1810512"/>
            <a:ext cx="6944700" cy="3090671"/>
          </a:xfrm>
          <a:prstGeom prst="rect">
            <a:avLst/>
          </a:prstGeom>
        </p:spPr>
        <p:txBody>
          <a:bodyPr spcFirstLastPara="1" wrap="square" lIns="91425" tIns="91425" rIns="91425" bIns="91425" anchor="t" anchorCtr="0">
            <a:normAutofit fontScale="92500" lnSpcReduction="20000"/>
          </a:bodyPr>
          <a:lstStyle/>
          <a:p>
            <a:pPr marL="114300" indent="0" algn="ctr" rtl="0">
              <a:spcBef>
                <a:spcPts val="0"/>
              </a:spcBef>
              <a:spcAft>
                <a:spcPts val="1200"/>
              </a:spcAft>
              <a:buNone/>
            </a:pPr>
            <a:r>
              <a:rPr lang="en-US" sz="3900" b="0" i="0" u="none" strike="noStrike" dirty="0">
                <a:solidFill>
                  <a:srgbClr val="000000"/>
                </a:solidFill>
                <a:effectLst/>
                <a:latin typeface="Roboto" panose="02000000000000000000" pitchFamily="2" charset="0"/>
              </a:rPr>
              <a:t>Hyperdimensional Semantics and the Paradox of Prediction: A Topological Inquiry into How Large Language Models </a:t>
            </a:r>
          </a:p>
          <a:p>
            <a:pPr marL="114300" indent="0" algn="ctr" rtl="0">
              <a:spcBef>
                <a:spcPts val="0"/>
              </a:spcBef>
              <a:spcAft>
                <a:spcPts val="1200"/>
              </a:spcAft>
              <a:buNone/>
            </a:pPr>
            <a:r>
              <a:rPr lang="en-US" sz="2300" b="0" i="0" u="none" strike="noStrike" dirty="0">
                <a:solidFill>
                  <a:srgbClr val="000000"/>
                </a:solidFill>
                <a:effectLst/>
                <a:latin typeface="Roboto" panose="02000000000000000000" pitchFamily="2" charset="0"/>
              </a:rPr>
              <a:t>Guest Speaker: Callyn Villanueva</a:t>
            </a:r>
            <a:endParaRPr dirty="0"/>
          </a:p>
        </p:txBody>
      </p:sp>
      <p:pic>
        <p:nvPicPr>
          <p:cNvPr id="59" name="Google Shape;59;p13" title="Screenshot 2025-11-11 at 8.52.05 AM.png"/>
          <p:cNvPicPr preferRelativeResize="0"/>
          <p:nvPr/>
        </p:nvPicPr>
        <p:blipFill>
          <a:blip r:embed="rId3">
            <a:alphaModFix/>
          </a:blip>
          <a:stretch>
            <a:fillRect/>
          </a:stretch>
        </p:blipFill>
        <p:spPr>
          <a:xfrm>
            <a:off x="0" y="141825"/>
            <a:ext cx="9144000" cy="1485900"/>
          </a:xfrm>
          <a:prstGeom prst="rect">
            <a:avLst/>
          </a:prstGeom>
          <a:noFill/>
          <a:ln>
            <a:noFill/>
          </a:ln>
        </p:spPr>
      </p:pic>
      <p:pic>
        <p:nvPicPr>
          <p:cNvPr id="1026" name="Picture 2" descr="College of Engineering and Computing Sciences at New York Tech | Manhattan  NY">
            <a:extLst>
              <a:ext uri="{FF2B5EF4-FFF2-40B4-BE49-F238E27FC236}">
                <a16:creationId xmlns:a16="http://schemas.microsoft.com/office/drawing/2014/main" id="{64B62AD1-F7C5-8060-6315-12F90143F6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95" y="3927254"/>
            <a:ext cx="1156716" cy="11567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777DA-FCE3-DE64-F924-DA26845EDB3B}"/>
              </a:ext>
            </a:extLst>
          </p:cNvPr>
          <p:cNvSpPr>
            <a:spLocks noGrp="1"/>
          </p:cNvSpPr>
          <p:nvPr>
            <p:ph type="title"/>
          </p:nvPr>
        </p:nvSpPr>
        <p:spPr>
          <a:xfrm>
            <a:off x="152400" y="64024"/>
            <a:ext cx="8839200" cy="746203"/>
          </a:xfrm>
        </p:spPr>
        <p:txBody>
          <a:bodyPr>
            <a:normAutofit/>
          </a:bodyPr>
          <a:lstStyle/>
          <a:p>
            <a:pPr algn="ctr"/>
            <a:r>
              <a:rPr lang="en-US" sz="3600" b="1" dirty="0">
                <a:solidFill>
                  <a:srgbClr val="FF0000"/>
                </a:solidFill>
                <a:highlight>
                  <a:srgbClr val="FFFF00"/>
                </a:highlight>
              </a:rPr>
              <a:t>Disclaimer:</a:t>
            </a:r>
            <a:endParaRPr lang="en-US" sz="3600" dirty="0">
              <a:solidFill>
                <a:srgbClr val="FF0000"/>
              </a:solidFill>
              <a:highlight>
                <a:srgbClr val="FFFF00"/>
              </a:highlight>
            </a:endParaRPr>
          </a:p>
        </p:txBody>
      </p:sp>
      <p:sp>
        <p:nvSpPr>
          <p:cNvPr id="3" name="Text Placeholder 2">
            <a:extLst>
              <a:ext uri="{FF2B5EF4-FFF2-40B4-BE49-F238E27FC236}">
                <a16:creationId xmlns:a16="http://schemas.microsoft.com/office/drawing/2014/main" id="{6D72C056-8138-3389-41EE-CB1A7CB21A84}"/>
              </a:ext>
            </a:extLst>
          </p:cNvPr>
          <p:cNvSpPr>
            <a:spLocks noGrp="1"/>
          </p:cNvSpPr>
          <p:nvPr>
            <p:ph type="body" idx="1"/>
          </p:nvPr>
        </p:nvSpPr>
        <p:spPr/>
        <p:txBody>
          <a:bodyPr>
            <a:noAutofit/>
          </a:bodyPr>
          <a:lstStyle/>
          <a:p>
            <a:pPr marL="114300" indent="0">
              <a:buNone/>
            </a:pPr>
            <a:r>
              <a:rPr lang="en-US" sz="4000" dirty="0">
                <a:solidFill>
                  <a:schemeClr val="tx1"/>
                </a:solidFill>
              </a:rPr>
              <a:t>I </a:t>
            </a:r>
            <a:r>
              <a:rPr lang="en-US" sz="4000" b="1" dirty="0">
                <a:solidFill>
                  <a:schemeClr val="tx1"/>
                </a:solidFill>
              </a:rPr>
              <a:t>don’t </a:t>
            </a:r>
            <a:r>
              <a:rPr lang="en-US" sz="4000" dirty="0">
                <a:solidFill>
                  <a:schemeClr val="tx1"/>
                </a:solidFill>
              </a:rPr>
              <a:t>specialize in AI pedagogy. I specialize in </a:t>
            </a:r>
            <a:r>
              <a:rPr lang="en-US" sz="4000" i="1" dirty="0">
                <a:solidFill>
                  <a:schemeClr val="tx1"/>
                </a:solidFill>
              </a:rPr>
              <a:t>how</a:t>
            </a:r>
            <a:r>
              <a:rPr lang="en-US" sz="4000" dirty="0">
                <a:solidFill>
                  <a:schemeClr val="tx1"/>
                </a:solidFill>
              </a:rPr>
              <a:t> AI works (development of the algo’s).</a:t>
            </a:r>
            <a:br>
              <a:rPr lang="en-US" sz="4000" dirty="0">
                <a:solidFill>
                  <a:schemeClr val="tx1"/>
                </a:solidFill>
              </a:rPr>
            </a:br>
            <a:endParaRPr lang="en-US" sz="4000" dirty="0">
              <a:solidFill>
                <a:schemeClr val="tx1"/>
              </a:solidFill>
            </a:endParaRPr>
          </a:p>
          <a:p>
            <a:pPr marL="114300" indent="0">
              <a:buNone/>
            </a:pPr>
            <a:endParaRPr lang="en-US" sz="4000" dirty="0"/>
          </a:p>
        </p:txBody>
      </p:sp>
    </p:spTree>
    <p:extLst>
      <p:ext uri="{BB962C8B-B14F-4D97-AF65-F5344CB8AC3E}">
        <p14:creationId xmlns:p14="http://schemas.microsoft.com/office/powerpoint/2010/main" val="1055859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F8BEA-3A19-60A9-91EA-5DF837513730}"/>
              </a:ext>
            </a:extLst>
          </p:cNvPr>
          <p:cNvSpPr>
            <a:spLocks noGrp="1"/>
          </p:cNvSpPr>
          <p:nvPr>
            <p:ph type="title"/>
          </p:nvPr>
        </p:nvSpPr>
        <p:spPr>
          <a:xfrm>
            <a:off x="152400" y="191353"/>
            <a:ext cx="8839200" cy="572700"/>
          </a:xfrm>
        </p:spPr>
        <p:txBody>
          <a:bodyPr>
            <a:normAutofit fontScale="90000"/>
          </a:bodyPr>
          <a:lstStyle/>
          <a:p>
            <a:r>
              <a:rPr lang="en-US" b="1" dirty="0"/>
              <a:t>About Me</a:t>
            </a:r>
          </a:p>
        </p:txBody>
      </p:sp>
      <p:pic>
        <p:nvPicPr>
          <p:cNvPr id="1026" name="Picture 2" descr="Learning Mobile Manipulation through Deep Reinforcement Learning">
            <a:extLst>
              <a:ext uri="{FF2B5EF4-FFF2-40B4-BE49-F238E27FC236}">
                <a16:creationId xmlns:a16="http://schemas.microsoft.com/office/drawing/2014/main" id="{29AC8A43-9060-0867-6FD3-972040E08B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3074" y="1110343"/>
            <a:ext cx="7017852" cy="3711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7982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Exploring Interpretability in Deep Learning for Affective Computing: A  Comprehensive Review | ACM Transactions on Multimedia Computing,  Communications, and Applications">
            <a:extLst>
              <a:ext uri="{FF2B5EF4-FFF2-40B4-BE49-F238E27FC236}">
                <a16:creationId xmlns:a16="http://schemas.microsoft.com/office/drawing/2014/main" id="{7E4684E7-9AC4-D720-3D6B-5D277EE5B6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2594" y="921832"/>
            <a:ext cx="7083334" cy="4221667"/>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3C32ADBD-1BDD-65CC-835B-31C333F5B8EB}"/>
              </a:ext>
            </a:extLst>
          </p:cNvPr>
          <p:cNvSpPr>
            <a:spLocks noGrp="1"/>
          </p:cNvSpPr>
          <p:nvPr>
            <p:ph type="title"/>
          </p:nvPr>
        </p:nvSpPr>
        <p:spPr/>
        <p:txBody>
          <a:bodyPr>
            <a:normAutofit fontScale="90000"/>
          </a:bodyPr>
          <a:lstStyle/>
          <a:p>
            <a:r>
              <a:rPr lang="en-US" b="1" dirty="0"/>
              <a:t>About Me</a:t>
            </a:r>
          </a:p>
        </p:txBody>
      </p:sp>
    </p:spTree>
    <p:extLst>
      <p:ext uri="{BB962C8B-B14F-4D97-AF65-F5344CB8AC3E}">
        <p14:creationId xmlns:p14="http://schemas.microsoft.com/office/powerpoint/2010/main" val="2848362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a:spLocks noGrp="1"/>
          </p:cNvSpPr>
          <p:nvPr>
            <p:ph type="body" idx="1"/>
          </p:nvPr>
        </p:nvSpPr>
        <p:spPr>
          <a:xfrm>
            <a:off x="311700" y="1381075"/>
            <a:ext cx="8067600" cy="2822100"/>
          </a:xfrm>
          <a:prstGeom prst="rect">
            <a:avLst/>
          </a:prstGeom>
        </p:spPr>
        <p:txBody>
          <a:bodyPr spcFirstLastPara="1" wrap="square" lIns="91425" tIns="91425" rIns="91425" bIns="91425" anchor="t" anchorCtr="0">
            <a:noAutofit/>
          </a:bodyPr>
          <a:lstStyle/>
          <a:p>
            <a:pPr marL="101600" lvl="1" indent="0" algn="l" rtl="0">
              <a:lnSpc>
                <a:spcPct val="100000"/>
              </a:lnSpc>
              <a:spcBef>
                <a:spcPts val="1000"/>
              </a:spcBef>
              <a:spcAft>
                <a:spcPts val="0"/>
              </a:spcAft>
              <a:buSzPts val="2000"/>
              <a:buNone/>
            </a:pPr>
            <a:r>
              <a:rPr lang="en-US" sz="3600" b="1" i="0" u="none" strike="noStrike" dirty="0">
                <a:solidFill>
                  <a:srgbClr val="000000"/>
                </a:solidFill>
                <a:effectLst/>
                <a:latin typeface="-apple-system-font"/>
              </a:rPr>
              <a:t>Goal:</a:t>
            </a:r>
            <a:r>
              <a:rPr lang="en-US" sz="3600" b="0" i="0" u="none" strike="noStrike" dirty="0">
                <a:solidFill>
                  <a:srgbClr val="000000"/>
                </a:solidFill>
                <a:effectLst/>
                <a:latin typeface="-webkit-standard"/>
              </a:rPr>
              <a:t> To move beyond the hype and unpack the computational mechanics of LLMs - what they truly </a:t>
            </a:r>
            <a:r>
              <a:rPr lang="en-US" sz="3600" b="0" i="1" u="none" strike="noStrike" dirty="0">
                <a:solidFill>
                  <a:srgbClr val="000000"/>
                </a:solidFill>
                <a:effectLst/>
                <a:latin typeface="-apple-system-font"/>
              </a:rPr>
              <a:t>compute</a:t>
            </a:r>
            <a:r>
              <a:rPr lang="en-US" sz="3600" b="0" i="0" u="none" strike="noStrike" dirty="0">
                <a:solidFill>
                  <a:srgbClr val="000000"/>
                </a:solidFill>
                <a:effectLst/>
                <a:latin typeface="-webkit-standard"/>
              </a:rPr>
              <a:t>, not just what they </a:t>
            </a:r>
            <a:r>
              <a:rPr lang="en-US" sz="3600" b="0" i="1" u="none" strike="noStrike" dirty="0">
                <a:solidFill>
                  <a:srgbClr val="000000"/>
                </a:solidFill>
                <a:effectLst/>
                <a:latin typeface="-apple-system-font"/>
              </a:rPr>
              <a:t>appear</a:t>
            </a:r>
            <a:r>
              <a:rPr lang="en-US" sz="3600" b="0" i="0" u="none" strike="noStrike" dirty="0">
                <a:solidFill>
                  <a:srgbClr val="000000"/>
                </a:solidFill>
                <a:effectLst/>
                <a:latin typeface="-webkit-standard"/>
              </a:rPr>
              <a:t> to understand.</a:t>
            </a:r>
          </a:p>
          <a:p>
            <a:pPr marL="101600" lvl="1" indent="0" algn="l" rtl="0">
              <a:lnSpc>
                <a:spcPct val="100000"/>
              </a:lnSpc>
              <a:spcBef>
                <a:spcPts val="1000"/>
              </a:spcBef>
              <a:spcAft>
                <a:spcPts val="0"/>
              </a:spcAft>
              <a:buSzPts val="2000"/>
              <a:buNone/>
            </a:pPr>
            <a:endParaRPr lang="en-US" sz="2800" dirty="0">
              <a:solidFill>
                <a:srgbClr val="000000"/>
              </a:solidFill>
              <a:latin typeface="-webkit-standard"/>
            </a:endParaRPr>
          </a:p>
        </p:txBody>
      </p:sp>
      <p:sp>
        <p:nvSpPr>
          <p:cNvPr id="65" name="Google Shape;65;p14"/>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Today’s Agenda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Overview of LLMs</a:t>
            </a:r>
            <a:endParaRPr/>
          </a:p>
        </p:txBody>
      </p:sp>
      <p:sp>
        <p:nvSpPr>
          <p:cNvPr id="134" name="Google Shape;134;p21"/>
          <p:cNvSpPr/>
          <p:nvPr/>
        </p:nvSpPr>
        <p:spPr>
          <a:xfrm>
            <a:off x="842956" y="1399600"/>
            <a:ext cx="3245700" cy="11727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Calibri"/>
                <a:ea typeface="Calibri"/>
                <a:cs typeface="Calibri"/>
                <a:sym typeface="Calibri"/>
              </a:rPr>
              <a:t>How do LLMs work</a:t>
            </a:r>
            <a:br>
              <a:rPr lang="en" sz="1500" b="1">
                <a:latin typeface="Calibri"/>
                <a:ea typeface="Calibri"/>
                <a:cs typeface="Calibri"/>
                <a:sym typeface="Calibri"/>
              </a:rPr>
            </a:br>
            <a:endParaRPr sz="1300" b="1">
              <a:latin typeface="Calibri"/>
              <a:ea typeface="Calibri"/>
              <a:cs typeface="Calibri"/>
              <a:sym typeface="Calibri"/>
            </a:endParaRPr>
          </a:p>
          <a:p>
            <a:pPr marL="0" lvl="0" indent="0" algn="ctr" rtl="0">
              <a:spcBef>
                <a:spcPts val="0"/>
              </a:spcBef>
              <a:spcAft>
                <a:spcPts val="0"/>
              </a:spcAft>
              <a:buNone/>
            </a:pPr>
            <a:r>
              <a:rPr lang="en" sz="1500">
                <a:latin typeface="Calibri"/>
                <a:ea typeface="Calibri"/>
                <a:cs typeface="Calibri"/>
                <a:sym typeface="Calibri"/>
              </a:rPr>
              <a:t>What is the technology underlying a chatbot like chatGPT?</a:t>
            </a:r>
            <a:endParaRPr sz="1500">
              <a:latin typeface="Calibri"/>
              <a:ea typeface="Calibri"/>
              <a:cs typeface="Calibri"/>
              <a:sym typeface="Calibri"/>
            </a:endParaRPr>
          </a:p>
        </p:txBody>
      </p:sp>
      <p:sp>
        <p:nvSpPr>
          <p:cNvPr id="135" name="Google Shape;135;p21"/>
          <p:cNvSpPr/>
          <p:nvPr/>
        </p:nvSpPr>
        <p:spPr>
          <a:xfrm>
            <a:off x="4760761" y="1399600"/>
            <a:ext cx="3245700" cy="11727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Calibri"/>
                <a:ea typeface="Calibri"/>
                <a:cs typeface="Calibri"/>
                <a:sym typeface="Calibri"/>
              </a:rPr>
              <a:t>What LLMs can do</a:t>
            </a:r>
            <a:br>
              <a:rPr lang="en" sz="1500" b="1">
                <a:latin typeface="Calibri"/>
                <a:ea typeface="Calibri"/>
                <a:cs typeface="Calibri"/>
                <a:sym typeface="Calibri"/>
              </a:rPr>
            </a:br>
            <a:endParaRPr sz="1300" b="1">
              <a:latin typeface="Calibri"/>
              <a:ea typeface="Calibri"/>
              <a:cs typeface="Calibri"/>
              <a:sym typeface="Calibri"/>
            </a:endParaRPr>
          </a:p>
          <a:p>
            <a:pPr marL="0" lvl="0" indent="0" algn="ctr" rtl="0">
              <a:spcBef>
                <a:spcPts val="0"/>
              </a:spcBef>
              <a:spcAft>
                <a:spcPts val="0"/>
              </a:spcAft>
              <a:buNone/>
            </a:pPr>
            <a:r>
              <a:rPr lang="en" sz="1500">
                <a:latin typeface="Calibri"/>
                <a:ea typeface="Calibri"/>
                <a:cs typeface="Calibri"/>
                <a:sym typeface="Calibri"/>
              </a:rPr>
              <a:t>What functionality beyond chatbots does the technology enable?</a:t>
            </a:r>
            <a:endParaRPr sz="1500">
              <a:latin typeface="Calibri"/>
              <a:ea typeface="Calibri"/>
              <a:cs typeface="Calibri"/>
              <a:sym typeface="Calibri"/>
            </a:endParaRPr>
          </a:p>
        </p:txBody>
      </p:sp>
      <p:sp>
        <p:nvSpPr>
          <p:cNvPr id="136" name="Google Shape;136;p21"/>
          <p:cNvSpPr/>
          <p:nvPr/>
        </p:nvSpPr>
        <p:spPr>
          <a:xfrm>
            <a:off x="806700" y="2968024"/>
            <a:ext cx="3245700" cy="11727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latin typeface="Calibri"/>
                <a:ea typeface="Calibri"/>
                <a:cs typeface="Calibri"/>
                <a:sym typeface="Calibri"/>
              </a:rPr>
              <a:t>Limitations of LLMs</a:t>
            </a:r>
            <a:br>
              <a:rPr lang="en" sz="1500" b="1">
                <a:latin typeface="Calibri"/>
                <a:ea typeface="Calibri"/>
                <a:cs typeface="Calibri"/>
                <a:sym typeface="Calibri"/>
              </a:rPr>
            </a:br>
            <a:endParaRPr sz="1300" b="1">
              <a:latin typeface="Calibri"/>
              <a:ea typeface="Calibri"/>
              <a:cs typeface="Calibri"/>
              <a:sym typeface="Calibri"/>
            </a:endParaRPr>
          </a:p>
          <a:p>
            <a:pPr marL="0" lvl="0" indent="0" algn="ctr" rtl="0">
              <a:spcBef>
                <a:spcPts val="0"/>
              </a:spcBef>
              <a:spcAft>
                <a:spcPts val="0"/>
              </a:spcAft>
              <a:buNone/>
            </a:pPr>
            <a:r>
              <a:rPr lang="en" sz="1500">
                <a:latin typeface="Calibri"/>
                <a:ea typeface="Calibri"/>
                <a:cs typeface="Calibri"/>
                <a:sym typeface="Calibri"/>
              </a:rPr>
              <a:t>What fundamental challenges remain to be addressed?</a:t>
            </a:r>
            <a:endParaRPr sz="1500">
              <a:latin typeface="Calibri"/>
              <a:ea typeface="Calibri"/>
              <a:cs typeface="Calibri"/>
              <a:sym typeface="Calibri"/>
            </a:endParaRPr>
          </a:p>
        </p:txBody>
      </p:sp>
      <p:sp>
        <p:nvSpPr>
          <p:cNvPr id="137" name="Google Shape;137;p21"/>
          <p:cNvSpPr/>
          <p:nvPr/>
        </p:nvSpPr>
        <p:spPr>
          <a:xfrm>
            <a:off x="4760761" y="2968024"/>
            <a:ext cx="3245700" cy="11727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Calibri"/>
                <a:ea typeface="Calibri"/>
                <a:cs typeface="Calibri"/>
                <a:sym typeface="Calibri"/>
              </a:rPr>
              <a:t>What is the Future</a:t>
            </a:r>
            <a:br>
              <a:rPr lang="en" sz="1500" b="1">
                <a:latin typeface="Calibri"/>
                <a:ea typeface="Calibri"/>
                <a:cs typeface="Calibri"/>
                <a:sym typeface="Calibri"/>
              </a:rPr>
            </a:br>
            <a:endParaRPr sz="1300" b="1">
              <a:latin typeface="Calibri"/>
              <a:ea typeface="Calibri"/>
              <a:cs typeface="Calibri"/>
              <a:sym typeface="Calibri"/>
            </a:endParaRPr>
          </a:p>
          <a:p>
            <a:pPr marL="0" lvl="0" indent="0" algn="ctr" rtl="0">
              <a:spcBef>
                <a:spcPts val="0"/>
              </a:spcBef>
              <a:spcAft>
                <a:spcPts val="0"/>
              </a:spcAft>
              <a:buNone/>
            </a:pPr>
            <a:r>
              <a:rPr lang="en" sz="1500">
                <a:latin typeface="Calibri"/>
                <a:ea typeface="Calibri"/>
                <a:cs typeface="Calibri"/>
                <a:sym typeface="Calibri"/>
              </a:rPr>
              <a:t>How is research addressing those challenges?</a:t>
            </a:r>
            <a:endParaRPr sz="15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7"/>
          <p:cNvSpPr txBox="1">
            <a:spLocks noGrp="1"/>
          </p:cNvSpPr>
          <p:nvPr>
            <p:ph type="body" idx="1"/>
          </p:nvPr>
        </p:nvSpPr>
        <p:spPr>
          <a:xfrm>
            <a:off x="5591475" y="1152475"/>
            <a:ext cx="3126600" cy="34164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r>
              <a:rPr lang="en" sz="1400"/>
              <a:t>Early NLP program developed by Joseph Weizenbaum at MIT.</a:t>
            </a:r>
            <a:endParaRPr sz="1400"/>
          </a:p>
          <a:p>
            <a:pPr marL="0" lvl="0" indent="0" algn="l" rtl="0">
              <a:lnSpc>
                <a:spcPct val="105000"/>
              </a:lnSpc>
              <a:spcBef>
                <a:spcPts val="1200"/>
              </a:spcBef>
              <a:spcAft>
                <a:spcPts val="0"/>
              </a:spcAft>
              <a:buNone/>
            </a:pPr>
            <a:br>
              <a:rPr lang="en" sz="800"/>
            </a:br>
            <a:r>
              <a:rPr lang="en" sz="1400"/>
              <a:t>Created illusion of a conversation by rephrasing user statements as questions using pattern matching and substitution methodology.</a:t>
            </a:r>
            <a:endParaRPr sz="1400"/>
          </a:p>
          <a:p>
            <a:pPr marL="0" lvl="0" indent="0" algn="l" rtl="0">
              <a:lnSpc>
                <a:spcPct val="105000"/>
              </a:lnSpc>
              <a:spcBef>
                <a:spcPts val="1200"/>
              </a:spcBef>
              <a:spcAft>
                <a:spcPts val="1200"/>
              </a:spcAft>
              <a:buNone/>
            </a:pPr>
            <a:br>
              <a:rPr lang="en" sz="800"/>
            </a:br>
            <a:r>
              <a:rPr lang="en" sz="1400"/>
              <a:t>One of the first programs capable of attempting the Turing test.</a:t>
            </a:r>
            <a:endParaRPr sz="1400"/>
          </a:p>
        </p:txBody>
      </p:sp>
      <p:sp>
        <p:nvSpPr>
          <p:cNvPr id="101" name="Google Shape;101;p17"/>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ELIZA (1966)</a:t>
            </a:r>
            <a:endParaRPr/>
          </a:p>
        </p:txBody>
      </p:sp>
      <p:pic>
        <p:nvPicPr>
          <p:cNvPr id="102" name="Google Shape;102;p17"/>
          <p:cNvPicPr preferRelativeResize="0"/>
          <p:nvPr/>
        </p:nvPicPr>
        <p:blipFill>
          <a:blip r:embed="rId3">
            <a:alphaModFix/>
          </a:blip>
          <a:stretch>
            <a:fillRect/>
          </a:stretch>
        </p:blipFill>
        <p:spPr>
          <a:xfrm>
            <a:off x="540299" y="1076275"/>
            <a:ext cx="4672559" cy="3029987"/>
          </a:xfrm>
          <a:prstGeom prst="rect">
            <a:avLst/>
          </a:prstGeom>
          <a:noFill/>
          <a:ln>
            <a:noFill/>
          </a:ln>
        </p:spPr>
      </p:pic>
      <p:sp>
        <p:nvSpPr>
          <p:cNvPr id="103" name="Google Shape;103;p17"/>
          <p:cNvSpPr txBox="1"/>
          <p:nvPr/>
        </p:nvSpPr>
        <p:spPr>
          <a:xfrm>
            <a:off x="1911900" y="4264075"/>
            <a:ext cx="5370900" cy="415500"/>
          </a:xfrm>
          <a:prstGeom prst="rect">
            <a:avLst/>
          </a:prstGeo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t" anchorCtr="0">
            <a:spAutoFit/>
          </a:bodyPr>
          <a:lstStyle/>
          <a:p>
            <a:pPr marL="0" lvl="0" indent="0" algn="l" rtl="0">
              <a:spcBef>
                <a:spcPts val="0"/>
              </a:spcBef>
              <a:spcAft>
                <a:spcPts val="0"/>
              </a:spcAft>
              <a:buNone/>
            </a:pPr>
            <a:r>
              <a:rPr lang="en" sz="1500" dirty="0">
                <a:solidFill>
                  <a:schemeClr val="dk2"/>
                </a:solidFill>
                <a:latin typeface="Roboto"/>
                <a:ea typeface="Roboto"/>
                <a:cs typeface="Roboto"/>
                <a:sym typeface="Roboto"/>
              </a:rPr>
              <a:t>Try it out at </a:t>
            </a:r>
            <a:r>
              <a:rPr lang="en" sz="1500" u="sng" dirty="0">
                <a:solidFill>
                  <a:schemeClr val="hlink"/>
                </a:solidFill>
                <a:latin typeface="Roboto"/>
                <a:ea typeface="Roboto"/>
                <a:cs typeface="Roboto"/>
                <a:sym typeface="Roboto"/>
                <a:hlinkClick r:id="rId4"/>
              </a:rPr>
              <a:t>https://web.njit.edu/~ronkowit/eliza.html</a:t>
            </a:r>
            <a:endParaRPr sz="1500" dirty="0">
              <a:solidFill>
                <a:schemeClr val="dk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dirty="0"/>
              <a:t>How Do LLMs Work</a:t>
            </a:r>
            <a:br>
              <a:rPr lang="en" dirty="0"/>
            </a:br>
            <a:r>
              <a:rPr lang="en" dirty="0"/>
              <a:t>(Linguistic Foundation)</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5"/>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Linguistic Foundations</a:t>
            </a:r>
            <a:endParaRPr/>
          </a:p>
        </p:txBody>
      </p:sp>
      <p:pic>
        <p:nvPicPr>
          <p:cNvPr id="162" name="Google Shape;162;p25"/>
          <p:cNvPicPr preferRelativeResize="0"/>
          <p:nvPr/>
        </p:nvPicPr>
        <p:blipFill>
          <a:blip r:embed="rId3">
            <a:alphaModFix/>
          </a:blip>
          <a:stretch>
            <a:fillRect/>
          </a:stretch>
        </p:blipFill>
        <p:spPr>
          <a:xfrm>
            <a:off x="2006475" y="1521928"/>
            <a:ext cx="2377501" cy="2386223"/>
          </a:xfrm>
          <a:prstGeom prst="rect">
            <a:avLst/>
          </a:prstGeom>
          <a:noFill/>
          <a:ln w="9525" cap="flat" cmpd="sng">
            <a:solidFill>
              <a:schemeClr val="dk2"/>
            </a:solidFill>
            <a:prstDash val="solid"/>
            <a:round/>
            <a:headEnd type="none" w="sm" len="sm"/>
            <a:tailEnd type="none" w="sm" len="sm"/>
          </a:ln>
        </p:spPr>
      </p:pic>
      <p:pic>
        <p:nvPicPr>
          <p:cNvPr id="163" name="Google Shape;163;p25"/>
          <p:cNvPicPr preferRelativeResize="0"/>
          <p:nvPr/>
        </p:nvPicPr>
        <p:blipFill>
          <a:blip r:embed="rId4">
            <a:alphaModFix/>
          </a:blip>
          <a:stretch>
            <a:fillRect/>
          </a:stretch>
        </p:blipFill>
        <p:spPr>
          <a:xfrm>
            <a:off x="2008550" y="4095840"/>
            <a:ext cx="2377500" cy="781105"/>
          </a:xfrm>
          <a:prstGeom prst="rect">
            <a:avLst/>
          </a:prstGeom>
          <a:noFill/>
          <a:ln w="9525" cap="flat" cmpd="sng">
            <a:solidFill>
              <a:schemeClr val="dk2"/>
            </a:solidFill>
            <a:prstDash val="solid"/>
            <a:round/>
            <a:headEnd type="none" w="sm" len="sm"/>
            <a:tailEnd type="none" w="sm" len="sm"/>
          </a:ln>
        </p:spPr>
      </p:pic>
      <p:sp>
        <p:nvSpPr>
          <p:cNvPr id="164" name="Google Shape;164;p25"/>
          <p:cNvSpPr txBox="1"/>
          <p:nvPr/>
        </p:nvSpPr>
        <p:spPr>
          <a:xfrm>
            <a:off x="4700016" y="2411300"/>
            <a:ext cx="4136400" cy="10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tx1"/>
                </a:solidFill>
                <a:latin typeface="Roboto"/>
                <a:ea typeface="Roboto"/>
                <a:cs typeface="Roboto"/>
                <a:sym typeface="Roboto"/>
              </a:rPr>
              <a:t>The </a:t>
            </a:r>
            <a:r>
              <a:rPr lang="en" sz="1300" b="1" dirty="0">
                <a:solidFill>
                  <a:schemeClr val="tx1"/>
                </a:solidFill>
                <a:latin typeface="Roboto"/>
                <a:ea typeface="Roboto"/>
                <a:cs typeface="Roboto"/>
                <a:sym typeface="Roboto"/>
              </a:rPr>
              <a:t>Penn Treebank (PTB)</a:t>
            </a:r>
            <a:r>
              <a:rPr lang="en" sz="1300" dirty="0">
                <a:solidFill>
                  <a:schemeClr val="tx1"/>
                </a:solidFill>
                <a:latin typeface="Roboto"/>
                <a:ea typeface="Roboto"/>
                <a:cs typeface="Roboto"/>
                <a:sym typeface="Roboto"/>
              </a:rPr>
              <a:t> corpus developed during 1989-1996 was widely used for evaluating models for sequence labelling. The task consists of annotating each word with its Part-of-Speech tag.</a:t>
            </a:r>
            <a:endParaRPr sz="1300" dirty="0">
              <a:solidFill>
                <a:schemeClr val="tx1"/>
              </a:solidFill>
              <a:latin typeface="Roboto"/>
              <a:ea typeface="Roboto"/>
              <a:cs typeface="Roboto"/>
              <a:sym typeface="Roboto"/>
            </a:endParaRPr>
          </a:p>
        </p:txBody>
      </p:sp>
      <p:sp>
        <p:nvSpPr>
          <p:cNvPr id="165" name="Google Shape;165;p25"/>
          <p:cNvSpPr txBox="1"/>
          <p:nvPr/>
        </p:nvSpPr>
        <p:spPr>
          <a:xfrm>
            <a:off x="4700016" y="3660500"/>
            <a:ext cx="4311900" cy="677078"/>
          </a:xfrm>
          <a:prstGeom prst="rect">
            <a:avLst/>
          </a:prstGeom>
          <a:noFill/>
          <a:ln>
            <a:noFill/>
          </a:ln>
        </p:spPr>
        <p:txBody>
          <a:bodyPr spcFirstLastPara="1" wrap="square" lIns="91425" tIns="91425" rIns="91425" bIns="91425" anchor="t" anchorCtr="0">
            <a:spAutoFit/>
          </a:bodyPr>
          <a:lstStyle/>
          <a:p>
            <a:pPr lvl="0"/>
            <a:r>
              <a:rPr lang="en-US" sz="1600" b="1" dirty="0">
                <a:solidFill>
                  <a:schemeClr val="tx1"/>
                </a:solidFill>
              </a:rPr>
              <a:t>NLP models needed structured, human-annotated datasets to learn patterns.</a:t>
            </a:r>
            <a:endParaRPr sz="1600" b="1" dirty="0">
              <a:solidFill>
                <a:schemeClr val="tx1"/>
              </a:solidFill>
              <a:latin typeface="Roboto"/>
              <a:ea typeface="Roboto"/>
              <a:cs typeface="Roboto"/>
              <a:sym typeface="Roboto"/>
            </a:endParaRPr>
          </a:p>
        </p:txBody>
      </p:sp>
      <p:sp>
        <p:nvSpPr>
          <p:cNvPr id="166" name="Google Shape;166;p25"/>
          <p:cNvSpPr txBox="1"/>
          <p:nvPr/>
        </p:nvSpPr>
        <p:spPr>
          <a:xfrm>
            <a:off x="1282950" y="950275"/>
            <a:ext cx="63339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1800" b="1" dirty="0">
                <a:solidFill>
                  <a:schemeClr val="dk2"/>
                </a:solidFill>
                <a:latin typeface="Roboto"/>
                <a:ea typeface="Roboto"/>
                <a:cs typeface="Roboto"/>
                <a:sym typeface="Roboto"/>
              </a:rPr>
              <a:t>Semantic parsing: analyzing the linguistic structure of text</a:t>
            </a:r>
            <a:endParaRPr sz="1800" b="1" dirty="0">
              <a:solidFill>
                <a:schemeClr val="dk2"/>
              </a:solidFill>
              <a:latin typeface="Roboto"/>
              <a:ea typeface="Roboto"/>
              <a:cs typeface="Roboto"/>
              <a:sym typeface="Roboto"/>
            </a:endParaRPr>
          </a:p>
        </p:txBody>
      </p:sp>
      <p:sp>
        <p:nvSpPr>
          <p:cNvPr id="167" name="Google Shape;167;p25"/>
          <p:cNvSpPr txBox="1"/>
          <p:nvPr/>
        </p:nvSpPr>
        <p:spPr>
          <a:xfrm>
            <a:off x="187724" y="4156249"/>
            <a:ext cx="1869300" cy="50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Roboto"/>
                <a:ea typeface="Roboto"/>
                <a:cs typeface="Roboto"/>
                <a:sym typeface="Roboto"/>
              </a:rPr>
              <a:t>Same example using </a:t>
            </a:r>
            <a:r>
              <a:rPr lang="en" sz="1200" b="1">
                <a:solidFill>
                  <a:schemeClr val="dk2"/>
                </a:solidFill>
                <a:latin typeface="Roboto"/>
                <a:ea typeface="Roboto"/>
                <a:cs typeface="Roboto"/>
                <a:sym typeface="Roboto"/>
              </a:rPr>
              <a:t>dependency parsing</a:t>
            </a:r>
            <a:r>
              <a:rPr lang="en" sz="1200">
                <a:solidFill>
                  <a:schemeClr val="dk2"/>
                </a:solidFill>
                <a:latin typeface="Roboto"/>
                <a:ea typeface="Roboto"/>
                <a:cs typeface="Roboto"/>
                <a:sym typeface="Roboto"/>
              </a:rPr>
              <a:t>.</a:t>
            </a:r>
            <a:endParaRPr sz="1200" b="1">
              <a:solidFill>
                <a:schemeClr val="dk2"/>
              </a:solidFill>
              <a:latin typeface="Roboto"/>
              <a:ea typeface="Roboto"/>
              <a:cs typeface="Roboto"/>
              <a:sym typeface="Roboto"/>
            </a:endParaRPr>
          </a:p>
        </p:txBody>
      </p:sp>
      <p:sp>
        <p:nvSpPr>
          <p:cNvPr id="168" name="Google Shape;168;p25"/>
          <p:cNvSpPr txBox="1"/>
          <p:nvPr/>
        </p:nvSpPr>
        <p:spPr>
          <a:xfrm>
            <a:off x="189050" y="2149425"/>
            <a:ext cx="1869300" cy="80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2"/>
                </a:solidFill>
                <a:latin typeface="Roboto"/>
                <a:ea typeface="Roboto"/>
                <a:cs typeface="Roboto"/>
                <a:sym typeface="Roboto"/>
              </a:rPr>
              <a:t>Example of</a:t>
            </a:r>
            <a:br>
              <a:rPr lang="en" sz="1200" dirty="0">
                <a:solidFill>
                  <a:schemeClr val="dk2"/>
                </a:solidFill>
                <a:latin typeface="Roboto"/>
                <a:ea typeface="Roboto"/>
                <a:cs typeface="Roboto"/>
                <a:sym typeface="Roboto"/>
              </a:rPr>
            </a:br>
            <a:r>
              <a:rPr lang="en" sz="1200" b="1" dirty="0">
                <a:solidFill>
                  <a:schemeClr val="dk2"/>
                </a:solidFill>
                <a:latin typeface="Roboto"/>
                <a:ea typeface="Roboto"/>
                <a:cs typeface="Roboto"/>
                <a:sym typeface="Roboto"/>
              </a:rPr>
              <a:t>constituency parsing</a:t>
            </a:r>
            <a:r>
              <a:rPr lang="en" sz="1200" dirty="0">
                <a:solidFill>
                  <a:schemeClr val="dk2"/>
                </a:solidFill>
                <a:latin typeface="Roboto"/>
                <a:ea typeface="Roboto"/>
                <a:cs typeface="Roboto"/>
                <a:sym typeface="Roboto"/>
              </a:rPr>
              <a:t> using a</a:t>
            </a:r>
            <a:br>
              <a:rPr lang="en" sz="1200" dirty="0">
                <a:solidFill>
                  <a:schemeClr val="dk2"/>
                </a:solidFill>
                <a:latin typeface="Roboto"/>
                <a:ea typeface="Roboto"/>
                <a:cs typeface="Roboto"/>
                <a:sym typeface="Roboto"/>
              </a:rPr>
            </a:br>
            <a:r>
              <a:rPr lang="en" sz="1200" b="1" dirty="0">
                <a:solidFill>
                  <a:schemeClr val="dk2"/>
                </a:solidFill>
                <a:latin typeface="Roboto"/>
                <a:ea typeface="Roboto"/>
                <a:cs typeface="Roboto"/>
                <a:sym typeface="Roboto"/>
              </a:rPr>
              <a:t>context-free grammar</a:t>
            </a:r>
            <a:r>
              <a:rPr lang="en" sz="1200" dirty="0">
                <a:solidFill>
                  <a:schemeClr val="dk2"/>
                </a:solidFill>
                <a:latin typeface="Roboto"/>
                <a:ea typeface="Roboto"/>
                <a:cs typeface="Roboto"/>
                <a:sym typeface="Roboto"/>
              </a:rPr>
              <a:t>.</a:t>
            </a:r>
            <a:endParaRPr sz="1200" dirty="0">
              <a:solidFill>
                <a:schemeClr val="dk2"/>
              </a:solidFill>
              <a:latin typeface="Roboto"/>
              <a:ea typeface="Roboto"/>
              <a:cs typeface="Roboto"/>
              <a:sym typeface="Roboto"/>
            </a:endParaRPr>
          </a:p>
        </p:txBody>
      </p:sp>
      <p:sp>
        <p:nvSpPr>
          <p:cNvPr id="169" name="Google Shape;169;p25"/>
          <p:cNvSpPr txBox="1"/>
          <p:nvPr/>
        </p:nvSpPr>
        <p:spPr>
          <a:xfrm>
            <a:off x="4702800" y="1837725"/>
            <a:ext cx="4136400" cy="38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dk2"/>
                </a:solidFill>
                <a:latin typeface="Roboto"/>
                <a:ea typeface="Roboto"/>
                <a:cs typeface="Roboto"/>
                <a:sym typeface="Roboto"/>
              </a:rPr>
              <a:t>The introduction of corpora …</a:t>
            </a:r>
            <a:endParaRPr sz="1300" dirty="0">
              <a:solidFill>
                <a:schemeClr val="dk2"/>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6"/>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Word Embeddings</a:t>
            </a:r>
            <a:endParaRPr dirty="0"/>
          </a:p>
        </p:txBody>
      </p:sp>
      <p:sp>
        <p:nvSpPr>
          <p:cNvPr id="175" name="Google Shape;175;p26"/>
          <p:cNvSpPr txBox="1">
            <a:spLocks noGrp="1"/>
          </p:cNvSpPr>
          <p:nvPr>
            <p:ph type="body" idx="1"/>
          </p:nvPr>
        </p:nvSpPr>
        <p:spPr>
          <a:xfrm>
            <a:off x="159300" y="1152475"/>
            <a:ext cx="8520600" cy="3416400"/>
          </a:xfrm>
          <a:prstGeom prst="rect">
            <a:avLst/>
          </a:prstGeom>
        </p:spPr>
        <p:txBody>
          <a:bodyPr spcFirstLastPara="1" wrap="square" lIns="91425" tIns="91425" rIns="91425" bIns="91425" anchor="t" anchorCtr="0">
            <a:normAutofit/>
          </a:bodyPr>
          <a:lstStyle/>
          <a:p>
            <a:pPr marL="137795" lvl="0" indent="0" algn="l" rtl="0">
              <a:lnSpc>
                <a:spcPct val="130000"/>
              </a:lnSpc>
              <a:spcBef>
                <a:spcPts val="0"/>
              </a:spcBef>
              <a:spcAft>
                <a:spcPts val="0"/>
              </a:spcAft>
              <a:buSzPts val="1430"/>
              <a:buNone/>
            </a:pPr>
            <a:r>
              <a:rPr lang="en" sz="1430" dirty="0">
                <a:solidFill>
                  <a:schemeClr val="tx1"/>
                </a:solidFill>
              </a:rPr>
              <a:t>Represent each word using a “vector” of numbers.</a:t>
            </a:r>
            <a:endParaRPr sz="1430" dirty="0">
              <a:solidFill>
                <a:schemeClr val="tx1"/>
              </a:solidFill>
            </a:endParaRPr>
          </a:p>
          <a:p>
            <a:pPr marL="137795" lvl="0" indent="0" algn="l" rtl="0">
              <a:lnSpc>
                <a:spcPct val="130000"/>
              </a:lnSpc>
              <a:spcBef>
                <a:spcPts val="1000"/>
              </a:spcBef>
              <a:spcAft>
                <a:spcPts val="0"/>
              </a:spcAft>
              <a:buSzPts val="1430"/>
              <a:buNone/>
            </a:pPr>
            <a:r>
              <a:rPr lang="en" sz="1190" dirty="0">
                <a:solidFill>
                  <a:schemeClr val="tx1"/>
                </a:solidFill>
              </a:rPr>
              <a:t>.</a:t>
            </a:r>
            <a:endParaRPr sz="1190" dirty="0">
              <a:solidFill>
                <a:schemeClr val="tx1"/>
              </a:solidFill>
            </a:endParaRPr>
          </a:p>
        </p:txBody>
      </p:sp>
      <p:pic>
        <p:nvPicPr>
          <p:cNvPr id="176" name="Google Shape;176;p26"/>
          <p:cNvPicPr preferRelativeResize="0"/>
          <p:nvPr/>
        </p:nvPicPr>
        <p:blipFill rotWithShape="1">
          <a:blip r:embed="rId3">
            <a:alphaModFix/>
          </a:blip>
          <a:srcRect/>
          <a:stretch/>
        </p:blipFill>
        <p:spPr>
          <a:xfrm>
            <a:off x="4350154" y="1488141"/>
            <a:ext cx="4942390" cy="3234330"/>
          </a:xfrm>
          <a:prstGeom prst="rect">
            <a:avLst/>
          </a:prstGeom>
          <a:noFill/>
          <a:ln>
            <a:noFill/>
          </a:ln>
        </p:spPr>
      </p:pic>
      <p:sp>
        <p:nvSpPr>
          <p:cNvPr id="2" name="TextBox 1">
            <a:extLst>
              <a:ext uri="{FF2B5EF4-FFF2-40B4-BE49-F238E27FC236}">
                <a16:creationId xmlns:a16="http://schemas.microsoft.com/office/drawing/2014/main" id="{5E15789D-78CB-09D3-ADA5-B313C709874C}"/>
              </a:ext>
            </a:extLst>
          </p:cNvPr>
          <p:cNvSpPr txBox="1"/>
          <p:nvPr/>
        </p:nvSpPr>
        <p:spPr>
          <a:xfrm>
            <a:off x="159299" y="1585723"/>
            <a:ext cx="4065459" cy="2923877"/>
          </a:xfrm>
          <a:prstGeom prst="rect">
            <a:avLst/>
          </a:prstGeom>
          <a:noFill/>
        </p:spPr>
        <p:txBody>
          <a:bodyPr wrap="square" rtlCol="0">
            <a:spAutoFit/>
          </a:bodyPr>
          <a:lstStyle/>
          <a:p>
            <a:pPr marL="0" marR="0" indent="0">
              <a:buNone/>
            </a:pPr>
            <a:r>
              <a:rPr lang="en-US" sz="1400" dirty="0">
                <a:solidFill>
                  <a:srgbClr val="000000"/>
                </a:solidFill>
                <a:effectLst/>
                <a:ea typeface="Times New Roman" panose="02020603050405020304" pitchFamily="18" charset="0"/>
              </a:rPr>
              <a:t>Example: </a:t>
            </a:r>
          </a:p>
          <a:p>
            <a:pPr marL="0" marR="0" indent="0">
              <a:buNone/>
            </a:pPr>
            <a:r>
              <a:rPr lang="en-US" sz="2000" dirty="0">
                <a:solidFill>
                  <a:schemeClr val="tx1"/>
                </a:solidFill>
                <a:effectLst/>
                <a:ea typeface="Times New Roman" panose="02020603050405020304" pitchFamily="18" charset="0"/>
              </a:rPr>
              <a:t>“The </a:t>
            </a:r>
            <a:r>
              <a:rPr lang="en-US" sz="2000" b="1" dirty="0">
                <a:solidFill>
                  <a:schemeClr val="tx1"/>
                </a:solidFill>
                <a:effectLst/>
                <a:ea typeface="Times New Roman" panose="02020603050405020304" pitchFamily="18" charset="0"/>
              </a:rPr>
              <a:t>cat</a:t>
            </a:r>
            <a:r>
              <a:rPr lang="en-US" sz="2000" dirty="0">
                <a:solidFill>
                  <a:schemeClr val="tx1"/>
                </a:solidFill>
                <a:effectLst/>
                <a:ea typeface="Times New Roman" panose="02020603050405020304" pitchFamily="18" charset="0"/>
              </a:rPr>
              <a:t> is lying on the floor and the </a:t>
            </a:r>
            <a:r>
              <a:rPr lang="en-US" sz="2000" b="1" dirty="0">
                <a:solidFill>
                  <a:schemeClr val="tx1"/>
                </a:solidFill>
                <a:effectLst/>
                <a:ea typeface="Times New Roman" panose="02020603050405020304" pitchFamily="18" charset="0"/>
              </a:rPr>
              <a:t>dog</a:t>
            </a:r>
            <a:r>
              <a:rPr lang="en-US" sz="2000" dirty="0">
                <a:solidFill>
                  <a:schemeClr val="tx1"/>
                </a:solidFill>
                <a:effectLst/>
                <a:ea typeface="Times New Roman" panose="02020603050405020304" pitchFamily="18" charset="0"/>
              </a:rPr>
              <a:t> was eating”</a:t>
            </a:r>
          </a:p>
          <a:p>
            <a:pPr marL="0" marR="0" indent="0">
              <a:buNone/>
            </a:pPr>
            <a:endParaRPr lang="en-US" sz="2000" dirty="0">
              <a:solidFill>
                <a:schemeClr val="tx1"/>
              </a:solidFill>
              <a:effectLst/>
              <a:ea typeface="Times New Roman" panose="02020603050405020304" pitchFamily="18" charset="0"/>
            </a:endParaRPr>
          </a:p>
          <a:p>
            <a:pPr marL="0" marR="0" indent="0">
              <a:buNone/>
            </a:pPr>
            <a:r>
              <a:rPr lang="en-US" sz="1400" dirty="0">
                <a:solidFill>
                  <a:schemeClr val="tx1"/>
                </a:solidFill>
                <a:effectLst/>
                <a:ea typeface="Times New Roman" panose="02020603050405020304" pitchFamily="18" charset="0"/>
              </a:rPr>
              <a:t>we can take the two subjects (cat and dog) and switch them in the sentence making it:</a:t>
            </a:r>
          </a:p>
          <a:p>
            <a:pPr marL="0" marR="0" indent="0">
              <a:buNone/>
            </a:pPr>
            <a:endParaRPr lang="en-US" dirty="0">
              <a:solidFill>
                <a:schemeClr val="tx1"/>
              </a:solidFill>
              <a:ea typeface="Times New Roman" panose="02020603050405020304" pitchFamily="18" charset="0"/>
            </a:endParaRPr>
          </a:p>
          <a:p>
            <a:pPr marL="0" marR="0" indent="0">
              <a:buNone/>
            </a:pPr>
            <a:endParaRPr lang="en-US" sz="1400" dirty="0">
              <a:solidFill>
                <a:schemeClr val="tx1"/>
              </a:solidFill>
              <a:effectLst/>
              <a:ea typeface="Times New Roman" panose="02020603050405020304" pitchFamily="18" charset="0"/>
            </a:endParaRPr>
          </a:p>
          <a:p>
            <a:pPr marL="0" marR="0" indent="0">
              <a:buNone/>
            </a:pPr>
            <a:r>
              <a:rPr lang="en-US" sz="2000" dirty="0">
                <a:solidFill>
                  <a:schemeClr val="tx1"/>
                </a:solidFill>
                <a:effectLst/>
                <a:ea typeface="Times New Roman" panose="02020603050405020304" pitchFamily="18" charset="0"/>
              </a:rPr>
              <a:t> “The </a:t>
            </a:r>
            <a:r>
              <a:rPr lang="en-US" sz="2000" b="1" dirty="0">
                <a:solidFill>
                  <a:schemeClr val="tx1"/>
                </a:solidFill>
                <a:effectLst/>
                <a:ea typeface="Times New Roman" panose="02020603050405020304" pitchFamily="18" charset="0"/>
              </a:rPr>
              <a:t>dog</a:t>
            </a:r>
            <a:r>
              <a:rPr lang="en-US" sz="2000" dirty="0">
                <a:solidFill>
                  <a:schemeClr val="tx1"/>
                </a:solidFill>
                <a:effectLst/>
                <a:ea typeface="Times New Roman" panose="02020603050405020304" pitchFamily="18" charset="0"/>
              </a:rPr>
              <a:t> is lying on the floor and the </a:t>
            </a:r>
            <a:r>
              <a:rPr lang="en-US" sz="2000" b="1" dirty="0">
                <a:solidFill>
                  <a:schemeClr val="tx1"/>
                </a:solidFill>
                <a:effectLst/>
                <a:ea typeface="Times New Roman" panose="02020603050405020304" pitchFamily="18" charset="0"/>
              </a:rPr>
              <a:t>cat</a:t>
            </a:r>
            <a:r>
              <a:rPr lang="en-US" sz="2000" dirty="0">
                <a:solidFill>
                  <a:schemeClr val="tx1"/>
                </a:solidFill>
                <a:effectLst/>
                <a:ea typeface="Times New Roman" panose="02020603050405020304" pitchFamily="18" charset="0"/>
              </a:rPr>
              <a:t> was eating”. </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CBB52-B2B0-F717-EA0A-6D56460F6B4D}"/>
              </a:ext>
            </a:extLst>
          </p:cNvPr>
          <p:cNvSpPr>
            <a:spLocks noGrp="1"/>
          </p:cNvSpPr>
          <p:nvPr>
            <p:ph type="title"/>
          </p:nvPr>
        </p:nvSpPr>
        <p:spPr>
          <a:xfrm rot="10800000" flipV="1">
            <a:off x="311698" y="522514"/>
            <a:ext cx="1908987" cy="1188720"/>
          </a:xfrm>
        </p:spPr>
        <p:txBody>
          <a:bodyPr>
            <a:normAutofit fontScale="90000"/>
          </a:bodyPr>
          <a:lstStyle/>
          <a:p>
            <a:r>
              <a:rPr lang="en-US" dirty="0"/>
              <a:t>Word Embeddings</a:t>
            </a:r>
          </a:p>
        </p:txBody>
      </p:sp>
      <p:pic>
        <p:nvPicPr>
          <p:cNvPr id="1026" name="Picture 2">
            <a:extLst>
              <a:ext uri="{FF2B5EF4-FFF2-40B4-BE49-F238E27FC236}">
                <a16:creationId xmlns:a16="http://schemas.microsoft.com/office/drawing/2014/main" id="{814412CF-4040-E965-5140-975D6DEDB03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49133" y="719765"/>
            <a:ext cx="5924157" cy="442373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7083A9A-9FB2-5EFF-2AD8-C54A397FEA9C}"/>
              </a:ext>
            </a:extLst>
          </p:cNvPr>
          <p:cNvSpPr txBox="1"/>
          <p:nvPr/>
        </p:nvSpPr>
        <p:spPr>
          <a:xfrm>
            <a:off x="311698" y="1979271"/>
            <a:ext cx="1783320" cy="523220"/>
          </a:xfrm>
          <a:prstGeom prst="rect">
            <a:avLst/>
          </a:prstGeom>
          <a:noFill/>
        </p:spPr>
        <p:txBody>
          <a:bodyPr wrap="square" rtlCol="0">
            <a:spAutoFit/>
          </a:bodyPr>
          <a:lstStyle/>
          <a:p>
            <a:r>
              <a:rPr lang="en-US" dirty="0"/>
              <a:t>Let’s Take a look at some Code </a:t>
            </a:r>
            <a:r>
              <a:rPr lang="en-US" dirty="0">
                <a:sym typeface="Wingdings" pitchFamily="2" charset="2"/>
              </a:rPr>
              <a:t></a:t>
            </a:r>
            <a:endParaRPr lang="en-US" dirty="0"/>
          </a:p>
        </p:txBody>
      </p:sp>
    </p:spTree>
    <p:extLst>
      <p:ext uri="{BB962C8B-B14F-4D97-AF65-F5344CB8AC3E}">
        <p14:creationId xmlns:p14="http://schemas.microsoft.com/office/powerpoint/2010/main" val="1960842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dirty="0"/>
              <a:t>How Do LLMs Work</a:t>
            </a:r>
            <a:br>
              <a:rPr lang="en" dirty="0"/>
            </a:br>
            <a:r>
              <a:rPr lang="en" dirty="0"/>
              <a:t>(</a:t>
            </a:r>
            <a:r>
              <a:rPr lang="en-US" dirty="0"/>
              <a:t>the era we are currently in</a:t>
            </a:r>
            <a:r>
              <a:rPr lang="en" dirty="0"/>
              <a:t>)</a:t>
            </a:r>
            <a:endParaRPr dirty="0"/>
          </a:p>
        </p:txBody>
      </p:sp>
    </p:spTree>
    <p:extLst>
      <p:ext uri="{BB962C8B-B14F-4D97-AF65-F5344CB8AC3E}">
        <p14:creationId xmlns:p14="http://schemas.microsoft.com/office/powerpoint/2010/main" val="881870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7D780-64D4-5E4C-19DB-AB3B68D9EAAC}"/>
              </a:ext>
            </a:extLst>
          </p:cNvPr>
          <p:cNvSpPr>
            <a:spLocks noGrp="1"/>
          </p:cNvSpPr>
          <p:nvPr>
            <p:ph type="title"/>
          </p:nvPr>
        </p:nvSpPr>
        <p:spPr/>
        <p:txBody>
          <a:bodyPr>
            <a:normAutofit fontScale="90000"/>
          </a:bodyPr>
          <a:lstStyle/>
          <a:p>
            <a:r>
              <a:rPr lang="en-US" spc="53" dirty="0"/>
              <a:t>Recurrent Neural Networks for NLP</a:t>
            </a:r>
            <a:endParaRPr lang="en-US" dirty="0"/>
          </a:p>
        </p:txBody>
      </p:sp>
      <p:pic>
        <p:nvPicPr>
          <p:cNvPr id="13314" name="Picture 2" descr="The Significance of Neural Networks in NLP">
            <a:extLst>
              <a:ext uri="{FF2B5EF4-FFF2-40B4-BE49-F238E27FC236}">
                <a16:creationId xmlns:a16="http://schemas.microsoft.com/office/drawing/2014/main" id="{8A923A37-7B64-526E-8178-06B60D2932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9888" y="1174432"/>
            <a:ext cx="5104928" cy="3706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3991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EA7C1-79E2-0CB8-3171-D0118CD8820E}"/>
              </a:ext>
            </a:extLst>
          </p:cNvPr>
          <p:cNvSpPr>
            <a:spLocks noGrp="1"/>
          </p:cNvSpPr>
          <p:nvPr>
            <p:ph type="title"/>
          </p:nvPr>
        </p:nvSpPr>
        <p:spPr>
          <a:xfrm>
            <a:off x="85090" y="80010"/>
            <a:ext cx="3446780" cy="731520"/>
          </a:xfrm>
        </p:spPr>
        <p:txBody>
          <a:bodyPr>
            <a:normAutofit fontScale="90000"/>
          </a:bodyPr>
          <a:lstStyle/>
          <a:p>
            <a:r>
              <a:rPr lang="en-US" dirty="0"/>
              <a:t>What each part does in a RNN:</a:t>
            </a:r>
          </a:p>
        </p:txBody>
      </p:sp>
      <p:sp>
        <p:nvSpPr>
          <p:cNvPr id="3" name="Content Placeholder 2">
            <a:extLst>
              <a:ext uri="{FF2B5EF4-FFF2-40B4-BE49-F238E27FC236}">
                <a16:creationId xmlns:a16="http://schemas.microsoft.com/office/drawing/2014/main" id="{2D34123C-8970-FF00-9922-574F3311FA78}"/>
              </a:ext>
            </a:extLst>
          </p:cNvPr>
          <p:cNvSpPr>
            <a:spLocks noGrp="1"/>
          </p:cNvSpPr>
          <p:nvPr>
            <p:ph idx="1"/>
          </p:nvPr>
        </p:nvSpPr>
        <p:spPr>
          <a:xfrm>
            <a:off x="308610" y="877492"/>
            <a:ext cx="4804032" cy="4266008"/>
          </a:xfrm>
        </p:spPr>
        <p:txBody>
          <a:bodyPr>
            <a:normAutofit fontScale="92500" lnSpcReduction="20000"/>
          </a:bodyPr>
          <a:lstStyle/>
          <a:p>
            <a:r>
              <a:rPr lang="en-US" dirty="0">
                <a:solidFill>
                  <a:schemeClr val="tx1"/>
                </a:solidFill>
              </a:rPr>
              <a:t>The green blocks are called </a:t>
            </a:r>
            <a:r>
              <a:rPr lang="en-US" b="1" i="1" dirty="0">
                <a:solidFill>
                  <a:schemeClr val="tx1"/>
                </a:solidFill>
              </a:rPr>
              <a:t>hidden states</a:t>
            </a:r>
            <a:r>
              <a:rPr lang="en-US" dirty="0">
                <a:solidFill>
                  <a:schemeClr val="tx1"/>
                </a:solidFill>
              </a:rPr>
              <a:t>.</a:t>
            </a:r>
          </a:p>
          <a:p>
            <a:r>
              <a:rPr lang="en-US" dirty="0">
                <a:solidFill>
                  <a:schemeClr val="tx1"/>
                </a:solidFill>
              </a:rPr>
              <a:t>The blue circles, defined by the </a:t>
            </a:r>
            <a:r>
              <a:rPr lang="en-US" b="1" dirty="0">
                <a:solidFill>
                  <a:schemeClr val="tx1"/>
                </a:solidFill>
              </a:rPr>
              <a:t>vector</a:t>
            </a:r>
            <a:r>
              <a:rPr lang="en-US" dirty="0">
                <a:solidFill>
                  <a:schemeClr val="tx1"/>
                </a:solidFill>
              </a:rPr>
              <a:t> </a:t>
            </a:r>
            <a:r>
              <a:rPr lang="en-US" b="1" i="1" dirty="0">
                <a:solidFill>
                  <a:schemeClr val="tx1"/>
                </a:solidFill>
              </a:rPr>
              <a:t>a</a:t>
            </a:r>
            <a:r>
              <a:rPr lang="en-US" i="1" dirty="0">
                <a:solidFill>
                  <a:schemeClr val="tx1"/>
                </a:solidFill>
              </a:rPr>
              <a:t> </a:t>
            </a:r>
            <a:r>
              <a:rPr lang="en-US" dirty="0">
                <a:solidFill>
                  <a:schemeClr val="tx1"/>
                </a:solidFill>
              </a:rPr>
              <a:t>within each block, are called </a:t>
            </a:r>
            <a:r>
              <a:rPr lang="en-US" b="1" i="1" dirty="0">
                <a:solidFill>
                  <a:schemeClr val="tx1"/>
                </a:solidFill>
              </a:rPr>
              <a:t>hidden nodes</a:t>
            </a:r>
          </a:p>
          <a:p>
            <a:r>
              <a:rPr lang="en-US" b="1" dirty="0">
                <a:solidFill>
                  <a:schemeClr val="tx1"/>
                </a:solidFill>
              </a:rPr>
              <a:t>Vector </a:t>
            </a:r>
            <a:r>
              <a:rPr lang="en-US" b="1" i="1" dirty="0">
                <a:solidFill>
                  <a:schemeClr val="tx1"/>
                </a:solidFill>
              </a:rPr>
              <a:t>h</a:t>
            </a:r>
            <a:r>
              <a:rPr lang="en-US" i="1" dirty="0">
                <a:solidFill>
                  <a:schemeClr val="tx1"/>
                </a:solidFill>
              </a:rPr>
              <a:t> — </a:t>
            </a:r>
            <a:r>
              <a:rPr lang="en-US" dirty="0">
                <a:solidFill>
                  <a:schemeClr val="tx1"/>
                </a:solidFill>
              </a:rPr>
              <a:t>is the output of the hidden state after the activation function has been applied to the hidden nodes. </a:t>
            </a:r>
          </a:p>
          <a:p>
            <a:r>
              <a:rPr lang="en-US" b="1" dirty="0">
                <a:solidFill>
                  <a:schemeClr val="tx1"/>
                </a:solidFill>
              </a:rPr>
              <a:t>t - </a:t>
            </a:r>
            <a:r>
              <a:rPr lang="en-US" dirty="0">
                <a:solidFill>
                  <a:schemeClr val="tx1"/>
                </a:solidFill>
              </a:rPr>
              <a:t>As you can see at time </a:t>
            </a:r>
            <a:r>
              <a:rPr lang="en-US" i="1" dirty="0">
                <a:solidFill>
                  <a:schemeClr val="tx1"/>
                </a:solidFill>
              </a:rPr>
              <a:t>t,</a:t>
            </a:r>
            <a:r>
              <a:rPr lang="en-US" dirty="0">
                <a:solidFill>
                  <a:schemeClr val="tx1"/>
                </a:solidFill>
              </a:rPr>
              <a:t> the architecture takes into account what happened at </a:t>
            </a:r>
            <a:r>
              <a:rPr lang="en-US" i="1" dirty="0">
                <a:solidFill>
                  <a:schemeClr val="tx1"/>
                </a:solidFill>
              </a:rPr>
              <a:t>t-1</a:t>
            </a:r>
            <a:r>
              <a:rPr lang="en-US" dirty="0">
                <a:solidFill>
                  <a:schemeClr val="tx1"/>
                </a:solidFill>
              </a:rPr>
              <a:t> by including the </a:t>
            </a:r>
            <a:r>
              <a:rPr lang="en-US" i="1" dirty="0">
                <a:solidFill>
                  <a:schemeClr val="tx1"/>
                </a:solidFill>
              </a:rPr>
              <a:t>h </a:t>
            </a:r>
            <a:r>
              <a:rPr lang="en-US" dirty="0">
                <a:solidFill>
                  <a:schemeClr val="tx1"/>
                </a:solidFill>
              </a:rPr>
              <a:t>from the </a:t>
            </a:r>
            <a:r>
              <a:rPr lang="en-US" i="1" dirty="0">
                <a:solidFill>
                  <a:schemeClr val="tx1"/>
                </a:solidFill>
              </a:rPr>
              <a:t>previous</a:t>
            </a:r>
            <a:r>
              <a:rPr lang="en-US" dirty="0">
                <a:solidFill>
                  <a:schemeClr val="tx1"/>
                </a:solidFill>
              </a:rPr>
              <a:t> hidden state as well as the input </a:t>
            </a:r>
            <a:r>
              <a:rPr lang="en-US" i="1" dirty="0">
                <a:solidFill>
                  <a:schemeClr val="tx1"/>
                </a:solidFill>
              </a:rPr>
              <a:t>x</a:t>
            </a:r>
            <a:r>
              <a:rPr lang="en-US" dirty="0">
                <a:solidFill>
                  <a:schemeClr val="tx1"/>
                </a:solidFill>
              </a:rPr>
              <a:t> at time </a:t>
            </a:r>
            <a:r>
              <a:rPr lang="en-US" i="1" dirty="0">
                <a:solidFill>
                  <a:schemeClr val="tx1"/>
                </a:solidFill>
              </a:rPr>
              <a:t>t</a:t>
            </a:r>
            <a:r>
              <a:rPr lang="en-US" dirty="0">
                <a:solidFill>
                  <a:schemeClr val="tx1"/>
                </a:solidFill>
              </a:rPr>
              <a:t>.</a:t>
            </a:r>
          </a:p>
          <a:p>
            <a:pPr marL="0" indent="0">
              <a:buNone/>
            </a:pPr>
            <a:endParaRPr lang="en-US" dirty="0">
              <a:solidFill>
                <a:schemeClr val="tx1"/>
              </a:solidFill>
            </a:endParaRPr>
          </a:p>
          <a:p>
            <a:pPr marL="0" indent="0">
              <a:buNone/>
            </a:pPr>
            <a:r>
              <a:rPr lang="en-US" dirty="0">
                <a:solidFill>
                  <a:schemeClr val="tx1"/>
                </a:solidFill>
              </a:rPr>
              <a:t>**The hidden state at t=2, takes as input the output from t-1 and x at t.</a:t>
            </a:r>
          </a:p>
          <a:p>
            <a:endParaRPr lang="en-US" dirty="0"/>
          </a:p>
        </p:txBody>
      </p:sp>
      <p:pic>
        <p:nvPicPr>
          <p:cNvPr id="15364" name="Picture 4">
            <a:extLst>
              <a:ext uri="{FF2B5EF4-FFF2-40B4-BE49-F238E27FC236}">
                <a16:creationId xmlns:a16="http://schemas.microsoft.com/office/drawing/2014/main" id="{E6C6CA79-D1FC-2E69-E4DC-F2834E452E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7095" y="80010"/>
            <a:ext cx="4776452" cy="4531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392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2C181-ADB5-E106-6CA4-36D30638DAC4}"/>
              </a:ext>
            </a:extLst>
          </p:cNvPr>
          <p:cNvSpPr>
            <a:spLocks noGrp="1"/>
          </p:cNvSpPr>
          <p:nvPr>
            <p:ph type="title"/>
          </p:nvPr>
        </p:nvSpPr>
        <p:spPr/>
        <p:txBody>
          <a:bodyPr>
            <a:normAutofit fontScale="90000"/>
          </a:bodyPr>
          <a:lstStyle/>
          <a:p>
            <a:r>
              <a:rPr lang="en-US" dirty="0"/>
              <a:t>Architecture Example:</a:t>
            </a:r>
          </a:p>
        </p:txBody>
      </p:sp>
      <p:sp>
        <p:nvSpPr>
          <p:cNvPr id="3" name="Content Placeholder 2">
            <a:extLst>
              <a:ext uri="{FF2B5EF4-FFF2-40B4-BE49-F238E27FC236}">
                <a16:creationId xmlns:a16="http://schemas.microsoft.com/office/drawing/2014/main" id="{B49F6F18-B120-0876-77E0-74D14154D8D9}"/>
              </a:ext>
            </a:extLst>
          </p:cNvPr>
          <p:cNvSpPr>
            <a:spLocks noGrp="1"/>
          </p:cNvSpPr>
          <p:nvPr>
            <p:ph idx="1"/>
          </p:nvPr>
        </p:nvSpPr>
        <p:spPr>
          <a:xfrm>
            <a:off x="0" y="1174395"/>
            <a:ext cx="2731452" cy="1656755"/>
          </a:xfrm>
        </p:spPr>
        <p:txBody>
          <a:bodyPr>
            <a:noAutofit/>
          </a:bodyPr>
          <a:lstStyle/>
          <a:p>
            <a:r>
              <a:rPr lang="en-US" dirty="0">
                <a:solidFill>
                  <a:schemeClr val="tx1"/>
                </a:solidFill>
              </a:rPr>
              <a:t>Take the word </a:t>
            </a:r>
            <a:r>
              <a:rPr lang="en-US" b="1" dirty="0">
                <a:solidFill>
                  <a:schemeClr val="tx1"/>
                </a:solidFill>
              </a:rPr>
              <a:t>“dogs,” </a:t>
            </a:r>
            <a:r>
              <a:rPr lang="en-US" dirty="0">
                <a:solidFill>
                  <a:schemeClr val="tx1"/>
                </a:solidFill>
              </a:rPr>
              <a:t>where we want to train an RNN to predict the letter </a:t>
            </a:r>
            <a:r>
              <a:rPr lang="en-US" b="1" dirty="0">
                <a:solidFill>
                  <a:schemeClr val="tx1"/>
                </a:solidFill>
              </a:rPr>
              <a:t>“s” </a:t>
            </a:r>
            <a:r>
              <a:rPr lang="en-US" dirty="0">
                <a:solidFill>
                  <a:schemeClr val="tx1"/>
                </a:solidFill>
              </a:rPr>
              <a:t>given the letters </a:t>
            </a:r>
            <a:r>
              <a:rPr lang="en-US" b="1" dirty="0">
                <a:solidFill>
                  <a:schemeClr val="tx1"/>
                </a:solidFill>
              </a:rPr>
              <a:t>“d”-“o”-“g”</a:t>
            </a:r>
            <a:r>
              <a:rPr lang="en-US" dirty="0">
                <a:solidFill>
                  <a:schemeClr val="tx1"/>
                </a:solidFill>
              </a:rPr>
              <a:t>. The architecture above would look like the following:</a:t>
            </a:r>
          </a:p>
        </p:txBody>
      </p:sp>
      <p:pic>
        <p:nvPicPr>
          <p:cNvPr id="14338" name="Picture 2">
            <a:extLst>
              <a:ext uri="{FF2B5EF4-FFF2-40B4-BE49-F238E27FC236}">
                <a16:creationId xmlns:a16="http://schemas.microsoft.com/office/drawing/2014/main" id="{D0124791-5F7A-F7B1-6F8B-6B3BA08BC6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2272" y="1174395"/>
            <a:ext cx="6201728" cy="3969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5936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Why AI language models choke on too much text - Ars Technica">
            <a:extLst>
              <a:ext uri="{FF2B5EF4-FFF2-40B4-BE49-F238E27FC236}">
                <a16:creationId xmlns:a16="http://schemas.microsoft.com/office/drawing/2014/main" id="{37974141-EE09-C1D6-35EB-5EC827FE60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777557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920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8"/>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Self-Attention and Transformers</a:t>
            </a:r>
            <a:endParaRPr/>
          </a:p>
        </p:txBody>
      </p:sp>
      <p:sp>
        <p:nvSpPr>
          <p:cNvPr id="201" name="Google Shape;201;p28"/>
          <p:cNvSpPr txBox="1">
            <a:spLocks noGrp="1"/>
          </p:cNvSpPr>
          <p:nvPr>
            <p:ph type="body" idx="1"/>
          </p:nvPr>
        </p:nvSpPr>
        <p:spPr>
          <a:xfrm>
            <a:off x="235500" y="1000075"/>
            <a:ext cx="5096100" cy="34164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SzPts val="1500"/>
              <a:buChar char="●"/>
            </a:pPr>
            <a:r>
              <a:rPr lang="en" sz="1500"/>
              <a:t>Allows to “focus attention” on particular aspects of the input while generating the output.</a:t>
            </a:r>
            <a:endParaRPr sz="1500"/>
          </a:p>
          <a:p>
            <a:pPr marL="457200" lvl="0" indent="-323850" algn="l" rtl="0">
              <a:spcBef>
                <a:spcPts val="0"/>
              </a:spcBef>
              <a:spcAft>
                <a:spcPts val="0"/>
              </a:spcAft>
              <a:buSzPts val="1500"/>
              <a:buChar char="●"/>
            </a:pPr>
            <a:r>
              <a:rPr lang="en" sz="1500"/>
              <a:t>Done by using a set of parameters, called "weights," that determine how much attention should be paid to each input token at each time step.</a:t>
            </a:r>
            <a:endParaRPr sz="1500"/>
          </a:p>
          <a:p>
            <a:pPr marL="457200" lvl="0" indent="-323850" algn="l" rtl="0">
              <a:spcBef>
                <a:spcPts val="0"/>
              </a:spcBef>
              <a:spcAft>
                <a:spcPts val="0"/>
              </a:spcAft>
              <a:buSzPts val="1500"/>
              <a:buChar char="●"/>
            </a:pPr>
            <a:r>
              <a:rPr lang="en" sz="1500"/>
              <a:t>These weights are computed using a combination of the input and the current hidden state of the model.</a:t>
            </a:r>
            <a:endParaRPr sz="1500"/>
          </a:p>
        </p:txBody>
      </p:sp>
      <p:pic>
        <p:nvPicPr>
          <p:cNvPr id="202" name="Google Shape;202;p28"/>
          <p:cNvPicPr preferRelativeResize="0"/>
          <p:nvPr/>
        </p:nvPicPr>
        <p:blipFill>
          <a:blip r:embed="rId3">
            <a:alphaModFix/>
          </a:blip>
          <a:stretch>
            <a:fillRect/>
          </a:stretch>
        </p:blipFill>
        <p:spPr>
          <a:xfrm>
            <a:off x="5653550" y="964475"/>
            <a:ext cx="3036075" cy="2738000"/>
          </a:xfrm>
          <a:prstGeom prst="rect">
            <a:avLst/>
          </a:prstGeom>
          <a:noFill/>
          <a:ln>
            <a:noFill/>
          </a:ln>
        </p:spPr>
      </p:pic>
      <p:sp>
        <p:nvSpPr>
          <p:cNvPr id="203" name="Google Shape;203;p28"/>
          <p:cNvSpPr txBox="1"/>
          <p:nvPr/>
        </p:nvSpPr>
        <p:spPr>
          <a:xfrm>
            <a:off x="5345100" y="3707600"/>
            <a:ext cx="3653400" cy="1369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latin typeface="Roboto"/>
                <a:ea typeface="Roboto"/>
                <a:cs typeface="Roboto"/>
                <a:sym typeface="Roboto"/>
              </a:rPr>
              <a:t>In encoding the word "it", one attention head is focusing most on "the animal", while another is focusing on "tired". The model's representation</a:t>
            </a:r>
            <a:endParaRPr sz="1300">
              <a:solidFill>
                <a:schemeClr val="dk2"/>
              </a:solidFill>
              <a:latin typeface="Roboto"/>
              <a:ea typeface="Roboto"/>
              <a:cs typeface="Roboto"/>
              <a:sym typeface="Roboto"/>
            </a:endParaRPr>
          </a:p>
          <a:p>
            <a:pPr marL="0" lvl="0" indent="0" algn="l" rtl="0">
              <a:spcBef>
                <a:spcPts val="0"/>
              </a:spcBef>
              <a:spcAft>
                <a:spcPts val="0"/>
              </a:spcAft>
              <a:buNone/>
            </a:pPr>
            <a:r>
              <a:rPr lang="en" sz="1300">
                <a:solidFill>
                  <a:schemeClr val="dk2"/>
                </a:solidFill>
                <a:latin typeface="Roboto"/>
                <a:ea typeface="Roboto"/>
                <a:cs typeface="Roboto"/>
                <a:sym typeface="Roboto"/>
              </a:rPr>
              <a:t>of the word "it" thus bakes in some of the representation of both "animal" and "tired".</a:t>
            </a:r>
            <a:endParaRPr sz="1300">
              <a:solidFill>
                <a:schemeClr val="dk2"/>
              </a:solidFill>
              <a:latin typeface="Roboto"/>
              <a:ea typeface="Roboto"/>
              <a:cs typeface="Roboto"/>
              <a:sym typeface="Roboto"/>
            </a:endParaRPr>
          </a:p>
          <a:p>
            <a:pPr marL="0" lvl="0" indent="0" algn="l" rtl="0">
              <a:spcBef>
                <a:spcPts val="0"/>
              </a:spcBef>
              <a:spcAft>
                <a:spcPts val="0"/>
              </a:spcAft>
              <a:buNone/>
            </a:pPr>
            <a:r>
              <a:rPr lang="en" sz="1200" u="sng">
                <a:solidFill>
                  <a:schemeClr val="hlink"/>
                </a:solidFill>
                <a:latin typeface="Roboto"/>
                <a:ea typeface="Roboto"/>
                <a:cs typeface="Roboto"/>
                <a:sym typeface="Roboto"/>
                <a:hlinkClick r:id="rId4"/>
              </a:rPr>
              <a:t>https://jalammar.github.io/illustrated-transformer/</a:t>
            </a:r>
            <a:endParaRPr sz="1200">
              <a:solidFill>
                <a:schemeClr val="dk2"/>
              </a:solidFill>
              <a:latin typeface="Roboto"/>
              <a:ea typeface="Roboto"/>
              <a:cs typeface="Roboto"/>
              <a:sym typeface="Roboto"/>
            </a:endParaRPr>
          </a:p>
        </p:txBody>
      </p:sp>
      <p:sp>
        <p:nvSpPr>
          <p:cNvPr id="204" name="Google Shape;204;p28"/>
          <p:cNvSpPr txBox="1"/>
          <p:nvPr/>
        </p:nvSpPr>
        <p:spPr>
          <a:xfrm>
            <a:off x="465400" y="4321075"/>
            <a:ext cx="4957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rPr>
              <a:t>A. Vaswani et al. </a:t>
            </a:r>
            <a:r>
              <a:rPr lang="en" u="sng">
                <a:solidFill>
                  <a:schemeClr val="dk2"/>
                </a:solidFill>
                <a:hlinkClick r:id="rId5">
                  <a:extLst>
                    <a:ext uri="{A12FA001-AC4F-418D-AE19-62706E023703}">
                      <ahyp:hlinkClr xmlns:ahyp="http://schemas.microsoft.com/office/drawing/2018/hyperlinkcolor" val="tx"/>
                    </a:ext>
                  </a:extLst>
                </a:hlinkClick>
              </a:rPr>
              <a:t>Attention Is All You Need</a:t>
            </a:r>
            <a:r>
              <a:rPr lang="en">
                <a:solidFill>
                  <a:schemeClr val="dk2"/>
                </a:solidFill>
              </a:rPr>
              <a:t>. NeurIPS 2017.</a:t>
            </a:r>
            <a:endParaRPr>
              <a:solidFill>
                <a:schemeClr val="dk2"/>
              </a:solidFill>
            </a:endParaRPr>
          </a:p>
        </p:txBody>
      </p:sp>
      <p:pic>
        <p:nvPicPr>
          <p:cNvPr id="205" name="Google Shape;205;p28"/>
          <p:cNvPicPr preferRelativeResize="0"/>
          <p:nvPr/>
        </p:nvPicPr>
        <p:blipFill rotWithShape="1">
          <a:blip r:embed="rId6">
            <a:alphaModFix/>
          </a:blip>
          <a:srcRect l="6000" t="24042" r="4976" b="14168"/>
          <a:stretch/>
        </p:blipFill>
        <p:spPr>
          <a:xfrm>
            <a:off x="819350" y="3256925"/>
            <a:ext cx="3994349" cy="757925"/>
          </a:xfrm>
          <a:prstGeom prst="rect">
            <a:avLst/>
          </a:prstGeom>
          <a:noFill/>
          <a:ln w="9525" cap="flat" cmpd="sng">
            <a:solidFill>
              <a:schemeClr val="dk2"/>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98FCC230-A096-3C74-09DA-733900B05C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413" y="0"/>
            <a:ext cx="7862887" cy="5201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184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9"/>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Pre-Training: Data Preparation</a:t>
            </a:r>
            <a:endParaRPr/>
          </a:p>
        </p:txBody>
      </p:sp>
      <p:pic>
        <p:nvPicPr>
          <p:cNvPr id="211" name="Google Shape;211;p29"/>
          <p:cNvPicPr preferRelativeResize="0"/>
          <p:nvPr/>
        </p:nvPicPr>
        <p:blipFill rotWithShape="1">
          <a:blip r:embed="rId3">
            <a:alphaModFix/>
          </a:blip>
          <a:srcRect/>
          <a:stretch/>
        </p:blipFill>
        <p:spPr>
          <a:xfrm>
            <a:off x="149320" y="1603550"/>
            <a:ext cx="8877000" cy="1868125"/>
          </a:xfrm>
          <a:prstGeom prst="rect">
            <a:avLst/>
          </a:prstGeom>
          <a:noFill/>
          <a:ln>
            <a:noFill/>
          </a:ln>
        </p:spPr>
      </p:pic>
      <p:sp>
        <p:nvSpPr>
          <p:cNvPr id="212" name="Google Shape;212;p29"/>
          <p:cNvSpPr txBox="1"/>
          <p:nvPr/>
        </p:nvSpPr>
        <p:spPr>
          <a:xfrm>
            <a:off x="497125" y="3676275"/>
            <a:ext cx="81579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dk2"/>
                </a:solidFill>
                <a:latin typeface="Roboto"/>
                <a:ea typeface="Roboto"/>
                <a:cs typeface="Roboto"/>
                <a:sym typeface="Roboto"/>
              </a:rPr>
              <a:t>W. Zhao et al. </a:t>
            </a:r>
            <a:r>
              <a:rPr lang="en" u="sng">
                <a:solidFill>
                  <a:schemeClr val="hlink"/>
                </a:solidFill>
                <a:latin typeface="Roboto"/>
                <a:ea typeface="Roboto"/>
                <a:cs typeface="Roboto"/>
                <a:sym typeface="Roboto"/>
                <a:hlinkClick r:id="rId4"/>
              </a:rPr>
              <a:t>A Survey of Large Language Models</a:t>
            </a:r>
            <a:r>
              <a:rPr lang="en">
                <a:solidFill>
                  <a:schemeClr val="dk2"/>
                </a:solidFill>
                <a:latin typeface="Roboto"/>
                <a:ea typeface="Roboto"/>
                <a:cs typeface="Roboto"/>
                <a:sym typeface="Roboto"/>
              </a:rPr>
              <a:t>. 2023.</a:t>
            </a:r>
            <a:endParaRPr>
              <a:solidFill>
                <a:schemeClr val="dk2"/>
              </a:solidFill>
              <a:latin typeface="Roboto"/>
              <a:ea typeface="Roboto"/>
              <a:cs typeface="Roboto"/>
              <a:sym typeface="Roboto"/>
            </a:endParaRPr>
          </a:p>
        </p:txBody>
      </p:sp>
      <p:sp>
        <p:nvSpPr>
          <p:cNvPr id="213" name="Google Shape;213;p29"/>
          <p:cNvSpPr txBox="1"/>
          <p:nvPr/>
        </p:nvSpPr>
        <p:spPr>
          <a:xfrm>
            <a:off x="1905000" y="1066800"/>
            <a:ext cx="5408400" cy="415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500">
                <a:solidFill>
                  <a:schemeClr val="dk2"/>
                </a:solidFill>
                <a:latin typeface="Roboto"/>
                <a:ea typeface="Roboto"/>
                <a:cs typeface="Roboto"/>
                <a:sym typeface="Roboto"/>
              </a:rPr>
              <a:t>A typical data preparation pipeline for pre-training LLMs:</a:t>
            </a:r>
            <a:endParaRPr sz="15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4"/>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Post-Training: Instruction-Tuning and Alignment</a:t>
            </a:r>
            <a:endParaRPr/>
          </a:p>
        </p:txBody>
      </p:sp>
      <p:sp>
        <p:nvSpPr>
          <p:cNvPr id="253" name="Google Shape;253;p34"/>
          <p:cNvSpPr txBox="1"/>
          <p:nvPr/>
        </p:nvSpPr>
        <p:spPr>
          <a:xfrm>
            <a:off x="3103175" y="902375"/>
            <a:ext cx="2848500" cy="958200"/>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None/>
            </a:pPr>
            <a:r>
              <a:rPr lang="en" sz="1700" b="1">
                <a:solidFill>
                  <a:srgbClr val="44464B"/>
                </a:solidFill>
                <a:latin typeface="Roboto"/>
                <a:ea typeface="Roboto"/>
                <a:cs typeface="Roboto"/>
                <a:sym typeface="Roboto"/>
              </a:rPr>
              <a:t>       Instruction</a:t>
            </a:r>
            <a:br>
              <a:rPr lang="en" sz="1700" b="1">
                <a:solidFill>
                  <a:srgbClr val="44464B"/>
                </a:solidFill>
                <a:latin typeface="Roboto"/>
                <a:ea typeface="Roboto"/>
                <a:cs typeface="Roboto"/>
                <a:sym typeface="Roboto"/>
              </a:rPr>
            </a:br>
            <a:r>
              <a:rPr lang="en" sz="1700" b="1">
                <a:solidFill>
                  <a:srgbClr val="44464B"/>
                </a:solidFill>
                <a:latin typeface="Roboto"/>
                <a:ea typeface="Roboto"/>
                <a:cs typeface="Roboto"/>
                <a:sym typeface="Roboto"/>
              </a:rPr>
              <a:t>       Fine-tuning</a:t>
            </a:r>
            <a:endParaRPr sz="1500">
              <a:solidFill>
                <a:srgbClr val="44464B"/>
              </a:solidFill>
              <a:latin typeface="Roboto"/>
              <a:ea typeface="Roboto"/>
              <a:cs typeface="Roboto"/>
              <a:sym typeface="Roboto"/>
            </a:endParaRPr>
          </a:p>
        </p:txBody>
      </p:sp>
      <p:sp>
        <p:nvSpPr>
          <p:cNvPr id="254" name="Google Shape;254;p34"/>
          <p:cNvSpPr txBox="1"/>
          <p:nvPr/>
        </p:nvSpPr>
        <p:spPr>
          <a:xfrm>
            <a:off x="506675" y="902375"/>
            <a:ext cx="2890800" cy="958200"/>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None/>
            </a:pPr>
            <a:br>
              <a:rPr lang="en" sz="700" b="1">
                <a:solidFill>
                  <a:srgbClr val="44464B"/>
                </a:solidFill>
                <a:latin typeface="Roboto"/>
                <a:ea typeface="Roboto"/>
                <a:cs typeface="Roboto"/>
                <a:sym typeface="Roboto"/>
              </a:rPr>
            </a:br>
            <a:r>
              <a:rPr lang="en" sz="1700" b="1">
                <a:solidFill>
                  <a:srgbClr val="44464B"/>
                </a:solidFill>
                <a:latin typeface="Roboto"/>
                <a:ea typeface="Roboto"/>
                <a:cs typeface="Roboto"/>
                <a:sym typeface="Roboto"/>
              </a:rPr>
              <a:t>       Pre-Training</a:t>
            </a:r>
            <a:endParaRPr sz="1500">
              <a:solidFill>
                <a:srgbClr val="44464B"/>
              </a:solidFill>
              <a:latin typeface="Roboto"/>
              <a:ea typeface="Roboto"/>
              <a:cs typeface="Roboto"/>
              <a:sym typeface="Roboto"/>
            </a:endParaRPr>
          </a:p>
        </p:txBody>
      </p:sp>
      <p:sp>
        <p:nvSpPr>
          <p:cNvPr id="255" name="Google Shape;255;p34"/>
          <p:cNvSpPr txBox="1"/>
          <p:nvPr/>
        </p:nvSpPr>
        <p:spPr>
          <a:xfrm>
            <a:off x="5732950" y="911775"/>
            <a:ext cx="3386700" cy="948900"/>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None/>
            </a:pPr>
            <a:r>
              <a:rPr lang="en" sz="1700" b="1">
                <a:solidFill>
                  <a:srgbClr val="44464B"/>
                </a:solidFill>
                <a:latin typeface="Roboto"/>
                <a:ea typeface="Roboto"/>
                <a:cs typeface="Roboto"/>
                <a:sym typeface="Roboto"/>
              </a:rPr>
              <a:t>   Reinforcement Learning</a:t>
            </a:r>
            <a:br>
              <a:rPr lang="en" sz="1700" b="1">
                <a:solidFill>
                  <a:srgbClr val="44464B"/>
                </a:solidFill>
                <a:latin typeface="Roboto"/>
                <a:ea typeface="Roboto"/>
                <a:cs typeface="Roboto"/>
                <a:sym typeface="Roboto"/>
              </a:rPr>
            </a:br>
            <a:r>
              <a:rPr lang="en" sz="1700" b="1">
                <a:solidFill>
                  <a:srgbClr val="44464B"/>
                </a:solidFill>
                <a:latin typeface="Roboto"/>
                <a:ea typeface="Roboto"/>
                <a:cs typeface="Roboto"/>
                <a:sym typeface="Roboto"/>
              </a:rPr>
              <a:t>   from Human Feedback</a:t>
            </a:r>
            <a:endParaRPr sz="1700" b="1">
              <a:solidFill>
                <a:srgbClr val="44464B"/>
              </a:solidFill>
              <a:latin typeface="Roboto"/>
              <a:ea typeface="Roboto"/>
              <a:cs typeface="Roboto"/>
              <a:sym typeface="Roboto"/>
            </a:endParaRPr>
          </a:p>
        </p:txBody>
      </p:sp>
      <p:pic>
        <p:nvPicPr>
          <p:cNvPr id="256" name="Google Shape;256;p34"/>
          <p:cNvPicPr preferRelativeResize="0"/>
          <p:nvPr/>
        </p:nvPicPr>
        <p:blipFill>
          <a:blip r:embed="rId3">
            <a:alphaModFix/>
          </a:blip>
          <a:stretch>
            <a:fillRect/>
          </a:stretch>
        </p:blipFill>
        <p:spPr>
          <a:xfrm>
            <a:off x="2917310" y="2839975"/>
            <a:ext cx="2377401" cy="1569300"/>
          </a:xfrm>
          <a:prstGeom prst="rect">
            <a:avLst/>
          </a:prstGeom>
          <a:noFill/>
          <a:ln w="19050" cap="flat" cmpd="sng">
            <a:solidFill>
              <a:srgbClr val="9E9E9E"/>
            </a:solidFill>
            <a:prstDash val="solid"/>
            <a:round/>
            <a:headEnd type="none" w="sm" len="sm"/>
            <a:tailEnd type="none" w="sm" len="sm"/>
          </a:ln>
        </p:spPr>
      </p:pic>
      <p:grpSp>
        <p:nvGrpSpPr>
          <p:cNvPr id="257" name="Google Shape;257;p34"/>
          <p:cNvGrpSpPr/>
          <p:nvPr/>
        </p:nvGrpSpPr>
        <p:grpSpPr>
          <a:xfrm>
            <a:off x="5831100" y="2519925"/>
            <a:ext cx="3009925" cy="2046765"/>
            <a:chOff x="5831100" y="2748525"/>
            <a:chExt cx="3009925" cy="2046765"/>
          </a:xfrm>
        </p:grpSpPr>
        <p:pic>
          <p:nvPicPr>
            <p:cNvPr id="258" name="Google Shape;258;p34"/>
            <p:cNvPicPr preferRelativeResize="0"/>
            <p:nvPr/>
          </p:nvPicPr>
          <p:blipFill rotWithShape="1">
            <a:blip r:embed="rId4">
              <a:alphaModFix/>
            </a:blip>
            <a:srcRect b="16576"/>
            <a:stretch/>
          </p:blipFill>
          <p:spPr>
            <a:xfrm>
              <a:off x="6335573" y="2748525"/>
              <a:ext cx="2046200" cy="442325"/>
            </a:xfrm>
            <a:prstGeom prst="rect">
              <a:avLst/>
            </a:prstGeom>
            <a:noFill/>
            <a:ln w="9525" cap="flat" cmpd="sng">
              <a:solidFill>
                <a:srgbClr val="A31515"/>
              </a:solidFill>
              <a:prstDash val="solid"/>
              <a:round/>
              <a:headEnd type="none" w="sm" len="sm"/>
              <a:tailEnd type="none" w="sm" len="sm"/>
            </a:ln>
          </p:spPr>
        </p:pic>
        <p:pic>
          <p:nvPicPr>
            <p:cNvPr id="259" name="Google Shape;259;p34"/>
            <p:cNvPicPr preferRelativeResize="0"/>
            <p:nvPr/>
          </p:nvPicPr>
          <p:blipFill rotWithShape="1">
            <a:blip r:embed="rId5">
              <a:alphaModFix/>
            </a:blip>
            <a:srcRect t="5997"/>
            <a:stretch/>
          </p:blipFill>
          <p:spPr>
            <a:xfrm>
              <a:off x="5831100" y="3472700"/>
              <a:ext cx="1279350" cy="592400"/>
            </a:xfrm>
            <a:prstGeom prst="rect">
              <a:avLst/>
            </a:prstGeom>
            <a:noFill/>
            <a:ln w="9525" cap="flat" cmpd="sng">
              <a:solidFill>
                <a:srgbClr val="1C4587"/>
              </a:solidFill>
              <a:prstDash val="solid"/>
              <a:round/>
              <a:headEnd type="none" w="sm" len="sm"/>
              <a:tailEnd type="none" w="sm" len="sm"/>
            </a:ln>
          </p:spPr>
        </p:pic>
        <p:pic>
          <p:nvPicPr>
            <p:cNvPr id="260" name="Google Shape;260;p34"/>
            <p:cNvPicPr preferRelativeResize="0"/>
            <p:nvPr/>
          </p:nvPicPr>
          <p:blipFill>
            <a:blip r:embed="rId6">
              <a:alphaModFix/>
            </a:blip>
            <a:stretch>
              <a:fillRect/>
            </a:stretch>
          </p:blipFill>
          <p:spPr>
            <a:xfrm>
              <a:off x="6671925" y="4202890"/>
              <a:ext cx="1439960" cy="592400"/>
            </a:xfrm>
            <a:prstGeom prst="rect">
              <a:avLst/>
            </a:prstGeom>
            <a:noFill/>
            <a:ln w="9525" cap="flat" cmpd="sng">
              <a:solidFill>
                <a:srgbClr val="1C4587"/>
              </a:solidFill>
              <a:prstDash val="solid"/>
              <a:round/>
              <a:headEnd type="none" w="sm" len="sm"/>
              <a:tailEnd type="none" w="sm" len="sm"/>
            </a:ln>
          </p:spPr>
        </p:pic>
        <p:pic>
          <p:nvPicPr>
            <p:cNvPr id="261" name="Google Shape;261;p34"/>
            <p:cNvPicPr preferRelativeResize="0"/>
            <p:nvPr/>
          </p:nvPicPr>
          <p:blipFill>
            <a:blip r:embed="rId7">
              <a:alphaModFix/>
            </a:blip>
            <a:stretch>
              <a:fillRect/>
            </a:stretch>
          </p:blipFill>
          <p:spPr>
            <a:xfrm>
              <a:off x="7615822" y="3463850"/>
              <a:ext cx="1225203" cy="666950"/>
            </a:xfrm>
            <a:prstGeom prst="rect">
              <a:avLst/>
            </a:prstGeom>
            <a:noFill/>
            <a:ln w="9525" cap="flat" cmpd="sng">
              <a:solidFill>
                <a:srgbClr val="1C4587"/>
              </a:solidFill>
              <a:prstDash val="solid"/>
              <a:round/>
              <a:headEnd type="none" w="sm" len="sm"/>
              <a:tailEnd type="none" w="sm" len="sm"/>
            </a:ln>
          </p:spPr>
        </p:pic>
        <p:cxnSp>
          <p:nvCxnSpPr>
            <p:cNvPr id="262" name="Google Shape;262;p34"/>
            <p:cNvCxnSpPr/>
            <p:nvPr/>
          </p:nvCxnSpPr>
          <p:spPr>
            <a:xfrm flipH="1">
              <a:off x="6719484" y="3213174"/>
              <a:ext cx="587100" cy="225000"/>
            </a:xfrm>
            <a:prstGeom prst="straightConnector1">
              <a:avLst/>
            </a:prstGeom>
            <a:noFill/>
            <a:ln w="9525" cap="flat" cmpd="sng">
              <a:solidFill>
                <a:srgbClr val="57000A"/>
              </a:solidFill>
              <a:prstDash val="solid"/>
              <a:round/>
              <a:headEnd type="none" w="med" len="med"/>
              <a:tailEnd type="triangle" w="med" len="med"/>
            </a:ln>
          </p:spPr>
        </p:cxnSp>
        <p:cxnSp>
          <p:nvCxnSpPr>
            <p:cNvPr id="263" name="Google Shape;263;p34"/>
            <p:cNvCxnSpPr/>
            <p:nvPr/>
          </p:nvCxnSpPr>
          <p:spPr>
            <a:xfrm flipH="1">
              <a:off x="7293401" y="3222434"/>
              <a:ext cx="162900" cy="958200"/>
            </a:xfrm>
            <a:prstGeom prst="straightConnector1">
              <a:avLst/>
            </a:prstGeom>
            <a:noFill/>
            <a:ln w="9525" cap="flat" cmpd="sng">
              <a:solidFill>
                <a:srgbClr val="57000A"/>
              </a:solidFill>
              <a:prstDash val="solid"/>
              <a:round/>
              <a:headEnd type="none" w="med" len="med"/>
              <a:tailEnd type="triangle" w="med" len="med"/>
            </a:ln>
          </p:spPr>
        </p:cxnSp>
        <p:cxnSp>
          <p:nvCxnSpPr>
            <p:cNvPr id="264" name="Google Shape;264;p34"/>
            <p:cNvCxnSpPr/>
            <p:nvPr/>
          </p:nvCxnSpPr>
          <p:spPr>
            <a:xfrm>
              <a:off x="7574177" y="3213174"/>
              <a:ext cx="473700" cy="206700"/>
            </a:xfrm>
            <a:prstGeom prst="straightConnector1">
              <a:avLst/>
            </a:prstGeom>
            <a:noFill/>
            <a:ln w="9525" cap="flat" cmpd="sng">
              <a:solidFill>
                <a:srgbClr val="57000A"/>
              </a:solidFill>
              <a:prstDash val="solid"/>
              <a:round/>
              <a:headEnd type="none" w="med" len="med"/>
              <a:tailEnd type="triangle" w="med" len="med"/>
            </a:ln>
          </p:spPr>
        </p:cxnSp>
      </p:grpSp>
      <p:pic>
        <p:nvPicPr>
          <p:cNvPr id="265" name="Google Shape;265;p34"/>
          <p:cNvPicPr preferRelativeResize="0"/>
          <p:nvPr/>
        </p:nvPicPr>
        <p:blipFill>
          <a:blip r:embed="rId8">
            <a:alphaModFix/>
          </a:blip>
          <a:stretch>
            <a:fillRect/>
          </a:stretch>
        </p:blipFill>
        <p:spPr>
          <a:xfrm>
            <a:off x="369846" y="1081606"/>
            <a:ext cx="450028" cy="434519"/>
          </a:xfrm>
          <a:prstGeom prst="rect">
            <a:avLst/>
          </a:prstGeom>
          <a:noFill/>
          <a:ln>
            <a:noFill/>
          </a:ln>
        </p:spPr>
      </p:pic>
      <p:pic>
        <p:nvPicPr>
          <p:cNvPr id="266" name="Google Shape;266;p34"/>
          <p:cNvPicPr preferRelativeResize="0"/>
          <p:nvPr/>
        </p:nvPicPr>
        <p:blipFill>
          <a:blip r:embed="rId9">
            <a:alphaModFix/>
          </a:blip>
          <a:stretch>
            <a:fillRect/>
          </a:stretch>
        </p:blipFill>
        <p:spPr>
          <a:xfrm>
            <a:off x="5330780" y="1078115"/>
            <a:ext cx="450028" cy="434519"/>
          </a:xfrm>
          <a:prstGeom prst="rect">
            <a:avLst/>
          </a:prstGeom>
          <a:noFill/>
          <a:ln>
            <a:noFill/>
          </a:ln>
        </p:spPr>
      </p:pic>
      <p:pic>
        <p:nvPicPr>
          <p:cNvPr id="267" name="Google Shape;267;p34"/>
          <p:cNvPicPr preferRelativeResize="0"/>
          <p:nvPr/>
        </p:nvPicPr>
        <p:blipFill>
          <a:blip r:embed="rId10">
            <a:alphaModFix/>
          </a:blip>
          <a:stretch>
            <a:fillRect/>
          </a:stretch>
        </p:blipFill>
        <p:spPr>
          <a:xfrm>
            <a:off x="2968651" y="1073800"/>
            <a:ext cx="450026" cy="434519"/>
          </a:xfrm>
          <a:prstGeom prst="rect">
            <a:avLst/>
          </a:prstGeom>
          <a:noFill/>
          <a:ln>
            <a:noFill/>
          </a:ln>
        </p:spPr>
      </p:pic>
      <p:sp>
        <p:nvSpPr>
          <p:cNvPr id="268" name="Google Shape;268;p34"/>
          <p:cNvSpPr txBox="1"/>
          <p:nvPr/>
        </p:nvSpPr>
        <p:spPr>
          <a:xfrm>
            <a:off x="275175" y="1768125"/>
            <a:ext cx="2377500" cy="2001000"/>
          </a:xfrm>
          <a:prstGeom prst="rect">
            <a:avLst/>
          </a:prstGeom>
          <a:noFill/>
          <a:ln>
            <a:noFill/>
          </a:ln>
        </p:spPr>
        <p:txBody>
          <a:bodyPr spcFirstLastPara="1" wrap="square" lIns="91425" tIns="91425" rIns="91425" bIns="91425" anchor="t" anchorCtr="0">
            <a:spAutoFit/>
          </a:bodyPr>
          <a:lstStyle/>
          <a:p>
            <a:pPr marL="0" lvl="0" indent="0" algn="l" rtl="0">
              <a:spcBef>
                <a:spcPts val="360"/>
              </a:spcBef>
              <a:spcAft>
                <a:spcPts val="0"/>
              </a:spcAft>
              <a:buNone/>
            </a:pPr>
            <a:r>
              <a:rPr lang="en">
                <a:solidFill>
                  <a:srgbClr val="44464B"/>
                </a:solidFill>
                <a:latin typeface="Roboto"/>
                <a:ea typeface="Roboto"/>
                <a:cs typeface="Roboto"/>
                <a:sym typeface="Roboto"/>
              </a:rPr>
              <a:t>Massive amounts of data from Internet, books, etc.</a:t>
            </a:r>
            <a:endParaRPr>
              <a:solidFill>
                <a:srgbClr val="44464B"/>
              </a:solidFill>
              <a:latin typeface="Roboto"/>
              <a:ea typeface="Roboto"/>
              <a:cs typeface="Roboto"/>
              <a:sym typeface="Roboto"/>
            </a:endParaRPr>
          </a:p>
          <a:p>
            <a:pPr marL="0" lvl="0" indent="0" algn="l" rtl="0">
              <a:spcBef>
                <a:spcPts val="360"/>
              </a:spcBef>
              <a:spcAft>
                <a:spcPts val="0"/>
              </a:spcAft>
              <a:buNone/>
            </a:pPr>
            <a:br>
              <a:rPr lang="en" sz="1700">
                <a:solidFill>
                  <a:srgbClr val="44464B"/>
                </a:solidFill>
                <a:latin typeface="Roboto"/>
                <a:ea typeface="Roboto"/>
                <a:cs typeface="Roboto"/>
                <a:sym typeface="Roboto"/>
              </a:rPr>
            </a:br>
            <a:r>
              <a:rPr lang="en" b="1">
                <a:solidFill>
                  <a:srgbClr val="44464B"/>
                </a:solidFill>
                <a:latin typeface="Roboto"/>
                <a:ea typeface="Roboto"/>
                <a:cs typeface="Roboto"/>
                <a:sym typeface="Roboto"/>
              </a:rPr>
              <a:t>Problem:</a:t>
            </a:r>
            <a:r>
              <a:rPr lang="en">
                <a:solidFill>
                  <a:srgbClr val="44464B"/>
                </a:solidFill>
                <a:latin typeface="Roboto"/>
                <a:ea typeface="Roboto"/>
                <a:cs typeface="Roboto"/>
                <a:sym typeface="Roboto"/>
              </a:rPr>
              <a:t> A model that can babble on about anything, but not aligned with what we want (e.g. Question-Answering)</a:t>
            </a:r>
            <a:endParaRPr sz="1000">
              <a:latin typeface="Roboto"/>
              <a:ea typeface="Roboto"/>
              <a:cs typeface="Roboto"/>
              <a:sym typeface="Roboto"/>
            </a:endParaRPr>
          </a:p>
        </p:txBody>
      </p:sp>
      <p:sp>
        <p:nvSpPr>
          <p:cNvPr id="269" name="Google Shape;269;p34"/>
          <p:cNvSpPr txBox="1"/>
          <p:nvPr/>
        </p:nvSpPr>
        <p:spPr>
          <a:xfrm>
            <a:off x="2945125" y="1763875"/>
            <a:ext cx="2469900" cy="693600"/>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None/>
            </a:pPr>
            <a:r>
              <a:rPr lang="en">
                <a:solidFill>
                  <a:srgbClr val="44464B"/>
                </a:solidFill>
                <a:latin typeface="Roboto"/>
                <a:ea typeface="Roboto"/>
                <a:cs typeface="Roboto"/>
                <a:sym typeface="Roboto"/>
              </a:rPr>
              <a:t>Teach model to respond</a:t>
            </a:r>
            <a:br>
              <a:rPr lang="en">
                <a:solidFill>
                  <a:srgbClr val="44464B"/>
                </a:solidFill>
                <a:latin typeface="Roboto"/>
                <a:ea typeface="Roboto"/>
                <a:cs typeface="Roboto"/>
                <a:sym typeface="Roboto"/>
              </a:rPr>
            </a:br>
            <a:r>
              <a:rPr lang="en">
                <a:solidFill>
                  <a:srgbClr val="44464B"/>
                </a:solidFill>
                <a:latin typeface="Roboto"/>
                <a:ea typeface="Roboto"/>
                <a:cs typeface="Roboto"/>
                <a:sym typeface="Roboto"/>
              </a:rPr>
              <a:t>to instructions.</a:t>
            </a:r>
            <a:endParaRPr>
              <a:solidFill>
                <a:srgbClr val="44464B"/>
              </a:solidFill>
              <a:latin typeface="Roboto"/>
              <a:ea typeface="Roboto"/>
              <a:cs typeface="Roboto"/>
              <a:sym typeface="Roboto"/>
            </a:endParaRPr>
          </a:p>
        </p:txBody>
      </p:sp>
      <p:sp>
        <p:nvSpPr>
          <p:cNvPr id="270" name="Google Shape;270;p34"/>
          <p:cNvSpPr txBox="1"/>
          <p:nvPr/>
        </p:nvSpPr>
        <p:spPr>
          <a:xfrm>
            <a:off x="5655625" y="1768725"/>
            <a:ext cx="3219300" cy="693600"/>
          </a:xfrm>
          <a:prstGeom prst="rect">
            <a:avLst/>
          </a:prstGeom>
          <a:noFill/>
          <a:ln>
            <a:noFill/>
          </a:ln>
        </p:spPr>
        <p:txBody>
          <a:bodyPr spcFirstLastPara="1" wrap="square" lIns="91425" tIns="45700" rIns="91425" bIns="45700" anchor="t" anchorCtr="0">
            <a:noAutofit/>
          </a:bodyPr>
          <a:lstStyle/>
          <a:p>
            <a:pPr marL="0" lvl="0" indent="0" algn="l" rtl="0">
              <a:spcBef>
                <a:spcPts val="360"/>
              </a:spcBef>
              <a:spcAft>
                <a:spcPts val="0"/>
              </a:spcAft>
              <a:buNone/>
            </a:pPr>
            <a:r>
              <a:rPr lang="en">
                <a:solidFill>
                  <a:srgbClr val="44464B"/>
                </a:solidFill>
                <a:latin typeface="Roboto"/>
                <a:ea typeface="Roboto"/>
                <a:cs typeface="Roboto"/>
                <a:sym typeface="Roboto"/>
              </a:rPr>
              <a:t>Teach model to produce output closer to what humans like.</a:t>
            </a:r>
            <a:endParaRPr sz="1600" b="1">
              <a:solidFill>
                <a:srgbClr val="44464B"/>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3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What LLMs Can Do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9"/>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Few-Shot Prompting</a:t>
            </a:r>
            <a:endParaRPr/>
          </a:p>
        </p:txBody>
      </p:sp>
      <p:sp>
        <p:nvSpPr>
          <p:cNvPr id="300" name="Google Shape;300;p39"/>
          <p:cNvSpPr/>
          <p:nvPr/>
        </p:nvSpPr>
        <p:spPr>
          <a:xfrm>
            <a:off x="1027929" y="1755781"/>
            <a:ext cx="2058966" cy="2010852"/>
          </a:xfrm>
          <a:prstGeom prst="flowChartDocument">
            <a:avLst/>
          </a:prstGeom>
          <a:solidFill>
            <a:srgbClr val="FFFFFF"/>
          </a:solidFill>
          <a:ln w="19050" cap="flat" cmpd="sng">
            <a:solidFill>
              <a:srgbClr val="57000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301" name="Google Shape;301;p39"/>
          <p:cNvSpPr txBox="1"/>
          <p:nvPr/>
        </p:nvSpPr>
        <p:spPr>
          <a:xfrm>
            <a:off x="1037550" y="1758800"/>
            <a:ext cx="18570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Q: “Elon Musk”</a:t>
            </a:r>
            <a:br>
              <a:rPr lang="en"/>
            </a:br>
            <a:r>
              <a:rPr lang="en"/>
              <a:t>A: “nk”</a:t>
            </a:r>
            <a:br>
              <a:rPr lang="en"/>
            </a:br>
            <a:br>
              <a:rPr lang="en"/>
            </a:br>
            <a:r>
              <a:rPr lang="en"/>
              <a:t>Q: “Bill Gates”</a:t>
            </a:r>
            <a:br>
              <a:rPr lang="en"/>
            </a:br>
            <a:r>
              <a:rPr lang="en"/>
              <a:t>A: “ls”</a:t>
            </a:r>
            <a:br>
              <a:rPr lang="en"/>
            </a:br>
            <a:br>
              <a:rPr lang="en"/>
            </a:br>
            <a:r>
              <a:rPr lang="en"/>
              <a:t>Q: “Barack Obama”</a:t>
            </a:r>
            <a:br>
              <a:rPr lang="en"/>
            </a:br>
            <a:r>
              <a:rPr lang="en"/>
              <a:t>A:</a:t>
            </a:r>
            <a:endParaRPr/>
          </a:p>
        </p:txBody>
      </p:sp>
      <p:sp>
        <p:nvSpPr>
          <p:cNvPr id="302" name="Google Shape;302;p39"/>
          <p:cNvSpPr txBox="1"/>
          <p:nvPr/>
        </p:nvSpPr>
        <p:spPr>
          <a:xfrm>
            <a:off x="951725" y="4298800"/>
            <a:ext cx="6426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latin typeface="Roboto"/>
                <a:ea typeface="Roboto"/>
                <a:cs typeface="Roboto"/>
                <a:sym typeface="Roboto"/>
              </a:rPr>
              <a:t>T. Brown et al. </a:t>
            </a:r>
            <a:r>
              <a:rPr lang="en" u="sng">
                <a:solidFill>
                  <a:schemeClr val="hlink"/>
                </a:solidFill>
                <a:latin typeface="Roboto"/>
                <a:ea typeface="Roboto"/>
                <a:cs typeface="Roboto"/>
                <a:sym typeface="Roboto"/>
                <a:hlinkClick r:id="rId3"/>
              </a:rPr>
              <a:t>Language Models are Few-Shot Learners</a:t>
            </a:r>
            <a:r>
              <a:rPr lang="en">
                <a:solidFill>
                  <a:schemeClr val="dk2"/>
                </a:solidFill>
                <a:latin typeface="Roboto"/>
                <a:ea typeface="Roboto"/>
                <a:cs typeface="Roboto"/>
                <a:sym typeface="Roboto"/>
              </a:rPr>
              <a:t>. NeurIPS 2020.</a:t>
            </a:r>
            <a:endParaRPr>
              <a:solidFill>
                <a:schemeClr val="dk2"/>
              </a:solidFill>
              <a:latin typeface="Roboto"/>
              <a:ea typeface="Roboto"/>
              <a:cs typeface="Roboto"/>
              <a:sym typeface="Roboto"/>
            </a:endParaRPr>
          </a:p>
        </p:txBody>
      </p:sp>
      <p:sp>
        <p:nvSpPr>
          <p:cNvPr id="303" name="Google Shape;303;p39"/>
          <p:cNvSpPr/>
          <p:nvPr/>
        </p:nvSpPr>
        <p:spPr>
          <a:xfrm>
            <a:off x="3396300" y="2400300"/>
            <a:ext cx="510000" cy="273900"/>
          </a:xfrm>
          <a:prstGeom prst="rightArrow">
            <a:avLst>
              <a:gd name="adj1" fmla="val 50000"/>
              <a:gd name="adj2" fmla="val 50000"/>
            </a:avLst>
          </a:prstGeom>
          <a:solidFill>
            <a:srgbClr val="82AFD3"/>
          </a:solidFill>
          <a:ln w="9525" cap="flat" cmpd="sng">
            <a:solidFill>
              <a:srgbClr val="57000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304" name="Google Shape;304;p39"/>
          <p:cNvSpPr/>
          <p:nvPr/>
        </p:nvSpPr>
        <p:spPr>
          <a:xfrm>
            <a:off x="5263600" y="2423750"/>
            <a:ext cx="510000" cy="273900"/>
          </a:xfrm>
          <a:prstGeom prst="rightArrow">
            <a:avLst>
              <a:gd name="adj1" fmla="val 50000"/>
              <a:gd name="adj2" fmla="val 50000"/>
            </a:avLst>
          </a:prstGeom>
          <a:solidFill>
            <a:srgbClr val="82AFD3"/>
          </a:solidFill>
          <a:ln w="9525" cap="flat" cmpd="sng">
            <a:solidFill>
              <a:srgbClr val="57000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305" name="Google Shape;305;p39"/>
          <p:cNvSpPr/>
          <p:nvPr/>
        </p:nvSpPr>
        <p:spPr>
          <a:xfrm>
            <a:off x="4085000" y="2266950"/>
            <a:ext cx="923700" cy="585600"/>
          </a:xfrm>
          <a:prstGeom prst="roundRect">
            <a:avLst>
              <a:gd name="adj" fmla="val 16667"/>
            </a:avLst>
          </a:prstGeom>
          <a:solidFill>
            <a:srgbClr val="FFFFFF"/>
          </a:solidFill>
          <a:ln w="19050" cap="flat" cmpd="sng">
            <a:solidFill>
              <a:srgbClr val="57000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Gill Sans"/>
                <a:ea typeface="Gill Sans"/>
                <a:cs typeface="Gill Sans"/>
                <a:sym typeface="Gill Sans"/>
              </a:rPr>
              <a:t>LLM</a:t>
            </a:r>
            <a:endParaRPr sz="2200">
              <a:latin typeface="Gill Sans"/>
              <a:ea typeface="Gill Sans"/>
              <a:cs typeface="Gill Sans"/>
              <a:sym typeface="Gill Sans"/>
            </a:endParaRPr>
          </a:p>
        </p:txBody>
      </p:sp>
      <p:sp>
        <p:nvSpPr>
          <p:cNvPr id="306" name="Google Shape;306;p39"/>
          <p:cNvSpPr txBox="1"/>
          <p:nvPr/>
        </p:nvSpPr>
        <p:spPr>
          <a:xfrm>
            <a:off x="6028500" y="2366461"/>
            <a:ext cx="51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“ka”</a:t>
            </a:r>
            <a:endParaRPr sz="2800">
              <a:latin typeface="Gill Sans"/>
              <a:ea typeface="Gill Sans"/>
              <a:cs typeface="Gill Sans"/>
              <a:sym typeface="Gill Sans"/>
            </a:endParaRPr>
          </a:p>
        </p:txBody>
      </p:sp>
      <p:sp>
        <p:nvSpPr>
          <p:cNvPr id="307" name="Google Shape;307;p39"/>
          <p:cNvSpPr/>
          <p:nvPr/>
        </p:nvSpPr>
        <p:spPr>
          <a:xfrm>
            <a:off x="6984125" y="1260350"/>
            <a:ext cx="1340100" cy="672600"/>
          </a:xfrm>
          <a:prstGeom prst="wedgeRoundRectCallout">
            <a:avLst>
              <a:gd name="adj1" fmla="val -83677"/>
              <a:gd name="adj2" fmla="val 125149"/>
              <a:gd name="adj3" fmla="val 0"/>
            </a:avLst>
          </a:prstGeom>
          <a:noFill/>
          <a:ln w="9525" cap="flat" cmpd="sng">
            <a:solidFill>
              <a:srgbClr val="57000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Ideal output!</a:t>
            </a:r>
            <a:endParaRPr/>
          </a:p>
          <a:p>
            <a:pPr marL="0" lvl="0" indent="0" algn="l" rtl="0">
              <a:spcBef>
                <a:spcPts val="0"/>
              </a:spcBef>
              <a:spcAft>
                <a:spcPts val="0"/>
              </a:spcAft>
              <a:buNone/>
            </a:pPr>
            <a:r>
              <a:rPr lang="en"/>
              <a:t>GPT-4: “am”</a:t>
            </a:r>
            <a:endParaRPr>
              <a:latin typeface="Gill Sans"/>
              <a:ea typeface="Gill Sans"/>
              <a:cs typeface="Gill Sans"/>
              <a:sym typeface="Gill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0"/>
          <p:cNvSpPr/>
          <p:nvPr/>
        </p:nvSpPr>
        <p:spPr>
          <a:xfrm>
            <a:off x="6010950" y="1516025"/>
            <a:ext cx="2429406" cy="2010852"/>
          </a:xfrm>
          <a:prstGeom prst="flowChartDocument">
            <a:avLst/>
          </a:prstGeom>
          <a:solidFill>
            <a:srgbClr val="FFFFFF"/>
          </a:solidFill>
          <a:ln w="9525" cap="flat" cmpd="sng">
            <a:solidFill>
              <a:srgbClr val="57000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313" name="Google Shape;313;p40"/>
          <p:cNvSpPr/>
          <p:nvPr/>
        </p:nvSpPr>
        <p:spPr>
          <a:xfrm>
            <a:off x="489250" y="1527175"/>
            <a:ext cx="2745900" cy="2010852"/>
          </a:xfrm>
          <a:prstGeom prst="flowChartDocument">
            <a:avLst/>
          </a:prstGeom>
          <a:solidFill>
            <a:srgbClr val="FFFFFF"/>
          </a:solidFill>
          <a:ln w="19050" cap="flat" cmpd="sng">
            <a:solidFill>
              <a:srgbClr val="57000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314" name="Google Shape;314;p40"/>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Chain-of-Thought Prompting</a:t>
            </a:r>
            <a:endParaRPr/>
          </a:p>
        </p:txBody>
      </p:sp>
      <p:sp>
        <p:nvSpPr>
          <p:cNvPr id="315" name="Google Shape;315;p40"/>
          <p:cNvSpPr txBox="1"/>
          <p:nvPr/>
        </p:nvSpPr>
        <p:spPr>
          <a:xfrm>
            <a:off x="560350" y="1530200"/>
            <a:ext cx="26748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Q: “Elon Musk”</a:t>
            </a:r>
            <a:endParaRPr/>
          </a:p>
          <a:p>
            <a:pPr marL="0" lvl="0" indent="0" algn="l" rtl="0">
              <a:spcBef>
                <a:spcPts val="0"/>
              </a:spcBef>
              <a:spcAft>
                <a:spcPts val="0"/>
              </a:spcAft>
              <a:buNone/>
            </a:pPr>
            <a:r>
              <a:rPr lang="en"/>
              <a:t>A: the last letter of "Elon" is "n". The last letter of "Musk" is "k". Concatenating "n", "k" leads to "nk". so the output is "nk"</a:t>
            </a:r>
            <a:br>
              <a:rPr lang="en"/>
            </a:br>
            <a:br>
              <a:rPr lang="en"/>
            </a:br>
            <a:r>
              <a:rPr lang="en"/>
              <a:t>Q: “Barack Obama”</a:t>
            </a:r>
            <a:br>
              <a:rPr lang="en"/>
            </a:br>
            <a:r>
              <a:rPr lang="en"/>
              <a:t>A:</a:t>
            </a:r>
            <a:endParaRPr/>
          </a:p>
        </p:txBody>
      </p:sp>
      <p:sp>
        <p:nvSpPr>
          <p:cNvPr id="316" name="Google Shape;316;p40"/>
          <p:cNvSpPr txBox="1"/>
          <p:nvPr/>
        </p:nvSpPr>
        <p:spPr>
          <a:xfrm>
            <a:off x="6028800" y="1565256"/>
            <a:ext cx="24294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 the last letter of "Barack" is "k". The last letter of "Obama" is "a". Concatenating "k", "a" leads to "ka". So, the output is "ka".</a:t>
            </a:r>
            <a:endParaRPr/>
          </a:p>
        </p:txBody>
      </p:sp>
      <p:sp>
        <p:nvSpPr>
          <p:cNvPr id="317" name="Google Shape;317;p40"/>
          <p:cNvSpPr txBox="1"/>
          <p:nvPr/>
        </p:nvSpPr>
        <p:spPr>
          <a:xfrm>
            <a:off x="394150" y="4298800"/>
            <a:ext cx="828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latin typeface="Roboto"/>
                <a:ea typeface="Roboto"/>
                <a:cs typeface="Roboto"/>
                <a:sym typeface="Roboto"/>
              </a:rPr>
              <a:t>J. Wei et al. </a:t>
            </a:r>
            <a:r>
              <a:rPr lang="en" u="sng">
                <a:solidFill>
                  <a:schemeClr val="hlink"/>
                </a:solidFill>
                <a:latin typeface="Roboto"/>
                <a:ea typeface="Roboto"/>
                <a:cs typeface="Roboto"/>
                <a:sym typeface="Roboto"/>
                <a:hlinkClick r:id="rId3"/>
              </a:rPr>
              <a:t>Chain-of-Thought Prompting Elicits Reasoning in Large Language Models</a:t>
            </a:r>
            <a:r>
              <a:rPr lang="en">
                <a:solidFill>
                  <a:schemeClr val="dk2"/>
                </a:solidFill>
                <a:latin typeface="Roboto"/>
                <a:ea typeface="Roboto"/>
                <a:cs typeface="Roboto"/>
                <a:sym typeface="Roboto"/>
              </a:rPr>
              <a:t>. NeurIPS 2022.</a:t>
            </a:r>
            <a:endParaRPr>
              <a:solidFill>
                <a:schemeClr val="dk2"/>
              </a:solidFill>
              <a:latin typeface="Roboto"/>
              <a:ea typeface="Roboto"/>
              <a:cs typeface="Roboto"/>
              <a:sym typeface="Roboto"/>
            </a:endParaRPr>
          </a:p>
        </p:txBody>
      </p:sp>
      <p:sp>
        <p:nvSpPr>
          <p:cNvPr id="318" name="Google Shape;318;p40"/>
          <p:cNvSpPr/>
          <p:nvPr/>
        </p:nvSpPr>
        <p:spPr>
          <a:xfrm>
            <a:off x="3396300" y="2400300"/>
            <a:ext cx="510000" cy="273900"/>
          </a:xfrm>
          <a:prstGeom prst="rightArrow">
            <a:avLst>
              <a:gd name="adj1" fmla="val 50000"/>
              <a:gd name="adj2" fmla="val 50000"/>
            </a:avLst>
          </a:prstGeom>
          <a:solidFill>
            <a:srgbClr val="82AFD3"/>
          </a:solidFill>
          <a:ln w="9525" cap="flat" cmpd="sng">
            <a:solidFill>
              <a:srgbClr val="57000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319" name="Google Shape;319;p40"/>
          <p:cNvSpPr/>
          <p:nvPr/>
        </p:nvSpPr>
        <p:spPr>
          <a:xfrm>
            <a:off x="5263600" y="2423750"/>
            <a:ext cx="510000" cy="273900"/>
          </a:xfrm>
          <a:prstGeom prst="rightArrow">
            <a:avLst>
              <a:gd name="adj1" fmla="val 50000"/>
              <a:gd name="adj2" fmla="val 50000"/>
            </a:avLst>
          </a:prstGeom>
          <a:solidFill>
            <a:srgbClr val="82AFD3"/>
          </a:solidFill>
          <a:ln w="9525" cap="flat" cmpd="sng">
            <a:solidFill>
              <a:srgbClr val="57000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320" name="Google Shape;320;p40"/>
          <p:cNvSpPr/>
          <p:nvPr/>
        </p:nvSpPr>
        <p:spPr>
          <a:xfrm>
            <a:off x="4085000" y="2266950"/>
            <a:ext cx="923700" cy="585600"/>
          </a:xfrm>
          <a:prstGeom prst="roundRect">
            <a:avLst>
              <a:gd name="adj" fmla="val 16667"/>
            </a:avLst>
          </a:prstGeom>
          <a:solidFill>
            <a:srgbClr val="FFFFFF"/>
          </a:solidFill>
          <a:ln w="19050" cap="flat" cmpd="sng">
            <a:solidFill>
              <a:srgbClr val="57000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Gill Sans"/>
                <a:ea typeface="Gill Sans"/>
                <a:cs typeface="Gill Sans"/>
                <a:sym typeface="Gill Sans"/>
              </a:rPr>
              <a:t>LLM</a:t>
            </a:r>
            <a:endParaRPr sz="2200">
              <a:latin typeface="Gill Sans"/>
              <a:ea typeface="Gill Sans"/>
              <a:cs typeface="Gill Sans"/>
              <a:sym typeface="Gill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5"/>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Parameter Efficient Fine-Tuning (PEFT)</a:t>
            </a:r>
            <a:endParaRPr/>
          </a:p>
        </p:txBody>
      </p:sp>
      <p:pic>
        <p:nvPicPr>
          <p:cNvPr id="355" name="Google Shape;355;p45"/>
          <p:cNvPicPr preferRelativeResize="0"/>
          <p:nvPr/>
        </p:nvPicPr>
        <p:blipFill rotWithShape="1">
          <a:blip r:embed="rId3">
            <a:alphaModFix/>
          </a:blip>
          <a:srcRect r="69615"/>
          <a:stretch/>
        </p:blipFill>
        <p:spPr>
          <a:xfrm>
            <a:off x="1326825" y="915325"/>
            <a:ext cx="2325050" cy="1817625"/>
          </a:xfrm>
          <a:prstGeom prst="rect">
            <a:avLst/>
          </a:prstGeom>
          <a:noFill/>
          <a:ln>
            <a:noFill/>
          </a:ln>
        </p:spPr>
      </p:pic>
      <p:sp>
        <p:nvSpPr>
          <p:cNvPr id="356" name="Google Shape;356;p45"/>
          <p:cNvSpPr txBox="1"/>
          <p:nvPr/>
        </p:nvSpPr>
        <p:spPr>
          <a:xfrm>
            <a:off x="840100" y="2765600"/>
            <a:ext cx="3555900" cy="158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latin typeface="Roboto"/>
                <a:ea typeface="Roboto"/>
                <a:cs typeface="Roboto"/>
                <a:sym typeface="Roboto"/>
              </a:rPr>
              <a:t>Techniques like LoRA construct a </a:t>
            </a:r>
            <a:r>
              <a:rPr lang="en" sz="1300" b="1">
                <a:solidFill>
                  <a:schemeClr val="dk2"/>
                </a:solidFill>
                <a:latin typeface="Roboto"/>
                <a:ea typeface="Roboto"/>
                <a:cs typeface="Roboto"/>
                <a:sym typeface="Roboto"/>
              </a:rPr>
              <a:t>low-rank</a:t>
            </a:r>
            <a:br>
              <a:rPr lang="en" sz="1300" b="1">
                <a:solidFill>
                  <a:schemeClr val="dk2"/>
                </a:solidFill>
                <a:latin typeface="Roboto"/>
                <a:ea typeface="Roboto"/>
                <a:cs typeface="Roboto"/>
                <a:sym typeface="Roboto"/>
              </a:rPr>
            </a:br>
            <a:r>
              <a:rPr lang="en" sz="1300">
                <a:solidFill>
                  <a:schemeClr val="dk2"/>
                </a:solidFill>
                <a:latin typeface="Roboto"/>
                <a:ea typeface="Roboto"/>
                <a:cs typeface="Roboto"/>
                <a:sym typeface="Roboto"/>
              </a:rPr>
              <a:t>parameterization for parameter efficiency</a:t>
            </a: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during training.</a:t>
            </a:r>
            <a:endParaRPr sz="1300">
              <a:solidFill>
                <a:schemeClr val="dk2"/>
              </a:solidFill>
              <a:latin typeface="Roboto"/>
              <a:ea typeface="Roboto"/>
              <a:cs typeface="Roboto"/>
              <a:sym typeface="Roboto"/>
            </a:endParaRPr>
          </a:p>
          <a:p>
            <a:pPr marL="0" lvl="0" indent="0" algn="l" rtl="0">
              <a:spcBef>
                <a:spcPts val="0"/>
              </a:spcBef>
              <a:spcAft>
                <a:spcPts val="0"/>
              </a:spcAft>
              <a:buNone/>
            </a:pP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For inference, the model can be converted to its original weight parameterization to ensure unchanged inference speed.</a:t>
            </a:r>
            <a:endParaRPr sz="1300">
              <a:solidFill>
                <a:schemeClr val="dk2"/>
              </a:solidFill>
              <a:latin typeface="Roboto"/>
              <a:ea typeface="Roboto"/>
              <a:cs typeface="Roboto"/>
              <a:sym typeface="Roboto"/>
            </a:endParaRPr>
          </a:p>
        </p:txBody>
      </p:sp>
      <p:sp>
        <p:nvSpPr>
          <p:cNvPr id="357" name="Google Shape;357;p45"/>
          <p:cNvSpPr txBox="1"/>
          <p:nvPr/>
        </p:nvSpPr>
        <p:spPr>
          <a:xfrm>
            <a:off x="640500" y="4517950"/>
            <a:ext cx="7863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latin typeface="Roboto"/>
                <a:ea typeface="Roboto"/>
                <a:cs typeface="Roboto"/>
                <a:sym typeface="Roboto"/>
              </a:rPr>
              <a:t>E. Hu et al. </a:t>
            </a:r>
            <a:r>
              <a:rPr lang="en" u="sng">
                <a:solidFill>
                  <a:schemeClr val="hlink"/>
                </a:solidFill>
                <a:latin typeface="Roboto"/>
                <a:ea typeface="Roboto"/>
                <a:cs typeface="Roboto"/>
                <a:sym typeface="Roboto"/>
                <a:hlinkClick r:id="rId4"/>
              </a:rPr>
              <a:t>LoRA: Low-Rank Adaptation of Large Language Models</a:t>
            </a:r>
            <a:r>
              <a:rPr lang="en">
                <a:solidFill>
                  <a:schemeClr val="dk2"/>
                </a:solidFill>
                <a:latin typeface="Roboto"/>
                <a:ea typeface="Roboto"/>
                <a:cs typeface="Roboto"/>
                <a:sym typeface="Roboto"/>
              </a:rPr>
              <a:t>. ICLR 2022.</a:t>
            </a:r>
            <a:endParaRPr>
              <a:solidFill>
                <a:schemeClr val="dk2"/>
              </a:solidFill>
              <a:latin typeface="Roboto"/>
              <a:ea typeface="Roboto"/>
              <a:cs typeface="Roboto"/>
              <a:sym typeface="Roboto"/>
            </a:endParaRPr>
          </a:p>
        </p:txBody>
      </p:sp>
      <p:sp>
        <p:nvSpPr>
          <p:cNvPr id="358" name="Google Shape;358;p45"/>
          <p:cNvSpPr txBox="1"/>
          <p:nvPr/>
        </p:nvSpPr>
        <p:spPr>
          <a:xfrm>
            <a:off x="5064600" y="999900"/>
            <a:ext cx="35559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latin typeface="Roboto"/>
                <a:ea typeface="Roboto"/>
                <a:cs typeface="Roboto"/>
                <a:sym typeface="Roboto"/>
              </a:rPr>
              <a:t>GPT-3 175B validation accuracy vs. number</a:t>
            </a: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of trainable parameters of several adaptation methods on WikiSQL. LoRA exhibits better scalability and task performance.</a:t>
            </a:r>
            <a:endParaRPr sz="1300">
              <a:solidFill>
                <a:schemeClr val="dk2"/>
              </a:solidFill>
              <a:latin typeface="Roboto"/>
              <a:ea typeface="Roboto"/>
              <a:cs typeface="Roboto"/>
              <a:sym typeface="Roboto"/>
            </a:endParaRPr>
          </a:p>
        </p:txBody>
      </p:sp>
      <p:pic>
        <p:nvPicPr>
          <p:cNvPr id="359" name="Google Shape;359;p45"/>
          <p:cNvPicPr preferRelativeResize="0"/>
          <p:nvPr/>
        </p:nvPicPr>
        <p:blipFill>
          <a:blip r:embed="rId5">
            <a:alphaModFix/>
          </a:blip>
          <a:stretch>
            <a:fillRect/>
          </a:stretch>
        </p:blipFill>
        <p:spPr>
          <a:xfrm>
            <a:off x="4921600" y="2199000"/>
            <a:ext cx="3398555" cy="2090350"/>
          </a:xfrm>
          <a:prstGeom prst="rect">
            <a:avLst/>
          </a:prstGeom>
          <a:noFill/>
          <a:ln>
            <a:noFill/>
          </a:ln>
        </p:spPr>
      </p:pic>
      <p:grpSp>
        <p:nvGrpSpPr>
          <p:cNvPr id="360" name="Google Shape;360;p45"/>
          <p:cNvGrpSpPr/>
          <p:nvPr/>
        </p:nvGrpSpPr>
        <p:grpSpPr>
          <a:xfrm>
            <a:off x="84822" y="1590703"/>
            <a:ext cx="4651535" cy="606492"/>
            <a:chOff x="84823" y="1590703"/>
            <a:chExt cx="4651535" cy="606492"/>
          </a:xfrm>
        </p:grpSpPr>
        <p:cxnSp>
          <p:nvCxnSpPr>
            <p:cNvPr id="361" name="Google Shape;361;p45"/>
            <p:cNvCxnSpPr>
              <a:endCxn id="355" idx="1"/>
            </p:cNvCxnSpPr>
            <p:nvPr/>
          </p:nvCxnSpPr>
          <p:spPr>
            <a:xfrm rot="10800000" flipH="1">
              <a:off x="968625" y="1824137"/>
              <a:ext cx="358200" cy="5700"/>
            </a:xfrm>
            <a:prstGeom prst="straightConnector1">
              <a:avLst/>
            </a:prstGeom>
            <a:noFill/>
            <a:ln w="9525" cap="flat" cmpd="sng">
              <a:solidFill>
                <a:schemeClr val="dk2"/>
              </a:solidFill>
              <a:prstDash val="solid"/>
              <a:round/>
              <a:headEnd type="none" w="med" len="med"/>
              <a:tailEnd type="triangle" w="med" len="med"/>
            </a:ln>
          </p:spPr>
        </p:cxnSp>
        <p:cxnSp>
          <p:nvCxnSpPr>
            <p:cNvPr id="362" name="Google Shape;362;p45"/>
            <p:cNvCxnSpPr/>
            <p:nvPr/>
          </p:nvCxnSpPr>
          <p:spPr>
            <a:xfrm rot="10800000">
              <a:off x="3417613" y="1590703"/>
              <a:ext cx="338100" cy="240000"/>
            </a:xfrm>
            <a:prstGeom prst="straightConnector1">
              <a:avLst/>
            </a:prstGeom>
            <a:noFill/>
            <a:ln w="9525" cap="flat" cmpd="sng">
              <a:solidFill>
                <a:schemeClr val="dk2"/>
              </a:solidFill>
              <a:prstDash val="solid"/>
              <a:round/>
              <a:headEnd type="none" w="med" len="med"/>
              <a:tailEnd type="triangle" w="med" len="med"/>
            </a:ln>
          </p:spPr>
        </p:cxnSp>
        <p:cxnSp>
          <p:nvCxnSpPr>
            <p:cNvPr id="363" name="Google Shape;363;p45"/>
            <p:cNvCxnSpPr/>
            <p:nvPr/>
          </p:nvCxnSpPr>
          <p:spPr>
            <a:xfrm flipH="1">
              <a:off x="3437485" y="1950720"/>
              <a:ext cx="308700" cy="197100"/>
            </a:xfrm>
            <a:prstGeom prst="straightConnector1">
              <a:avLst/>
            </a:prstGeom>
            <a:noFill/>
            <a:ln w="9525" cap="flat" cmpd="sng">
              <a:solidFill>
                <a:schemeClr val="dk2"/>
              </a:solidFill>
              <a:prstDash val="solid"/>
              <a:round/>
              <a:headEnd type="none" w="med" len="med"/>
              <a:tailEnd type="triangle" w="med" len="med"/>
            </a:ln>
          </p:spPr>
        </p:cxnSp>
        <p:sp>
          <p:nvSpPr>
            <p:cNvPr id="364" name="Google Shape;364;p45"/>
            <p:cNvSpPr txBox="1"/>
            <p:nvPr/>
          </p:nvSpPr>
          <p:spPr>
            <a:xfrm>
              <a:off x="3664457" y="1643095"/>
              <a:ext cx="10719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trainable parameters</a:t>
              </a:r>
              <a:endParaRPr sz="1300"/>
            </a:p>
          </p:txBody>
        </p:sp>
        <p:sp>
          <p:nvSpPr>
            <p:cNvPr id="365" name="Google Shape;365;p45"/>
            <p:cNvSpPr txBox="1"/>
            <p:nvPr/>
          </p:nvSpPr>
          <p:spPr>
            <a:xfrm>
              <a:off x="84823" y="1616410"/>
              <a:ext cx="10605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frozen parameters</a:t>
              </a:r>
              <a:endParaRPr sz="13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6"/>
          <p:cNvSpPr txBox="1">
            <a:spLocks noGrp="1"/>
          </p:cNvSpPr>
          <p:nvPr>
            <p:ph type="body" idx="1"/>
          </p:nvPr>
        </p:nvSpPr>
        <p:spPr>
          <a:xfrm>
            <a:off x="5152075" y="1914475"/>
            <a:ext cx="3600600" cy="12270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1200"/>
              </a:spcAft>
              <a:buClr>
                <a:schemeClr val="dk1"/>
              </a:buClr>
              <a:buSzPts val="1100"/>
              <a:buFont typeface="Arial"/>
              <a:buNone/>
            </a:pPr>
            <a:r>
              <a:rPr lang="en" sz="1300"/>
              <a:t>CLAM enables unlimited chaining of popular optimization techniques in parameter-efficient finetuning, quantization, and pruning on nearly every modern LLM.</a:t>
            </a:r>
            <a:endParaRPr sz="1300"/>
          </a:p>
        </p:txBody>
      </p:sp>
      <p:sp>
        <p:nvSpPr>
          <p:cNvPr id="371" name="Google Shape;371;p46"/>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Design Spaces and The CLAM Framework</a:t>
            </a:r>
            <a:endParaRPr/>
          </a:p>
        </p:txBody>
      </p:sp>
      <p:pic>
        <p:nvPicPr>
          <p:cNvPr id="372" name="Google Shape;372;p46"/>
          <p:cNvPicPr preferRelativeResize="0"/>
          <p:nvPr/>
        </p:nvPicPr>
        <p:blipFill>
          <a:blip r:embed="rId3">
            <a:alphaModFix/>
          </a:blip>
          <a:stretch>
            <a:fillRect/>
          </a:stretch>
        </p:blipFill>
        <p:spPr>
          <a:xfrm>
            <a:off x="304800" y="1255975"/>
            <a:ext cx="4536748" cy="2437926"/>
          </a:xfrm>
          <a:prstGeom prst="rect">
            <a:avLst/>
          </a:prstGeom>
          <a:noFill/>
          <a:ln>
            <a:noFill/>
          </a:ln>
        </p:spPr>
      </p:pic>
      <p:sp>
        <p:nvSpPr>
          <p:cNvPr id="373" name="Google Shape;373;p46"/>
          <p:cNvSpPr txBox="1"/>
          <p:nvPr/>
        </p:nvSpPr>
        <p:spPr>
          <a:xfrm>
            <a:off x="342900" y="4102425"/>
            <a:ext cx="8521200" cy="648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a:solidFill>
                  <a:schemeClr val="dk2"/>
                </a:solidFill>
                <a:latin typeface="Roboto"/>
                <a:ea typeface="Roboto"/>
                <a:cs typeface="Roboto"/>
                <a:sym typeface="Roboto"/>
              </a:rPr>
              <a:t>N. Velingker et al. CLAM: Unifying Finetuning, Quantization, and Pruning through Unrestricted Chaining of LLM Adapter Modules. 2024.</a:t>
            </a:r>
            <a:endParaRPr>
              <a:solidFill>
                <a:schemeClr val="dk2"/>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Limitations of LLMs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9"/>
          <p:cNvSpPr txBox="1"/>
          <p:nvPr/>
        </p:nvSpPr>
        <p:spPr>
          <a:xfrm>
            <a:off x="5192443" y="3153550"/>
            <a:ext cx="3330000" cy="1151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a:solidFill>
                  <a:schemeClr val="dk2"/>
                </a:solidFill>
                <a:latin typeface="Roboto"/>
                <a:ea typeface="Roboto"/>
                <a:cs typeface="Roboto"/>
                <a:sym typeface="Roboto"/>
              </a:rPr>
              <a:t>Generated by gpt-4o’s tokenizer.</a:t>
            </a:r>
            <a:endParaRPr sz="1600">
              <a:solidFill>
                <a:schemeClr val="dk2"/>
              </a:solidFill>
              <a:latin typeface="Roboto"/>
              <a:ea typeface="Roboto"/>
              <a:cs typeface="Roboto"/>
              <a:sym typeface="Roboto"/>
            </a:endParaRPr>
          </a:p>
          <a:p>
            <a:pPr marL="0" lvl="0" indent="0" algn="ctr" rtl="0">
              <a:lnSpc>
                <a:spcPct val="115000"/>
              </a:lnSpc>
              <a:spcBef>
                <a:spcPts val="1200"/>
              </a:spcBef>
              <a:spcAft>
                <a:spcPts val="1200"/>
              </a:spcAft>
              <a:buNone/>
            </a:pPr>
            <a:r>
              <a:rPr lang="en" sz="1600">
                <a:solidFill>
                  <a:schemeClr val="dk2"/>
                </a:solidFill>
                <a:latin typeface="Roboto"/>
                <a:ea typeface="Roboto"/>
                <a:cs typeface="Roboto"/>
                <a:sym typeface="Roboto"/>
              </a:rPr>
              <a:t>Try it out at: </a:t>
            </a:r>
            <a:r>
              <a:rPr lang="en" sz="1600" u="sng">
                <a:solidFill>
                  <a:schemeClr val="dk2"/>
                </a:solidFill>
                <a:latin typeface="Roboto"/>
                <a:ea typeface="Roboto"/>
                <a:cs typeface="Roboto"/>
                <a:sym typeface="Roboto"/>
                <a:hlinkClick r:id="rId3">
                  <a:extLst>
                    <a:ext uri="{A12FA001-AC4F-418D-AE19-62706E023703}">
                      <ahyp:hlinkClr xmlns:ahyp="http://schemas.microsoft.com/office/drawing/2018/hyperlinkcolor" val="tx"/>
                    </a:ext>
                  </a:extLst>
                </a:hlinkClick>
              </a:rPr>
              <a:t>https://tiktokenizer.vercel.app/</a:t>
            </a:r>
            <a:endParaRPr sz="1600">
              <a:solidFill>
                <a:schemeClr val="dk2"/>
              </a:solidFill>
              <a:latin typeface="Roboto"/>
              <a:ea typeface="Roboto"/>
              <a:cs typeface="Roboto"/>
              <a:sym typeface="Roboto"/>
            </a:endParaRPr>
          </a:p>
        </p:txBody>
      </p:sp>
      <p:sp>
        <p:nvSpPr>
          <p:cNvPr id="390" name="Google Shape;390;p49"/>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Unreliable Reasoning Even On Simple Tasks</a:t>
            </a:r>
            <a:endParaRPr/>
          </a:p>
        </p:txBody>
      </p:sp>
      <p:sp>
        <p:nvSpPr>
          <p:cNvPr id="391" name="Google Shape;391;p49"/>
          <p:cNvSpPr txBox="1"/>
          <p:nvPr/>
        </p:nvSpPr>
        <p:spPr>
          <a:xfrm>
            <a:off x="5179413" y="2134150"/>
            <a:ext cx="3273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dk2"/>
                </a:solidFill>
                <a:latin typeface="Roboto"/>
                <a:ea typeface="Roboto"/>
                <a:cs typeface="Roboto"/>
                <a:sym typeface="Roboto"/>
              </a:rPr>
              <a:t>Probably due to </a:t>
            </a:r>
            <a:r>
              <a:rPr lang="en" sz="1600" b="1">
                <a:solidFill>
                  <a:schemeClr val="dk2"/>
                </a:solidFill>
                <a:latin typeface="Roboto"/>
                <a:ea typeface="Roboto"/>
                <a:cs typeface="Roboto"/>
                <a:sym typeface="Roboto"/>
              </a:rPr>
              <a:t>tokenization</a:t>
            </a:r>
            <a:r>
              <a:rPr lang="en" sz="1600">
                <a:solidFill>
                  <a:schemeClr val="dk2"/>
                </a:solidFill>
                <a:latin typeface="Roboto"/>
                <a:ea typeface="Roboto"/>
                <a:cs typeface="Roboto"/>
                <a:sym typeface="Roboto"/>
              </a:rPr>
              <a:t>!</a:t>
            </a:r>
            <a:endParaRPr sz="1600">
              <a:solidFill>
                <a:schemeClr val="dk2"/>
              </a:solidFill>
              <a:latin typeface="Roboto"/>
              <a:ea typeface="Roboto"/>
              <a:cs typeface="Roboto"/>
              <a:sym typeface="Roboto"/>
            </a:endParaRPr>
          </a:p>
        </p:txBody>
      </p:sp>
      <p:pic>
        <p:nvPicPr>
          <p:cNvPr id="392" name="Google Shape;392;p49"/>
          <p:cNvPicPr preferRelativeResize="0"/>
          <p:nvPr/>
        </p:nvPicPr>
        <p:blipFill rotWithShape="1">
          <a:blip r:embed="rId4">
            <a:alphaModFix/>
          </a:blip>
          <a:srcRect l="19555" t="16527" r="20181"/>
          <a:stretch/>
        </p:blipFill>
        <p:spPr>
          <a:xfrm>
            <a:off x="4915775" y="2716925"/>
            <a:ext cx="3897951" cy="279842"/>
          </a:xfrm>
          <a:prstGeom prst="rect">
            <a:avLst/>
          </a:prstGeom>
          <a:noFill/>
          <a:ln>
            <a:noFill/>
          </a:ln>
        </p:spPr>
      </p:pic>
      <p:pic>
        <p:nvPicPr>
          <p:cNvPr id="393" name="Google Shape;393;p49"/>
          <p:cNvPicPr preferRelativeResize="0"/>
          <p:nvPr/>
        </p:nvPicPr>
        <p:blipFill>
          <a:blip r:embed="rId5">
            <a:alphaModFix/>
          </a:blip>
          <a:stretch>
            <a:fillRect/>
          </a:stretch>
        </p:blipFill>
        <p:spPr>
          <a:xfrm>
            <a:off x="454975" y="1312900"/>
            <a:ext cx="4269424" cy="2792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0"/>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Jailbreaking Can Bypass Safety</a:t>
            </a:r>
            <a:endParaRPr/>
          </a:p>
        </p:txBody>
      </p:sp>
      <p:sp>
        <p:nvSpPr>
          <p:cNvPr id="399" name="Google Shape;399;p50"/>
          <p:cNvSpPr txBox="1"/>
          <p:nvPr/>
        </p:nvSpPr>
        <p:spPr>
          <a:xfrm>
            <a:off x="558800" y="4433175"/>
            <a:ext cx="7215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latin typeface="Roboto"/>
                <a:ea typeface="Roboto"/>
                <a:cs typeface="Roboto"/>
                <a:sym typeface="Roboto"/>
              </a:rPr>
              <a:t>P. Chao et al. </a:t>
            </a:r>
            <a:r>
              <a:rPr lang="en" u="sng">
                <a:solidFill>
                  <a:schemeClr val="hlink"/>
                </a:solidFill>
                <a:latin typeface="Roboto"/>
                <a:ea typeface="Roboto"/>
                <a:cs typeface="Roboto"/>
                <a:sym typeface="Roboto"/>
                <a:hlinkClick r:id="rId3"/>
              </a:rPr>
              <a:t>Jailbreaking Black Box Large Language Models in Twenty Queries</a:t>
            </a:r>
            <a:r>
              <a:rPr lang="en">
                <a:solidFill>
                  <a:schemeClr val="dk2"/>
                </a:solidFill>
                <a:latin typeface="Roboto"/>
                <a:ea typeface="Roboto"/>
                <a:cs typeface="Roboto"/>
                <a:sym typeface="Roboto"/>
              </a:rPr>
              <a:t>. 2023.</a:t>
            </a:r>
            <a:endParaRPr>
              <a:solidFill>
                <a:schemeClr val="dk2"/>
              </a:solidFill>
              <a:latin typeface="Roboto"/>
              <a:ea typeface="Roboto"/>
              <a:cs typeface="Roboto"/>
              <a:sym typeface="Roboto"/>
            </a:endParaRPr>
          </a:p>
        </p:txBody>
      </p:sp>
      <p:pic>
        <p:nvPicPr>
          <p:cNvPr id="400" name="Google Shape;400;p50"/>
          <p:cNvPicPr preferRelativeResize="0"/>
          <p:nvPr/>
        </p:nvPicPr>
        <p:blipFill>
          <a:blip r:embed="rId4">
            <a:alphaModFix/>
          </a:blip>
          <a:stretch>
            <a:fillRect/>
          </a:stretch>
        </p:blipFill>
        <p:spPr>
          <a:xfrm>
            <a:off x="270450" y="1170125"/>
            <a:ext cx="5150572" cy="2736249"/>
          </a:xfrm>
          <a:prstGeom prst="rect">
            <a:avLst/>
          </a:prstGeom>
          <a:noFill/>
          <a:ln>
            <a:noFill/>
          </a:ln>
        </p:spPr>
      </p:pic>
      <p:sp>
        <p:nvSpPr>
          <p:cNvPr id="401" name="Google Shape;401;p50"/>
          <p:cNvSpPr txBox="1"/>
          <p:nvPr/>
        </p:nvSpPr>
        <p:spPr>
          <a:xfrm>
            <a:off x="5637775" y="1234400"/>
            <a:ext cx="3114600" cy="258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latin typeface="Roboto"/>
                <a:ea typeface="Roboto"/>
                <a:cs typeface="Roboto"/>
                <a:sym typeface="Roboto"/>
              </a:rPr>
              <a:t>Process of manipulating prompts to bypass an LLM’s safeguards, leading to harmful outputs.</a:t>
            </a:r>
            <a:br>
              <a:rPr lang="en" sz="1300">
                <a:solidFill>
                  <a:schemeClr val="dk2"/>
                </a:solidFill>
                <a:latin typeface="Roboto"/>
                <a:ea typeface="Roboto"/>
                <a:cs typeface="Roboto"/>
                <a:sym typeface="Roboto"/>
              </a:rPr>
            </a:br>
            <a:br>
              <a:rPr lang="en" sz="1300">
                <a:solidFill>
                  <a:schemeClr val="dk2"/>
                </a:solidFill>
                <a:latin typeface="Roboto"/>
                <a:ea typeface="Roboto"/>
                <a:cs typeface="Roboto"/>
                <a:sym typeface="Roboto"/>
              </a:rPr>
            </a:br>
            <a:r>
              <a:rPr lang="en" sz="1300">
                <a:solidFill>
                  <a:schemeClr val="dk2"/>
                </a:solidFill>
                <a:latin typeface="Roboto"/>
                <a:ea typeface="Roboto"/>
                <a:cs typeface="Roboto"/>
                <a:sym typeface="Roboto"/>
              </a:rPr>
              <a:t>PAIR—which is inspired by social engineering attacks—uses an attacker LLM to automatically generate jailbreaks for a separate targeted LLM. The attacker LLM iteratively queries the target LLM to update and refine a candidate jailbreak, often in fewer than twenty queries.</a:t>
            </a:r>
            <a:endParaRPr sz="1300">
              <a:solidFill>
                <a:schemeClr val="dk2"/>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51"/>
          <p:cNvSpPr txBox="1"/>
          <p:nvPr/>
        </p:nvSpPr>
        <p:spPr>
          <a:xfrm>
            <a:off x="3886200" y="1690800"/>
            <a:ext cx="4436100" cy="158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latin typeface="Roboto"/>
                <a:ea typeface="Roboto"/>
                <a:cs typeface="Roboto"/>
                <a:sym typeface="Roboto"/>
              </a:rPr>
              <a:t>Changing the location of relevant information within the model’s input context results in a U-shaped performance curve—models are better at using relevant information that occurs at the very beginning (primacy bias) or end of its input context (recency bias), and performance degrades significantly when models must access and use information located in the middle of its input context.</a:t>
            </a:r>
            <a:endParaRPr sz="1300">
              <a:solidFill>
                <a:schemeClr val="dk2"/>
              </a:solidFill>
              <a:latin typeface="Roboto"/>
              <a:ea typeface="Roboto"/>
              <a:cs typeface="Roboto"/>
              <a:sym typeface="Roboto"/>
            </a:endParaRPr>
          </a:p>
        </p:txBody>
      </p:sp>
      <p:sp>
        <p:nvSpPr>
          <p:cNvPr id="407" name="Google Shape;407;p51"/>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Long Contexts Can Hurt Accuracy</a:t>
            </a:r>
            <a:endParaRPr/>
          </a:p>
        </p:txBody>
      </p:sp>
      <p:pic>
        <p:nvPicPr>
          <p:cNvPr id="408" name="Google Shape;408;p51"/>
          <p:cNvPicPr preferRelativeResize="0"/>
          <p:nvPr/>
        </p:nvPicPr>
        <p:blipFill>
          <a:blip r:embed="rId3">
            <a:alphaModFix/>
          </a:blip>
          <a:stretch>
            <a:fillRect/>
          </a:stretch>
        </p:blipFill>
        <p:spPr>
          <a:xfrm>
            <a:off x="540800" y="1100738"/>
            <a:ext cx="2981150" cy="2789625"/>
          </a:xfrm>
          <a:prstGeom prst="rect">
            <a:avLst/>
          </a:prstGeom>
          <a:noFill/>
          <a:ln>
            <a:noFill/>
          </a:ln>
        </p:spPr>
      </p:pic>
      <p:sp>
        <p:nvSpPr>
          <p:cNvPr id="409" name="Google Shape;409;p51"/>
          <p:cNvSpPr txBox="1"/>
          <p:nvPr/>
        </p:nvSpPr>
        <p:spPr>
          <a:xfrm>
            <a:off x="1336600" y="4140950"/>
            <a:ext cx="6694200" cy="400200"/>
          </a:xfrm>
          <a:prstGeom prst="rect">
            <a:avLst/>
          </a:prstGeom>
          <a:noFill/>
          <a:ln>
            <a:noFill/>
          </a:ln>
        </p:spPr>
        <p:txBody>
          <a:bodyPr spcFirstLastPara="1" wrap="square" lIns="91425" tIns="91425" rIns="91425" bIns="91425" anchor="t" anchorCtr="0">
            <a:spAutoFit/>
          </a:bodyPr>
          <a:lstStyle/>
          <a:p>
            <a:pPr marL="0" lvl="0" indent="0" algn="l" rtl="0">
              <a:spcBef>
                <a:spcPts val="360"/>
              </a:spcBef>
              <a:spcAft>
                <a:spcPts val="0"/>
              </a:spcAft>
              <a:buNone/>
            </a:pPr>
            <a:r>
              <a:rPr lang="en">
                <a:solidFill>
                  <a:schemeClr val="dk2"/>
                </a:solidFill>
                <a:latin typeface="Roboto"/>
                <a:ea typeface="Roboto"/>
                <a:cs typeface="Roboto"/>
                <a:sym typeface="Roboto"/>
              </a:rPr>
              <a:t>N. Liu. Lost in the Middle: </a:t>
            </a:r>
            <a:r>
              <a:rPr lang="en" u="sng">
                <a:solidFill>
                  <a:schemeClr val="hlink"/>
                </a:solidFill>
                <a:latin typeface="Roboto"/>
                <a:ea typeface="Roboto"/>
                <a:cs typeface="Roboto"/>
                <a:sym typeface="Roboto"/>
                <a:hlinkClick r:id="rId4"/>
              </a:rPr>
              <a:t>How Language Models Use Long Contexts</a:t>
            </a:r>
            <a:r>
              <a:rPr lang="en">
                <a:solidFill>
                  <a:schemeClr val="dk2"/>
                </a:solidFill>
                <a:latin typeface="Roboto"/>
                <a:ea typeface="Roboto"/>
                <a:cs typeface="Roboto"/>
                <a:sym typeface="Roboto"/>
              </a:rPr>
              <a:t>. TACL 2023.</a:t>
            </a:r>
            <a:endParaRPr>
              <a:solidFill>
                <a:schemeClr val="dk2"/>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5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What Is The Future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8"/>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Evolution of LMs from Perspective of Task-Solving Capacity</a:t>
            </a:r>
            <a:endParaRPr/>
          </a:p>
        </p:txBody>
      </p:sp>
      <p:pic>
        <p:nvPicPr>
          <p:cNvPr id="293" name="Google Shape;293;p38"/>
          <p:cNvPicPr preferRelativeResize="0"/>
          <p:nvPr/>
        </p:nvPicPr>
        <p:blipFill>
          <a:blip r:embed="rId3">
            <a:alphaModFix/>
          </a:blip>
          <a:stretch>
            <a:fillRect/>
          </a:stretch>
        </p:blipFill>
        <p:spPr>
          <a:xfrm>
            <a:off x="558150" y="1185801"/>
            <a:ext cx="8141025" cy="2822325"/>
          </a:xfrm>
          <a:prstGeom prst="rect">
            <a:avLst/>
          </a:prstGeom>
          <a:noFill/>
          <a:ln>
            <a:noFill/>
          </a:ln>
        </p:spPr>
      </p:pic>
      <p:sp>
        <p:nvSpPr>
          <p:cNvPr id="294" name="Google Shape;294;p38"/>
          <p:cNvSpPr txBox="1"/>
          <p:nvPr/>
        </p:nvSpPr>
        <p:spPr>
          <a:xfrm>
            <a:off x="1332725" y="4298800"/>
            <a:ext cx="6426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latin typeface="Roboto"/>
                <a:ea typeface="Roboto"/>
                <a:cs typeface="Roboto"/>
                <a:sym typeface="Roboto"/>
              </a:rPr>
              <a:t>W. Zhao et al. </a:t>
            </a:r>
            <a:r>
              <a:rPr lang="en" u="sng">
                <a:solidFill>
                  <a:schemeClr val="hlink"/>
                </a:solidFill>
                <a:latin typeface="Roboto"/>
                <a:ea typeface="Roboto"/>
                <a:cs typeface="Roboto"/>
                <a:sym typeface="Roboto"/>
                <a:hlinkClick r:id="rId4"/>
              </a:rPr>
              <a:t>A Survey of Large Language Models</a:t>
            </a:r>
            <a:r>
              <a:rPr lang="en">
                <a:solidFill>
                  <a:schemeClr val="dk2"/>
                </a:solidFill>
                <a:latin typeface="Roboto"/>
                <a:ea typeface="Roboto"/>
                <a:cs typeface="Roboto"/>
                <a:sym typeface="Roboto"/>
              </a:rPr>
              <a:t>. 2023.</a:t>
            </a:r>
            <a:endParaRPr>
              <a:solidFill>
                <a:schemeClr val="dk2"/>
              </a:solidFill>
              <a:latin typeface="Roboto"/>
              <a:ea typeface="Roboto"/>
              <a:cs typeface="Roboto"/>
              <a:sym typeface="Roboto"/>
            </a:endParaRPr>
          </a:p>
        </p:txBody>
      </p:sp>
    </p:spTree>
    <p:extLst>
      <p:ext uri="{BB962C8B-B14F-4D97-AF65-F5344CB8AC3E}">
        <p14:creationId xmlns:p14="http://schemas.microsoft.com/office/powerpoint/2010/main" val="196216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3"/>
                                        </p:tgtEl>
                                        <p:attrNameLst>
                                          <p:attrName>style.visibility</p:attrName>
                                        </p:attrNameLst>
                                      </p:cBhvr>
                                      <p:to>
                                        <p:strVal val="visible"/>
                                      </p:to>
                                    </p:set>
                                    <p:anim calcmode="lin" valueType="num">
                                      <p:cBhvr additive="base">
                                        <p:cTn id="7" dur="1000"/>
                                        <p:tgtEl>
                                          <p:spTgt spid="293"/>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2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Synthetic Data / Distillation</a:t>
            </a:r>
            <a:endParaRPr dirty="0"/>
          </a:p>
          <a:p>
            <a:pPr marL="457200" lvl="0" indent="-342900" algn="l" rtl="0">
              <a:spcBef>
                <a:spcPts val="1000"/>
              </a:spcBef>
              <a:spcAft>
                <a:spcPts val="0"/>
              </a:spcAft>
              <a:buSzPts val="1800"/>
              <a:buChar char="●"/>
            </a:pPr>
            <a:r>
              <a:rPr lang="en" dirty="0"/>
              <a:t>Beyond Text: Robotics, Video, etc.</a:t>
            </a:r>
            <a:endParaRPr dirty="0"/>
          </a:p>
          <a:p>
            <a:pPr marL="457200" lvl="0" indent="-342900" algn="l" rtl="0">
              <a:spcBef>
                <a:spcPts val="1000"/>
              </a:spcBef>
              <a:spcAft>
                <a:spcPts val="0"/>
              </a:spcAft>
              <a:buSzPts val="1800"/>
              <a:buChar char="●"/>
            </a:pPr>
            <a:r>
              <a:rPr lang="en" dirty="0"/>
              <a:t>RAG and Vector Databases</a:t>
            </a:r>
            <a:endParaRPr dirty="0"/>
          </a:p>
          <a:p>
            <a:pPr marL="457200" lvl="0" indent="-342900" algn="l" rtl="0">
              <a:spcBef>
                <a:spcPts val="1000"/>
              </a:spcBef>
              <a:spcAft>
                <a:spcPts val="0"/>
              </a:spcAft>
              <a:buSzPts val="1800"/>
              <a:buChar char="●"/>
            </a:pPr>
            <a:r>
              <a:rPr lang="en" dirty="0"/>
              <a:t>Agent Frameworks</a:t>
            </a:r>
            <a:endParaRPr dirty="0"/>
          </a:p>
          <a:p>
            <a:pPr marL="457200" lvl="0" indent="-342900" algn="l" rtl="0">
              <a:spcBef>
                <a:spcPts val="1000"/>
              </a:spcBef>
              <a:spcAft>
                <a:spcPts val="1000"/>
              </a:spcAft>
              <a:buSzPts val="1800"/>
              <a:buChar char="●"/>
            </a:pPr>
            <a:r>
              <a:rPr lang="en" dirty="0" err="1"/>
              <a:t>Neurosymbolic</a:t>
            </a:r>
            <a:r>
              <a:rPr lang="en" dirty="0"/>
              <a:t> Learning</a:t>
            </a:r>
            <a:endParaRPr dirty="0"/>
          </a:p>
        </p:txBody>
      </p:sp>
      <p:sp>
        <p:nvSpPr>
          <p:cNvPr id="616" name="Google Shape;616;p69"/>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The Future: Key Topics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4"/>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Synthetic Data / Distillation</a:t>
            </a:r>
            <a:endParaRPr/>
          </a:p>
        </p:txBody>
      </p:sp>
      <p:sp>
        <p:nvSpPr>
          <p:cNvPr id="426" name="Google Shape;426;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350" i="1">
                <a:solidFill>
                  <a:srgbClr val="344854"/>
                </a:solidFill>
                <a:highlight>
                  <a:srgbClr val="FFFFFF"/>
                </a:highlight>
              </a:rPr>
              <a:t>“In addition to having significantly better cost/performance relative to closed models, the fact that the </a:t>
            </a:r>
            <a:r>
              <a:rPr lang="en" sz="1350" b="1" i="1">
                <a:solidFill>
                  <a:srgbClr val="344854"/>
                </a:solidFill>
                <a:highlight>
                  <a:srgbClr val="FFFFFF"/>
                </a:highlight>
              </a:rPr>
              <a:t>405B</a:t>
            </a:r>
            <a:r>
              <a:rPr lang="en" sz="1350" i="1">
                <a:solidFill>
                  <a:srgbClr val="344854"/>
                </a:solidFill>
                <a:highlight>
                  <a:srgbClr val="FFFFFF"/>
                </a:highlight>
              </a:rPr>
              <a:t> model is open will make it the best choice for </a:t>
            </a:r>
            <a:r>
              <a:rPr lang="en" sz="1350" b="1" i="1">
                <a:solidFill>
                  <a:srgbClr val="344854"/>
                </a:solidFill>
                <a:highlight>
                  <a:srgbClr val="FFFFFF"/>
                </a:highlight>
              </a:rPr>
              <a:t>fine-tuning</a:t>
            </a:r>
            <a:r>
              <a:rPr lang="en" sz="1350" i="1">
                <a:solidFill>
                  <a:srgbClr val="344854"/>
                </a:solidFill>
                <a:highlight>
                  <a:srgbClr val="FFFFFF"/>
                </a:highlight>
              </a:rPr>
              <a:t> and </a:t>
            </a:r>
            <a:r>
              <a:rPr lang="en" sz="1350" b="1" i="1">
                <a:solidFill>
                  <a:srgbClr val="344854"/>
                </a:solidFill>
                <a:highlight>
                  <a:srgbClr val="FFFFFF"/>
                </a:highlight>
              </a:rPr>
              <a:t>distilling</a:t>
            </a:r>
            <a:r>
              <a:rPr lang="en" sz="1350" i="1">
                <a:solidFill>
                  <a:srgbClr val="344854"/>
                </a:solidFill>
                <a:highlight>
                  <a:srgbClr val="FFFFFF"/>
                </a:highlight>
              </a:rPr>
              <a:t> smaller models.”</a:t>
            </a:r>
            <a:endParaRPr sz="1350" i="1">
              <a:solidFill>
                <a:srgbClr val="344854"/>
              </a:solidFill>
              <a:highlight>
                <a:srgbClr val="FFFFFF"/>
              </a:highlight>
            </a:endParaRPr>
          </a:p>
          <a:p>
            <a:pPr marL="0" lvl="0" indent="0" algn="l" rtl="0">
              <a:spcBef>
                <a:spcPts val="1200"/>
              </a:spcBef>
              <a:spcAft>
                <a:spcPts val="1200"/>
              </a:spcAft>
              <a:buNone/>
            </a:pPr>
            <a:r>
              <a:rPr lang="en" sz="1350">
                <a:solidFill>
                  <a:srgbClr val="344854"/>
                </a:solidFill>
                <a:highlight>
                  <a:schemeClr val="lt1"/>
                </a:highlight>
              </a:rPr>
              <a:t>— M. Zuckerberg. </a:t>
            </a:r>
            <a:r>
              <a:rPr lang="en" sz="1350" u="sng">
                <a:solidFill>
                  <a:schemeClr val="hlink"/>
                </a:solidFill>
                <a:highlight>
                  <a:srgbClr val="FFFFFF"/>
                </a:highlight>
                <a:hlinkClick r:id="rId3"/>
              </a:rPr>
              <a:t>Open Source AI Is the Path Forward | Meta</a:t>
            </a:r>
            <a:r>
              <a:rPr lang="en" sz="1350">
                <a:solidFill>
                  <a:srgbClr val="344854"/>
                </a:solidFill>
                <a:highlight>
                  <a:srgbClr val="FFFFFF"/>
                </a:highlight>
              </a:rPr>
              <a:t>. 2024.</a:t>
            </a:r>
            <a:endParaRPr sz="1350">
              <a:solidFill>
                <a:srgbClr val="344854"/>
              </a:solidFill>
              <a:highlight>
                <a:srgbClr val="FFFFFF"/>
              </a:highlight>
            </a:endParaRPr>
          </a:p>
        </p:txBody>
      </p:sp>
      <p:pic>
        <p:nvPicPr>
          <p:cNvPr id="427" name="Google Shape;427;p54"/>
          <p:cNvPicPr preferRelativeResize="0"/>
          <p:nvPr/>
        </p:nvPicPr>
        <p:blipFill>
          <a:blip r:embed="rId4">
            <a:alphaModFix/>
          </a:blip>
          <a:stretch>
            <a:fillRect/>
          </a:stretch>
        </p:blipFill>
        <p:spPr>
          <a:xfrm>
            <a:off x="304800" y="2259301"/>
            <a:ext cx="4994601" cy="2653376"/>
          </a:xfrm>
          <a:prstGeom prst="rect">
            <a:avLst/>
          </a:prstGeom>
          <a:noFill/>
          <a:ln>
            <a:noFill/>
          </a:ln>
        </p:spPr>
      </p:pic>
      <p:pic>
        <p:nvPicPr>
          <p:cNvPr id="428" name="Google Shape;428;p54"/>
          <p:cNvPicPr preferRelativeResize="0"/>
          <p:nvPr/>
        </p:nvPicPr>
        <p:blipFill>
          <a:blip r:embed="rId5">
            <a:alphaModFix/>
          </a:blip>
          <a:stretch>
            <a:fillRect/>
          </a:stretch>
        </p:blipFill>
        <p:spPr>
          <a:xfrm>
            <a:off x="5747525" y="1798525"/>
            <a:ext cx="2756376" cy="2820475"/>
          </a:xfrm>
          <a:prstGeom prst="rect">
            <a:avLst/>
          </a:prstGeom>
          <a:noFill/>
          <a:ln>
            <a:noFill/>
          </a:ln>
        </p:spPr>
      </p:pic>
      <p:sp>
        <p:nvSpPr>
          <p:cNvPr id="429" name="Google Shape;429;p54"/>
          <p:cNvSpPr txBox="1"/>
          <p:nvPr/>
        </p:nvSpPr>
        <p:spPr>
          <a:xfrm>
            <a:off x="6233450" y="4619000"/>
            <a:ext cx="2019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u="sng">
                <a:solidFill>
                  <a:schemeClr val="hlink"/>
                </a:solidFill>
                <a:hlinkClick r:id="rId6"/>
              </a:rPr>
              <a:t>https://lmarena.ai/</a:t>
            </a:r>
            <a:endParaRPr sz="1600">
              <a:solidFill>
                <a:schemeClr val="dk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55"/>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Risks from Synthetic Data</a:t>
            </a:r>
            <a:endParaRPr/>
          </a:p>
        </p:txBody>
      </p:sp>
      <p:sp>
        <p:nvSpPr>
          <p:cNvPr id="435" name="Google Shape;435;p55"/>
          <p:cNvSpPr txBox="1">
            <a:spLocks noGrp="1"/>
          </p:cNvSpPr>
          <p:nvPr>
            <p:ph type="body" idx="1"/>
          </p:nvPr>
        </p:nvSpPr>
        <p:spPr>
          <a:xfrm>
            <a:off x="464100" y="3857700"/>
            <a:ext cx="8520600" cy="455400"/>
          </a:xfrm>
          <a:prstGeom prst="rect">
            <a:avLst/>
          </a:prstGeom>
        </p:spPr>
        <p:txBody>
          <a:bodyPr spcFirstLastPara="1" wrap="square" lIns="91425" tIns="91425" rIns="91425" bIns="91425" anchor="t" anchorCtr="0">
            <a:normAutofit fontScale="55000" lnSpcReduction="20000"/>
          </a:bodyPr>
          <a:lstStyle/>
          <a:p>
            <a:pPr marL="0" lvl="0" indent="0" algn="l" rtl="0">
              <a:spcBef>
                <a:spcPts val="0"/>
              </a:spcBef>
              <a:spcAft>
                <a:spcPts val="1200"/>
              </a:spcAft>
              <a:buNone/>
            </a:pPr>
            <a:r>
              <a:rPr lang="en" sz="1400">
                <a:highlight>
                  <a:srgbClr val="FFFFFF"/>
                </a:highlight>
              </a:rPr>
              <a:t>I. Shumailov et al. </a:t>
            </a:r>
            <a:r>
              <a:rPr lang="en" sz="1400" u="sng">
                <a:highlight>
                  <a:srgbClr val="FFFFFF"/>
                </a:highlight>
                <a:hlinkClick r:id="rId3"/>
              </a:rPr>
              <a:t>AI Models Collapse When Trained on Recursively Generated Data</a:t>
            </a:r>
            <a:r>
              <a:rPr lang="en" sz="1400">
                <a:highlight>
                  <a:srgbClr val="FFFFFF"/>
                </a:highlight>
              </a:rPr>
              <a:t>. 2024.</a:t>
            </a:r>
            <a:endParaRPr sz="1400">
              <a:highlight>
                <a:srgbClr val="FFFFFF"/>
              </a:highlight>
            </a:endParaRPr>
          </a:p>
        </p:txBody>
      </p:sp>
      <p:pic>
        <p:nvPicPr>
          <p:cNvPr id="436" name="Google Shape;436;p55"/>
          <p:cNvPicPr preferRelativeResize="0"/>
          <p:nvPr/>
        </p:nvPicPr>
        <p:blipFill>
          <a:blip r:embed="rId4">
            <a:alphaModFix/>
          </a:blip>
          <a:stretch>
            <a:fillRect/>
          </a:stretch>
        </p:blipFill>
        <p:spPr>
          <a:xfrm>
            <a:off x="0" y="1280649"/>
            <a:ext cx="5577324" cy="2266825"/>
          </a:xfrm>
          <a:prstGeom prst="rect">
            <a:avLst/>
          </a:prstGeom>
          <a:noFill/>
          <a:ln>
            <a:noFill/>
          </a:ln>
        </p:spPr>
      </p:pic>
      <p:pic>
        <p:nvPicPr>
          <p:cNvPr id="437" name="Google Shape;437;p55"/>
          <p:cNvPicPr preferRelativeResize="0"/>
          <p:nvPr/>
        </p:nvPicPr>
        <p:blipFill>
          <a:blip r:embed="rId5">
            <a:alphaModFix/>
          </a:blip>
          <a:stretch>
            <a:fillRect/>
          </a:stretch>
        </p:blipFill>
        <p:spPr>
          <a:xfrm>
            <a:off x="5729724" y="1393550"/>
            <a:ext cx="3261878" cy="204100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58"/>
          <p:cNvSpPr txBox="1"/>
          <p:nvPr/>
        </p:nvSpPr>
        <p:spPr>
          <a:xfrm>
            <a:off x="195525" y="3220125"/>
            <a:ext cx="5359800" cy="163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Mobile ALOHA doing complex long-horizon tasks. It extends</a:t>
            </a:r>
            <a:br>
              <a:rPr lang="en" sz="1300">
                <a:solidFill>
                  <a:schemeClr val="dk2"/>
                </a:solidFill>
              </a:rPr>
            </a:br>
            <a:r>
              <a:rPr lang="en" sz="1300">
                <a:solidFill>
                  <a:schemeClr val="dk2"/>
                </a:solidFill>
              </a:rPr>
              <a:t>ALOHA with a mobile base and a whole-body teleoperation</a:t>
            </a:r>
            <a:br>
              <a:rPr lang="en" sz="1300">
                <a:solidFill>
                  <a:schemeClr val="dk2"/>
                </a:solidFill>
              </a:rPr>
            </a:br>
            <a:r>
              <a:rPr lang="en" sz="1300">
                <a:solidFill>
                  <a:schemeClr val="dk2"/>
                </a:solidFill>
              </a:rPr>
              <a:t>interface. ALOHA learns a policy using transformers to predict</a:t>
            </a:r>
            <a:br>
              <a:rPr lang="en" sz="1300">
                <a:solidFill>
                  <a:schemeClr val="dk2"/>
                </a:solidFill>
              </a:rPr>
            </a:br>
            <a:r>
              <a:rPr lang="en" sz="1300">
                <a:solidFill>
                  <a:schemeClr val="dk2"/>
                </a:solidFill>
              </a:rPr>
              <a:t>a sequence of actions.</a:t>
            </a:r>
            <a:endParaRPr sz="1300">
              <a:solidFill>
                <a:schemeClr val="dk2"/>
              </a:solidFill>
            </a:endParaRPr>
          </a:p>
          <a:p>
            <a:pPr marL="0" lvl="0" indent="0" algn="l" rtl="0">
              <a:spcBef>
                <a:spcPts val="0"/>
              </a:spcBef>
              <a:spcAft>
                <a:spcPts val="0"/>
              </a:spcAft>
              <a:buNone/>
            </a:pPr>
            <a:br>
              <a:rPr lang="en">
                <a:solidFill>
                  <a:schemeClr val="dk2"/>
                </a:solidFill>
              </a:rPr>
            </a:br>
            <a:r>
              <a:rPr lang="en">
                <a:solidFill>
                  <a:schemeClr val="dk2"/>
                </a:solidFill>
              </a:rPr>
              <a:t>Z. Fu et al. </a:t>
            </a:r>
            <a:r>
              <a:rPr lang="en" u="sng">
                <a:solidFill>
                  <a:schemeClr val="dk2"/>
                </a:solidFill>
                <a:hlinkClick r:id="rId3">
                  <a:extLst>
                    <a:ext uri="{A12FA001-AC4F-418D-AE19-62706E023703}">
                      <ahyp:hlinkClr xmlns:ahyp="http://schemas.microsoft.com/office/drawing/2018/hyperlinkcolor" val="tx"/>
                    </a:ext>
                  </a:extLst>
                </a:hlinkClick>
              </a:rPr>
              <a:t>Mobile ALOHA: Learning Bimanual Mobile Manipulation with Low-Cost Whole-Body Teleoperation</a:t>
            </a:r>
            <a:r>
              <a:rPr lang="en">
                <a:solidFill>
                  <a:schemeClr val="dk2"/>
                </a:solidFill>
              </a:rPr>
              <a:t>. 2024.</a:t>
            </a:r>
            <a:endParaRPr>
              <a:solidFill>
                <a:schemeClr val="dk2"/>
              </a:solidFill>
            </a:endParaRPr>
          </a:p>
        </p:txBody>
      </p:sp>
      <p:sp>
        <p:nvSpPr>
          <p:cNvPr id="463" name="Google Shape;463;p58"/>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Beyond Text: Robotics, Simulations, Physical Tasks</a:t>
            </a:r>
            <a:endParaRPr/>
          </a:p>
        </p:txBody>
      </p:sp>
      <p:pic>
        <p:nvPicPr>
          <p:cNvPr id="464" name="Google Shape;464;p58"/>
          <p:cNvPicPr preferRelativeResize="0"/>
          <p:nvPr/>
        </p:nvPicPr>
        <p:blipFill>
          <a:blip r:embed="rId4">
            <a:alphaModFix/>
          </a:blip>
          <a:stretch>
            <a:fillRect/>
          </a:stretch>
        </p:blipFill>
        <p:spPr>
          <a:xfrm>
            <a:off x="337675" y="974050"/>
            <a:ext cx="3771552" cy="2179351"/>
          </a:xfrm>
          <a:prstGeom prst="rect">
            <a:avLst/>
          </a:prstGeom>
          <a:noFill/>
          <a:ln>
            <a:noFill/>
          </a:ln>
        </p:spPr>
      </p:pic>
      <p:pic>
        <p:nvPicPr>
          <p:cNvPr id="465" name="Google Shape;465;p58"/>
          <p:cNvPicPr preferRelativeResize="0"/>
          <p:nvPr/>
        </p:nvPicPr>
        <p:blipFill rotWithShape="1">
          <a:blip r:embed="rId5">
            <a:alphaModFix/>
          </a:blip>
          <a:srcRect l="40614" r="1015"/>
          <a:stretch/>
        </p:blipFill>
        <p:spPr>
          <a:xfrm>
            <a:off x="5326650" y="3129525"/>
            <a:ext cx="3400598" cy="1861575"/>
          </a:xfrm>
          <a:prstGeom prst="rect">
            <a:avLst/>
          </a:prstGeom>
          <a:noFill/>
          <a:ln>
            <a:noFill/>
          </a:ln>
        </p:spPr>
      </p:pic>
      <p:sp>
        <p:nvSpPr>
          <p:cNvPr id="466" name="Google Shape;466;p58"/>
          <p:cNvSpPr txBox="1"/>
          <p:nvPr/>
        </p:nvSpPr>
        <p:spPr>
          <a:xfrm>
            <a:off x="4434750" y="1041400"/>
            <a:ext cx="4455300" cy="163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rPr>
              <a:t>LLM-powered embodied lifelong learning agent in Minecraft that continuously explores the world,</a:t>
            </a:r>
            <a:br>
              <a:rPr lang="en" sz="1300">
                <a:solidFill>
                  <a:schemeClr val="dk2"/>
                </a:solidFill>
              </a:rPr>
            </a:br>
            <a:r>
              <a:rPr lang="en" sz="1300">
                <a:solidFill>
                  <a:schemeClr val="dk2"/>
                </a:solidFill>
              </a:rPr>
              <a:t>acquires diverse skills, and makes novel discoveries without human intervention.</a:t>
            </a:r>
            <a:endParaRPr sz="1300">
              <a:solidFill>
                <a:schemeClr val="dk2"/>
              </a:solidFill>
            </a:endParaRPr>
          </a:p>
          <a:p>
            <a:pPr marL="0" lvl="0" indent="0" algn="l" rtl="0">
              <a:spcBef>
                <a:spcPts val="0"/>
              </a:spcBef>
              <a:spcAft>
                <a:spcPts val="0"/>
              </a:spcAft>
              <a:buNone/>
            </a:pPr>
            <a:endParaRPr/>
          </a:p>
          <a:p>
            <a:pPr marL="0" lvl="0" indent="0" algn="l" rtl="0">
              <a:spcBef>
                <a:spcPts val="0"/>
              </a:spcBef>
              <a:spcAft>
                <a:spcPts val="0"/>
              </a:spcAft>
              <a:buNone/>
            </a:pPr>
            <a:r>
              <a:rPr lang="en"/>
              <a:t>G. Wang et al. </a:t>
            </a:r>
            <a:r>
              <a:rPr lang="en" u="sng">
                <a:solidFill>
                  <a:schemeClr val="hlink"/>
                </a:solidFill>
                <a:hlinkClick r:id="rId6"/>
              </a:rPr>
              <a:t>Voyager: An Open-Ended Embodied Agent with Large Language Models</a:t>
            </a:r>
            <a:r>
              <a:rPr lang="en"/>
              <a:t>. 2023.</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59"/>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Beyond Text: Video Generation</a:t>
            </a:r>
            <a:endParaRPr/>
          </a:p>
        </p:txBody>
      </p:sp>
      <p:sp>
        <p:nvSpPr>
          <p:cNvPr id="472" name="Google Shape;472;p59"/>
          <p:cNvSpPr txBox="1">
            <a:spLocks noGrp="1"/>
          </p:cNvSpPr>
          <p:nvPr>
            <p:ph type="body" idx="1"/>
          </p:nvPr>
        </p:nvSpPr>
        <p:spPr>
          <a:xfrm>
            <a:off x="311700" y="1322850"/>
            <a:ext cx="8520600" cy="5727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1200"/>
              </a:spcAft>
              <a:buSzPts val="1018"/>
              <a:buNone/>
            </a:pPr>
            <a:r>
              <a:rPr lang="en" sz="1400"/>
              <a:t>Autoregressively generate tokens of multiple modalities (images, videos, text, audio).</a:t>
            </a:r>
            <a:endParaRPr sz="1400"/>
          </a:p>
        </p:txBody>
      </p:sp>
      <p:pic>
        <p:nvPicPr>
          <p:cNvPr id="473" name="Google Shape;473;p59"/>
          <p:cNvPicPr preferRelativeResize="0"/>
          <p:nvPr/>
        </p:nvPicPr>
        <p:blipFill>
          <a:blip r:embed="rId3">
            <a:alphaModFix/>
          </a:blip>
          <a:stretch>
            <a:fillRect/>
          </a:stretch>
        </p:blipFill>
        <p:spPr>
          <a:xfrm>
            <a:off x="0" y="1895557"/>
            <a:ext cx="9144003" cy="2402087"/>
          </a:xfrm>
          <a:prstGeom prst="rect">
            <a:avLst/>
          </a:prstGeom>
          <a:noFill/>
          <a:ln>
            <a:noFill/>
          </a:ln>
        </p:spPr>
      </p:pic>
      <p:sp>
        <p:nvSpPr>
          <p:cNvPr id="474" name="Google Shape;474;p59"/>
          <p:cNvSpPr txBox="1"/>
          <p:nvPr/>
        </p:nvSpPr>
        <p:spPr>
          <a:xfrm>
            <a:off x="201750" y="4297650"/>
            <a:ext cx="8740500" cy="400200"/>
          </a:xfrm>
          <a:prstGeom prst="rect">
            <a:avLst/>
          </a:prstGeom>
          <a:noFill/>
          <a:ln>
            <a:noFill/>
          </a:ln>
        </p:spPr>
        <p:txBody>
          <a:bodyPr spcFirstLastPara="1" wrap="square" lIns="91425" tIns="91425" rIns="91425" bIns="91425" anchor="t" anchorCtr="0">
            <a:spAutoFit/>
          </a:bodyPr>
          <a:lstStyle/>
          <a:p>
            <a:pPr marL="0" lvl="0" indent="0" algn="l" rtl="0">
              <a:spcBef>
                <a:spcPts val="360"/>
              </a:spcBef>
              <a:spcAft>
                <a:spcPts val="0"/>
              </a:spcAft>
              <a:buNone/>
            </a:pPr>
            <a:r>
              <a:rPr lang="en">
                <a:solidFill>
                  <a:schemeClr val="dk1"/>
                </a:solidFill>
                <a:latin typeface="Roboto"/>
                <a:ea typeface="Roboto"/>
                <a:cs typeface="Roboto"/>
                <a:sym typeface="Roboto"/>
              </a:rPr>
              <a:t>K. Dan et al. </a:t>
            </a:r>
            <a:r>
              <a:rPr lang="en" u="sng">
                <a:solidFill>
                  <a:schemeClr val="hlink"/>
                </a:solidFill>
                <a:latin typeface="Roboto"/>
                <a:ea typeface="Roboto"/>
                <a:cs typeface="Roboto"/>
                <a:sym typeface="Roboto"/>
                <a:hlinkClick r:id="rId4"/>
              </a:rPr>
              <a:t>VideoPoet: A Large Language Model for Zero-Shot Video Generation</a:t>
            </a:r>
            <a:r>
              <a:rPr lang="en">
                <a:solidFill>
                  <a:schemeClr val="dk1"/>
                </a:solidFill>
                <a:latin typeface="Roboto"/>
                <a:ea typeface="Roboto"/>
                <a:cs typeface="Roboto"/>
                <a:sym typeface="Roboto"/>
              </a:rPr>
              <a:t>. 2024.</a:t>
            </a:r>
            <a:endParaRPr sz="1700">
              <a:solidFill>
                <a:schemeClr val="dk2"/>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60"/>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Retrieval-Augmented Generation (RAG)</a:t>
            </a:r>
            <a:endParaRPr/>
          </a:p>
        </p:txBody>
      </p:sp>
      <p:sp>
        <p:nvSpPr>
          <p:cNvPr id="480" name="Google Shape;480;p60"/>
          <p:cNvSpPr txBox="1">
            <a:spLocks noGrp="1"/>
          </p:cNvSpPr>
          <p:nvPr>
            <p:ph type="body" idx="1"/>
          </p:nvPr>
        </p:nvSpPr>
        <p:spPr>
          <a:xfrm>
            <a:off x="484100" y="1826925"/>
            <a:ext cx="8090100" cy="576900"/>
          </a:xfrm>
          <a:prstGeom prst="rect">
            <a:avLst/>
          </a:prstGeom>
        </p:spPr>
        <p:txBody>
          <a:bodyPr spcFirstLastPara="1" wrap="square" lIns="91425" tIns="91425" rIns="91425" bIns="91425" anchor="t" anchorCtr="0">
            <a:normAutofit fontScale="92500" lnSpcReduction="20000"/>
          </a:bodyPr>
          <a:lstStyle/>
          <a:p>
            <a:pPr marL="0" lvl="0" indent="0" algn="ctr" rtl="0">
              <a:spcBef>
                <a:spcPts val="0"/>
              </a:spcBef>
              <a:spcAft>
                <a:spcPts val="1200"/>
              </a:spcAft>
              <a:buNone/>
            </a:pPr>
            <a:r>
              <a:rPr lang="en" sz="1700"/>
              <a:t>Idea: Augment LLMs with </a:t>
            </a:r>
            <a:r>
              <a:rPr lang="en" sz="1700" i="1"/>
              <a:t>retrieval system</a:t>
            </a:r>
            <a:r>
              <a:rPr lang="en" sz="1700"/>
              <a:t>!</a:t>
            </a:r>
            <a:endParaRPr sz="1700"/>
          </a:p>
        </p:txBody>
      </p:sp>
      <p:sp>
        <p:nvSpPr>
          <p:cNvPr id="481" name="Google Shape;481;p60"/>
          <p:cNvSpPr txBox="1"/>
          <p:nvPr/>
        </p:nvSpPr>
        <p:spPr>
          <a:xfrm>
            <a:off x="469560" y="978225"/>
            <a:ext cx="8090100" cy="708000"/>
          </a:xfrm>
          <a:prstGeom prst="rect">
            <a:avLst/>
          </a:prstGeom>
          <a:noFill/>
          <a:ln>
            <a:noFill/>
          </a:ln>
        </p:spPr>
        <p:txBody>
          <a:bodyPr spcFirstLastPara="1" wrap="square" lIns="91425" tIns="91425" rIns="91425" bIns="91425" anchor="t" anchorCtr="0">
            <a:spAutoFit/>
          </a:bodyPr>
          <a:lstStyle/>
          <a:p>
            <a:pPr marL="0" lvl="0" indent="0" algn="ctr" rtl="0">
              <a:spcBef>
                <a:spcPts val="360"/>
              </a:spcBef>
              <a:spcAft>
                <a:spcPts val="0"/>
              </a:spcAft>
              <a:buNone/>
            </a:pPr>
            <a:r>
              <a:rPr lang="en" sz="1700">
                <a:solidFill>
                  <a:schemeClr val="dk2"/>
                </a:solidFill>
                <a:latin typeface="Roboto"/>
                <a:ea typeface="Roboto"/>
                <a:cs typeface="Roboto"/>
                <a:sym typeface="Roboto"/>
              </a:rPr>
              <a:t>LLMs have no knowledge beyond training date, and frequent updates</a:t>
            </a:r>
            <a:br>
              <a:rPr lang="en" sz="1700">
                <a:solidFill>
                  <a:schemeClr val="dk2"/>
                </a:solidFill>
                <a:latin typeface="Roboto"/>
                <a:ea typeface="Roboto"/>
                <a:cs typeface="Roboto"/>
                <a:sym typeface="Roboto"/>
              </a:rPr>
            </a:br>
            <a:r>
              <a:rPr lang="en" sz="1700">
                <a:solidFill>
                  <a:schemeClr val="dk2"/>
                </a:solidFill>
                <a:latin typeface="Roboto"/>
                <a:ea typeface="Roboto"/>
                <a:cs typeface="Roboto"/>
                <a:sym typeface="Roboto"/>
              </a:rPr>
              <a:t>to model are impractical.</a:t>
            </a:r>
            <a:endParaRPr sz="1700">
              <a:solidFill>
                <a:schemeClr val="dk2"/>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61"/>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Retrieval Step of RAG</a:t>
            </a:r>
            <a:endParaRPr/>
          </a:p>
        </p:txBody>
      </p:sp>
      <p:sp>
        <p:nvSpPr>
          <p:cNvPr id="487" name="Google Shape;487;p61"/>
          <p:cNvSpPr/>
          <p:nvPr/>
        </p:nvSpPr>
        <p:spPr>
          <a:xfrm>
            <a:off x="6971950" y="938100"/>
            <a:ext cx="1504200" cy="1860300"/>
          </a:xfrm>
          <a:prstGeom prst="foldedCorner">
            <a:avLst>
              <a:gd name="adj" fmla="val 16667"/>
            </a:avLst>
          </a:prstGeom>
          <a:solidFill>
            <a:srgbClr val="F2DADA"/>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488" name="Google Shape;488;p61"/>
          <p:cNvSpPr/>
          <p:nvPr/>
        </p:nvSpPr>
        <p:spPr>
          <a:xfrm>
            <a:off x="6971951" y="939538"/>
            <a:ext cx="1504200" cy="1860300"/>
          </a:xfrm>
          <a:prstGeom prst="foldedCorner">
            <a:avLst>
              <a:gd name="adj" fmla="val 16667"/>
            </a:avLst>
          </a:prstGeom>
          <a:solidFill>
            <a:srgbClr val="FFFF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489" name="Google Shape;489;p61"/>
          <p:cNvSpPr/>
          <p:nvPr/>
        </p:nvSpPr>
        <p:spPr>
          <a:xfrm>
            <a:off x="3743391" y="938100"/>
            <a:ext cx="1504200" cy="1860300"/>
          </a:xfrm>
          <a:prstGeom prst="foldedCorner">
            <a:avLst>
              <a:gd name="adj" fmla="val 16667"/>
            </a:avLst>
          </a:prstGeom>
          <a:solidFill>
            <a:srgbClr val="F2DADA"/>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490" name="Google Shape;490;p61"/>
          <p:cNvSpPr/>
          <p:nvPr/>
        </p:nvSpPr>
        <p:spPr>
          <a:xfrm>
            <a:off x="506639" y="938100"/>
            <a:ext cx="1504200" cy="1860300"/>
          </a:xfrm>
          <a:prstGeom prst="foldedCorner">
            <a:avLst>
              <a:gd name="adj" fmla="val 16667"/>
            </a:avLst>
          </a:prstGeom>
          <a:solidFill>
            <a:srgbClr val="F2DADA"/>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491" name="Google Shape;491;p61"/>
          <p:cNvSpPr/>
          <p:nvPr/>
        </p:nvSpPr>
        <p:spPr>
          <a:xfrm>
            <a:off x="2126441" y="938100"/>
            <a:ext cx="1504200" cy="1860300"/>
          </a:xfrm>
          <a:prstGeom prst="foldedCorner">
            <a:avLst>
              <a:gd name="adj" fmla="val 16667"/>
            </a:avLst>
          </a:prstGeom>
          <a:solidFill>
            <a:srgbClr val="F2DADA"/>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492" name="Google Shape;492;p61"/>
          <p:cNvSpPr txBox="1"/>
          <p:nvPr/>
        </p:nvSpPr>
        <p:spPr>
          <a:xfrm>
            <a:off x="458789" y="876150"/>
            <a:ext cx="1629300" cy="203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Gill Sans"/>
                <a:ea typeface="Gill Sans"/>
                <a:cs typeface="Gill Sans"/>
                <a:sym typeface="Gill Sans"/>
              </a:rPr>
              <a:t>Struggle for Rome (board game)</a:t>
            </a:r>
            <a:r>
              <a:rPr lang="en" sz="1200">
                <a:latin typeface="Gill Sans"/>
                <a:ea typeface="Gill Sans"/>
                <a:cs typeface="Gill Sans"/>
                <a:sym typeface="Gill Sans"/>
              </a:rPr>
              <a:t> — Catan Histories: Struggle for Rome is a 2006 German-style board game based on the game mechanics of "Settlers of Catan", depicting the fall of the Roman Empire...</a:t>
            </a:r>
            <a:endParaRPr/>
          </a:p>
        </p:txBody>
      </p:sp>
      <p:sp>
        <p:nvSpPr>
          <p:cNvPr id="493" name="Google Shape;493;p61"/>
          <p:cNvSpPr/>
          <p:nvPr/>
        </p:nvSpPr>
        <p:spPr>
          <a:xfrm>
            <a:off x="3743391" y="938100"/>
            <a:ext cx="1504200" cy="1860300"/>
          </a:xfrm>
          <a:prstGeom prst="foldedCorner">
            <a:avLst>
              <a:gd name="adj" fmla="val 16667"/>
            </a:avLst>
          </a:prstGeom>
          <a:solidFill>
            <a:srgbClr val="FFFF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494" name="Google Shape;494;p61"/>
          <p:cNvSpPr/>
          <p:nvPr/>
        </p:nvSpPr>
        <p:spPr>
          <a:xfrm>
            <a:off x="5364725" y="938100"/>
            <a:ext cx="1504200" cy="1860300"/>
          </a:xfrm>
          <a:prstGeom prst="foldedCorner">
            <a:avLst>
              <a:gd name="adj" fmla="val 16667"/>
            </a:avLst>
          </a:prstGeom>
          <a:solidFill>
            <a:srgbClr val="F2DADA"/>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495" name="Google Shape;495;p61"/>
          <p:cNvSpPr txBox="1"/>
          <p:nvPr/>
        </p:nvSpPr>
        <p:spPr>
          <a:xfrm>
            <a:off x="2117059" y="886080"/>
            <a:ext cx="15042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Gill Sans"/>
                <a:ea typeface="Gill Sans"/>
                <a:cs typeface="Gill Sans"/>
                <a:sym typeface="Gill Sans"/>
              </a:rPr>
              <a:t>The Kids of Catan</a:t>
            </a:r>
            <a:r>
              <a:rPr lang="en" sz="1200">
                <a:latin typeface="Gill Sans"/>
                <a:ea typeface="Gill Sans"/>
                <a:cs typeface="Gill Sans"/>
                <a:sym typeface="Gill Sans"/>
              </a:rPr>
              <a:t> — The Kids of Catan is a German board game designed for children using the theme from "The Settlers of Catan”... </a:t>
            </a:r>
            <a:endParaRPr>
              <a:latin typeface="Gill Sans"/>
              <a:ea typeface="Gill Sans"/>
              <a:cs typeface="Gill Sans"/>
              <a:sym typeface="Gill Sans"/>
            </a:endParaRPr>
          </a:p>
        </p:txBody>
      </p:sp>
      <p:sp>
        <p:nvSpPr>
          <p:cNvPr id="496" name="Google Shape;496;p61"/>
          <p:cNvSpPr txBox="1"/>
          <p:nvPr/>
        </p:nvSpPr>
        <p:spPr>
          <a:xfrm>
            <a:off x="3733293" y="879925"/>
            <a:ext cx="15735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Gill Sans"/>
                <a:ea typeface="Gill Sans"/>
                <a:cs typeface="Gill Sans"/>
                <a:sym typeface="Gill Sans"/>
              </a:rPr>
              <a:t>Pirate’s Cove </a:t>
            </a:r>
            <a:r>
              <a:rPr lang="en" sz="1200">
                <a:latin typeface="Gill Sans"/>
                <a:ea typeface="Gill Sans"/>
                <a:cs typeface="Gill Sans"/>
                <a:sym typeface="Gill Sans"/>
              </a:rPr>
              <a:t>— Pirate’s Cove is a board game designed by Paul Randles and Daniel Stahl, originally</a:t>
            </a:r>
            <a:endParaRPr sz="1200">
              <a:latin typeface="Gill Sans"/>
              <a:ea typeface="Gill Sans"/>
              <a:cs typeface="Gill Sans"/>
              <a:sym typeface="Gill Sans"/>
            </a:endParaRPr>
          </a:p>
          <a:p>
            <a:pPr marL="0" lvl="0" indent="0" algn="l" rtl="0">
              <a:spcBef>
                <a:spcPts val="0"/>
              </a:spcBef>
              <a:spcAft>
                <a:spcPts val="0"/>
              </a:spcAft>
              <a:buNone/>
            </a:pPr>
            <a:r>
              <a:rPr lang="en" sz="1200">
                <a:latin typeface="Gill Sans"/>
                <a:ea typeface="Gill Sans"/>
                <a:cs typeface="Gill Sans"/>
                <a:sym typeface="Gill Sans"/>
              </a:rPr>
              <a:t>published in Germany in 2002...</a:t>
            </a:r>
            <a:endParaRPr>
              <a:latin typeface="Gill Sans"/>
              <a:ea typeface="Gill Sans"/>
              <a:cs typeface="Gill Sans"/>
              <a:sym typeface="Gill Sans"/>
            </a:endParaRPr>
          </a:p>
        </p:txBody>
      </p:sp>
      <p:sp>
        <p:nvSpPr>
          <p:cNvPr id="497" name="Google Shape;497;p61"/>
          <p:cNvSpPr txBox="1"/>
          <p:nvPr/>
        </p:nvSpPr>
        <p:spPr>
          <a:xfrm>
            <a:off x="5387264" y="893525"/>
            <a:ext cx="16293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Gill Sans"/>
                <a:ea typeface="Gill Sans"/>
                <a:cs typeface="Gill Sans"/>
                <a:sym typeface="Gill Sans"/>
              </a:rPr>
              <a:t>Catan: Cities &amp; Knights</a:t>
            </a:r>
            <a:r>
              <a:rPr lang="en" sz="1200">
                <a:latin typeface="Gill Sans"/>
                <a:ea typeface="Gill Sans"/>
                <a:cs typeface="Gill Sans"/>
                <a:sym typeface="Gill Sans"/>
              </a:rPr>
              <a:t> — Catan: Cities &amp; Knights, formerly "The Cities and Knights of Catan" is an expansion to the board game "The Settlers of Catan”...</a:t>
            </a:r>
            <a:endParaRPr sz="1200">
              <a:latin typeface="Gill Sans"/>
              <a:ea typeface="Gill Sans"/>
              <a:cs typeface="Gill Sans"/>
              <a:sym typeface="Gill Sans"/>
            </a:endParaRPr>
          </a:p>
        </p:txBody>
      </p:sp>
      <p:sp>
        <p:nvSpPr>
          <p:cNvPr id="498" name="Google Shape;498;p61"/>
          <p:cNvSpPr txBox="1"/>
          <p:nvPr/>
        </p:nvSpPr>
        <p:spPr>
          <a:xfrm>
            <a:off x="6999725" y="893525"/>
            <a:ext cx="15735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Gill Sans"/>
                <a:ea typeface="Gill Sans"/>
                <a:cs typeface="Gill Sans"/>
                <a:sym typeface="Gill Sans"/>
              </a:rPr>
              <a:t>Catan</a:t>
            </a:r>
            <a:r>
              <a:rPr lang="en" sz="1200">
                <a:latin typeface="Gill Sans"/>
                <a:ea typeface="Gill Sans"/>
                <a:cs typeface="Gill Sans"/>
                <a:sym typeface="Gill Sans"/>
              </a:rPr>
              <a:t> — The Settlers of Catan, sometimes shortened to Catan or Settlers, is a multiplayer board game designed by Klaus Teuber and first published in 1995...</a:t>
            </a:r>
            <a:endParaRPr sz="1200">
              <a:latin typeface="Gill Sans"/>
              <a:ea typeface="Gill Sans"/>
              <a:cs typeface="Gill Sans"/>
              <a:sym typeface="Gill Sans"/>
            </a:endParaRPr>
          </a:p>
        </p:txBody>
      </p:sp>
      <p:cxnSp>
        <p:nvCxnSpPr>
          <p:cNvPr id="499" name="Google Shape;499;p61"/>
          <p:cNvCxnSpPr/>
          <p:nvPr/>
        </p:nvCxnSpPr>
        <p:spPr>
          <a:xfrm rot="10800000" flipH="1">
            <a:off x="1916850" y="3816550"/>
            <a:ext cx="1976100" cy="456600"/>
          </a:xfrm>
          <a:prstGeom prst="curvedConnector3">
            <a:avLst>
              <a:gd name="adj1" fmla="val 50000"/>
            </a:avLst>
          </a:prstGeom>
          <a:noFill/>
          <a:ln w="19050" cap="flat" cmpd="sng">
            <a:solidFill>
              <a:schemeClr val="dk2"/>
            </a:solidFill>
            <a:prstDash val="solid"/>
            <a:round/>
            <a:headEnd type="none" w="med" len="med"/>
            <a:tailEnd type="triangle" w="med" len="med"/>
          </a:ln>
        </p:spPr>
      </p:cxnSp>
      <p:sp>
        <p:nvSpPr>
          <p:cNvPr id="500" name="Google Shape;500;p61"/>
          <p:cNvSpPr/>
          <p:nvPr/>
        </p:nvSpPr>
        <p:spPr>
          <a:xfrm rot="-10799359">
            <a:off x="460150" y="2862250"/>
            <a:ext cx="8043000" cy="705900"/>
          </a:xfrm>
          <a:prstGeom prst="trapezoid">
            <a:avLst>
              <a:gd name="adj" fmla="val 478262"/>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pic>
        <p:nvPicPr>
          <p:cNvPr id="501" name="Google Shape;501;p61"/>
          <p:cNvPicPr preferRelativeResize="0"/>
          <p:nvPr/>
        </p:nvPicPr>
        <p:blipFill>
          <a:blip r:embed="rId3">
            <a:alphaModFix/>
          </a:blip>
          <a:stretch>
            <a:fillRect/>
          </a:stretch>
        </p:blipFill>
        <p:spPr>
          <a:xfrm>
            <a:off x="3799275" y="3342975"/>
            <a:ext cx="1403750" cy="1403750"/>
          </a:xfrm>
          <a:prstGeom prst="rect">
            <a:avLst/>
          </a:prstGeom>
          <a:noFill/>
          <a:ln>
            <a:noFill/>
          </a:ln>
        </p:spPr>
      </p:pic>
      <p:sp>
        <p:nvSpPr>
          <p:cNvPr id="502" name="Google Shape;502;p61"/>
          <p:cNvSpPr txBox="1"/>
          <p:nvPr/>
        </p:nvSpPr>
        <p:spPr>
          <a:xfrm>
            <a:off x="611200" y="4114275"/>
            <a:ext cx="3234600" cy="845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300" b="1">
                <a:latin typeface="Roboto"/>
                <a:ea typeface="Roboto"/>
                <a:cs typeface="Roboto"/>
                <a:sym typeface="Roboto"/>
              </a:rPr>
              <a:t>Question:</a:t>
            </a:r>
            <a:endParaRPr sz="1300" b="1">
              <a:latin typeface="Roboto"/>
              <a:ea typeface="Roboto"/>
              <a:cs typeface="Roboto"/>
              <a:sym typeface="Roboto"/>
            </a:endParaRPr>
          </a:p>
          <a:p>
            <a:pPr marL="0" lvl="0" indent="0" algn="l" rtl="0">
              <a:lnSpc>
                <a:spcPct val="115000"/>
              </a:lnSpc>
              <a:spcBef>
                <a:spcPts val="0"/>
              </a:spcBef>
              <a:spcAft>
                <a:spcPts val="0"/>
              </a:spcAft>
              <a:buNone/>
            </a:pPr>
            <a:r>
              <a:rPr lang="en" sz="1300">
                <a:latin typeface="Roboto"/>
                <a:ea typeface="Roboto"/>
                <a:cs typeface="Roboto"/>
                <a:sym typeface="Roboto"/>
              </a:rPr>
              <a:t>Which board game was published most recently, Pirate’s Cove or Catan?</a:t>
            </a:r>
            <a:endParaRPr sz="1300">
              <a:latin typeface="Roboto"/>
              <a:ea typeface="Roboto"/>
              <a:cs typeface="Roboto"/>
              <a:sym typeface="Roboto"/>
            </a:endParaRPr>
          </a:p>
        </p:txBody>
      </p:sp>
      <p:sp>
        <p:nvSpPr>
          <p:cNvPr id="503" name="Google Shape;503;p61"/>
          <p:cNvSpPr txBox="1"/>
          <p:nvPr/>
        </p:nvSpPr>
        <p:spPr>
          <a:xfrm>
            <a:off x="5143275" y="3842500"/>
            <a:ext cx="1504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a:solidFill>
                  <a:schemeClr val="dk2"/>
                </a:solidFill>
                <a:latin typeface="Gill Sans"/>
                <a:ea typeface="Gill Sans"/>
                <a:cs typeface="Gill Sans"/>
                <a:sym typeface="Gill Sans"/>
              </a:rPr>
              <a:t>Vector DB</a:t>
            </a:r>
            <a:endParaRPr sz="2200">
              <a:solidFill>
                <a:schemeClr val="dk2"/>
              </a:solidFill>
              <a:latin typeface="Gill Sans"/>
              <a:ea typeface="Gill Sans"/>
              <a:cs typeface="Gill Sans"/>
              <a:sym typeface="Gill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62"/>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Generation Step of RAG</a:t>
            </a:r>
            <a:endParaRPr/>
          </a:p>
        </p:txBody>
      </p:sp>
      <p:sp>
        <p:nvSpPr>
          <p:cNvPr id="509" name="Google Shape;509;p62"/>
          <p:cNvSpPr/>
          <p:nvPr/>
        </p:nvSpPr>
        <p:spPr>
          <a:xfrm>
            <a:off x="362475" y="1227975"/>
            <a:ext cx="3614976" cy="3349296"/>
          </a:xfrm>
          <a:prstGeom prst="flowChartDocumen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510" name="Google Shape;510;p62"/>
          <p:cNvSpPr/>
          <p:nvPr/>
        </p:nvSpPr>
        <p:spPr>
          <a:xfrm>
            <a:off x="492675" y="2265440"/>
            <a:ext cx="1504200" cy="1592400"/>
          </a:xfrm>
          <a:prstGeom prst="foldedCorner">
            <a:avLst>
              <a:gd name="adj" fmla="val 16667"/>
            </a:avLst>
          </a:prstGeom>
          <a:solidFill>
            <a:srgbClr val="FFFF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511" name="Google Shape;511;p62"/>
          <p:cNvSpPr txBox="1"/>
          <p:nvPr/>
        </p:nvSpPr>
        <p:spPr>
          <a:xfrm>
            <a:off x="482559" y="2209801"/>
            <a:ext cx="15735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Gill Sans"/>
                <a:ea typeface="Gill Sans"/>
                <a:cs typeface="Gill Sans"/>
                <a:sym typeface="Gill Sans"/>
              </a:rPr>
              <a:t>Pirate’s Cove </a:t>
            </a:r>
            <a:r>
              <a:rPr lang="en" sz="1200">
                <a:latin typeface="Gill Sans"/>
                <a:ea typeface="Gill Sans"/>
                <a:cs typeface="Gill Sans"/>
                <a:sym typeface="Gill Sans"/>
              </a:rPr>
              <a:t>— Pirate’s Cove is a board game designed by Paul Randles and Daniel Stahl, originally</a:t>
            </a:r>
            <a:endParaRPr sz="1200">
              <a:latin typeface="Gill Sans"/>
              <a:ea typeface="Gill Sans"/>
              <a:cs typeface="Gill Sans"/>
              <a:sym typeface="Gill Sans"/>
            </a:endParaRPr>
          </a:p>
          <a:p>
            <a:pPr marL="0" lvl="0" indent="0" algn="l" rtl="0">
              <a:spcBef>
                <a:spcPts val="0"/>
              </a:spcBef>
              <a:spcAft>
                <a:spcPts val="0"/>
              </a:spcAft>
              <a:buNone/>
            </a:pPr>
            <a:r>
              <a:rPr lang="en" sz="1200">
                <a:latin typeface="Gill Sans"/>
                <a:ea typeface="Gill Sans"/>
                <a:cs typeface="Gill Sans"/>
                <a:sym typeface="Gill Sans"/>
              </a:rPr>
              <a:t>published in Germany in 2002...</a:t>
            </a:r>
            <a:endParaRPr>
              <a:latin typeface="Gill Sans"/>
              <a:ea typeface="Gill Sans"/>
              <a:cs typeface="Gill Sans"/>
              <a:sym typeface="Gill Sans"/>
            </a:endParaRPr>
          </a:p>
        </p:txBody>
      </p:sp>
      <p:sp>
        <p:nvSpPr>
          <p:cNvPr id="512" name="Google Shape;512;p62"/>
          <p:cNvSpPr/>
          <p:nvPr/>
        </p:nvSpPr>
        <p:spPr>
          <a:xfrm>
            <a:off x="4158300" y="2400300"/>
            <a:ext cx="510000" cy="273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513" name="Google Shape;513;p62"/>
          <p:cNvSpPr/>
          <p:nvPr/>
        </p:nvSpPr>
        <p:spPr>
          <a:xfrm>
            <a:off x="6025600" y="2423750"/>
            <a:ext cx="510000" cy="273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514" name="Google Shape;514;p62"/>
          <p:cNvSpPr/>
          <p:nvPr/>
        </p:nvSpPr>
        <p:spPr>
          <a:xfrm>
            <a:off x="4847000" y="2266950"/>
            <a:ext cx="923700" cy="585600"/>
          </a:xfrm>
          <a:prstGeom prst="roundRect">
            <a:avLst>
              <a:gd name="adj" fmla="val 16667"/>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Gill Sans"/>
                <a:ea typeface="Gill Sans"/>
                <a:cs typeface="Gill Sans"/>
                <a:sym typeface="Gill Sans"/>
              </a:rPr>
              <a:t>LLM</a:t>
            </a:r>
            <a:endParaRPr sz="2200">
              <a:latin typeface="Gill Sans"/>
              <a:ea typeface="Gill Sans"/>
              <a:cs typeface="Gill Sans"/>
              <a:sym typeface="Gill Sans"/>
            </a:endParaRPr>
          </a:p>
        </p:txBody>
      </p:sp>
      <p:sp>
        <p:nvSpPr>
          <p:cNvPr id="515" name="Google Shape;515;p62"/>
          <p:cNvSpPr txBox="1"/>
          <p:nvPr/>
        </p:nvSpPr>
        <p:spPr>
          <a:xfrm>
            <a:off x="6714300" y="2283650"/>
            <a:ext cx="14478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a:highlight>
                  <a:srgbClr val="FFFFFF"/>
                </a:highlight>
                <a:latin typeface="Roboto"/>
                <a:ea typeface="Roboto"/>
                <a:cs typeface="Roboto"/>
                <a:sym typeface="Roboto"/>
              </a:rPr>
              <a:t>Answer:</a:t>
            </a:r>
            <a:br>
              <a:rPr lang="en" sz="1300">
                <a:highlight>
                  <a:srgbClr val="FFFFFF"/>
                </a:highlight>
                <a:latin typeface="Roboto"/>
                <a:ea typeface="Roboto"/>
                <a:cs typeface="Roboto"/>
                <a:sym typeface="Roboto"/>
              </a:rPr>
            </a:br>
            <a:r>
              <a:rPr lang="en" sz="1300">
                <a:highlight>
                  <a:srgbClr val="FFFFFF"/>
                </a:highlight>
                <a:latin typeface="Roboto"/>
                <a:ea typeface="Roboto"/>
                <a:cs typeface="Roboto"/>
                <a:sym typeface="Roboto"/>
              </a:rPr>
              <a:t>Pirate’s Cove</a:t>
            </a:r>
            <a:endParaRPr sz="1300">
              <a:latin typeface="Roboto"/>
              <a:ea typeface="Roboto"/>
              <a:cs typeface="Roboto"/>
              <a:sym typeface="Roboto"/>
            </a:endParaRPr>
          </a:p>
        </p:txBody>
      </p:sp>
      <p:pic>
        <p:nvPicPr>
          <p:cNvPr id="516" name="Google Shape;516;p62"/>
          <p:cNvPicPr preferRelativeResize="0"/>
          <p:nvPr/>
        </p:nvPicPr>
        <p:blipFill>
          <a:blip r:embed="rId3">
            <a:alphaModFix/>
          </a:blip>
          <a:stretch>
            <a:fillRect/>
          </a:stretch>
        </p:blipFill>
        <p:spPr>
          <a:xfrm>
            <a:off x="7816700" y="2030054"/>
            <a:ext cx="512065" cy="485220"/>
          </a:xfrm>
          <a:prstGeom prst="rect">
            <a:avLst/>
          </a:prstGeom>
          <a:noFill/>
          <a:ln>
            <a:noFill/>
          </a:ln>
        </p:spPr>
      </p:pic>
      <p:sp>
        <p:nvSpPr>
          <p:cNvPr id="517" name="Google Shape;517;p62"/>
          <p:cNvSpPr/>
          <p:nvPr/>
        </p:nvSpPr>
        <p:spPr>
          <a:xfrm>
            <a:off x="2180925" y="2272196"/>
            <a:ext cx="1504200" cy="1592400"/>
          </a:xfrm>
          <a:prstGeom prst="foldedCorner">
            <a:avLst>
              <a:gd name="adj" fmla="val 16667"/>
            </a:avLst>
          </a:prstGeom>
          <a:solidFill>
            <a:srgbClr val="FFFF00"/>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518" name="Google Shape;518;p62"/>
          <p:cNvSpPr txBox="1"/>
          <p:nvPr/>
        </p:nvSpPr>
        <p:spPr>
          <a:xfrm>
            <a:off x="2196100" y="2227621"/>
            <a:ext cx="15735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Gill Sans"/>
                <a:ea typeface="Gill Sans"/>
                <a:cs typeface="Gill Sans"/>
                <a:sym typeface="Gill Sans"/>
              </a:rPr>
              <a:t>Catan</a:t>
            </a:r>
            <a:r>
              <a:rPr lang="en" sz="1200">
                <a:latin typeface="Gill Sans"/>
                <a:ea typeface="Gill Sans"/>
                <a:cs typeface="Gill Sans"/>
                <a:sym typeface="Gill Sans"/>
              </a:rPr>
              <a:t> — The Settlers of Catan, sometimes shortened to Catan or Settlers, is a multiplayer board game designed by Klaus Teuber and first published in 1995...</a:t>
            </a:r>
            <a:endParaRPr sz="1200">
              <a:latin typeface="Gill Sans"/>
              <a:ea typeface="Gill Sans"/>
              <a:cs typeface="Gill Sans"/>
              <a:sym typeface="Gill Sans"/>
            </a:endParaRPr>
          </a:p>
        </p:txBody>
      </p:sp>
      <p:sp>
        <p:nvSpPr>
          <p:cNvPr id="519" name="Google Shape;519;p62"/>
          <p:cNvSpPr txBox="1"/>
          <p:nvPr/>
        </p:nvSpPr>
        <p:spPr>
          <a:xfrm>
            <a:off x="535000" y="1294875"/>
            <a:ext cx="3234600" cy="845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300" b="1">
                <a:latin typeface="Roboto"/>
                <a:ea typeface="Roboto"/>
                <a:cs typeface="Roboto"/>
                <a:sym typeface="Roboto"/>
              </a:rPr>
              <a:t>Question:</a:t>
            </a:r>
            <a:endParaRPr sz="1300" b="1">
              <a:latin typeface="Roboto"/>
              <a:ea typeface="Roboto"/>
              <a:cs typeface="Roboto"/>
              <a:sym typeface="Roboto"/>
            </a:endParaRPr>
          </a:p>
          <a:p>
            <a:pPr marL="0" lvl="0" indent="0" algn="l" rtl="0">
              <a:lnSpc>
                <a:spcPct val="115000"/>
              </a:lnSpc>
              <a:spcBef>
                <a:spcPts val="0"/>
              </a:spcBef>
              <a:spcAft>
                <a:spcPts val="0"/>
              </a:spcAft>
              <a:buNone/>
            </a:pPr>
            <a:r>
              <a:rPr lang="en" sz="1300">
                <a:latin typeface="Roboto"/>
                <a:ea typeface="Roboto"/>
                <a:cs typeface="Roboto"/>
                <a:sym typeface="Roboto"/>
              </a:rPr>
              <a:t>Which board game was published most recently, Pirate’s Cove or Catan?</a:t>
            </a:r>
            <a:endParaRPr sz="1300">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63"/>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Without RAG</a:t>
            </a:r>
            <a:endParaRPr/>
          </a:p>
        </p:txBody>
      </p:sp>
      <p:sp>
        <p:nvSpPr>
          <p:cNvPr id="525" name="Google Shape;525;p63"/>
          <p:cNvSpPr/>
          <p:nvPr/>
        </p:nvSpPr>
        <p:spPr>
          <a:xfrm>
            <a:off x="362475" y="1227975"/>
            <a:ext cx="3614976" cy="3870720"/>
          </a:xfrm>
          <a:prstGeom prst="flowChartDocument">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526" name="Google Shape;526;p63"/>
          <p:cNvSpPr/>
          <p:nvPr/>
        </p:nvSpPr>
        <p:spPr>
          <a:xfrm>
            <a:off x="4158300" y="2400300"/>
            <a:ext cx="510000" cy="273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527" name="Google Shape;527;p63"/>
          <p:cNvSpPr/>
          <p:nvPr/>
        </p:nvSpPr>
        <p:spPr>
          <a:xfrm>
            <a:off x="6025600" y="2423750"/>
            <a:ext cx="510000" cy="273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528" name="Google Shape;528;p63"/>
          <p:cNvSpPr/>
          <p:nvPr/>
        </p:nvSpPr>
        <p:spPr>
          <a:xfrm>
            <a:off x="4847000" y="2266950"/>
            <a:ext cx="923700" cy="585600"/>
          </a:xfrm>
          <a:prstGeom prst="roundRect">
            <a:avLst>
              <a:gd name="adj" fmla="val 16667"/>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Gill Sans"/>
                <a:ea typeface="Gill Sans"/>
                <a:cs typeface="Gill Sans"/>
                <a:sym typeface="Gill Sans"/>
              </a:rPr>
              <a:t>LLM</a:t>
            </a:r>
            <a:endParaRPr sz="2200">
              <a:latin typeface="Gill Sans"/>
              <a:ea typeface="Gill Sans"/>
              <a:cs typeface="Gill Sans"/>
              <a:sym typeface="Gill Sans"/>
            </a:endParaRPr>
          </a:p>
        </p:txBody>
      </p:sp>
      <p:sp>
        <p:nvSpPr>
          <p:cNvPr id="529" name="Google Shape;529;p63"/>
          <p:cNvSpPr txBox="1"/>
          <p:nvPr/>
        </p:nvSpPr>
        <p:spPr>
          <a:xfrm>
            <a:off x="6714300" y="2283650"/>
            <a:ext cx="21336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a:highlight>
                  <a:srgbClr val="FFFFFF"/>
                </a:highlight>
                <a:latin typeface="Roboto"/>
                <a:ea typeface="Roboto"/>
                <a:cs typeface="Roboto"/>
                <a:sym typeface="Roboto"/>
              </a:rPr>
              <a:t>Answer:</a:t>
            </a:r>
            <a:br>
              <a:rPr lang="en" sz="1300">
                <a:highlight>
                  <a:srgbClr val="FFFFFF"/>
                </a:highlight>
                <a:latin typeface="Roboto"/>
                <a:ea typeface="Roboto"/>
                <a:cs typeface="Roboto"/>
                <a:sym typeface="Roboto"/>
              </a:rPr>
            </a:br>
            <a:r>
              <a:rPr lang="en" sz="1300">
                <a:highlight>
                  <a:srgbClr val="FFFFFF"/>
                </a:highlight>
                <a:latin typeface="Roboto"/>
                <a:ea typeface="Roboto"/>
                <a:cs typeface="Roboto"/>
                <a:sym typeface="Roboto"/>
              </a:rPr>
              <a:t>The board game that was published most recently is [Settlers of] Catan.</a:t>
            </a:r>
            <a:endParaRPr sz="1300">
              <a:highlight>
                <a:srgbClr val="FFFFFF"/>
              </a:highlight>
              <a:latin typeface="Roboto"/>
              <a:ea typeface="Roboto"/>
              <a:cs typeface="Roboto"/>
              <a:sym typeface="Roboto"/>
            </a:endParaRPr>
          </a:p>
        </p:txBody>
      </p:sp>
      <p:pic>
        <p:nvPicPr>
          <p:cNvPr id="530" name="Google Shape;530;p63"/>
          <p:cNvPicPr preferRelativeResize="0"/>
          <p:nvPr/>
        </p:nvPicPr>
        <p:blipFill>
          <a:blip r:embed="rId3">
            <a:alphaModFix/>
          </a:blip>
          <a:stretch>
            <a:fillRect/>
          </a:stretch>
        </p:blipFill>
        <p:spPr>
          <a:xfrm>
            <a:off x="7803150" y="2018825"/>
            <a:ext cx="484633" cy="484632"/>
          </a:xfrm>
          <a:prstGeom prst="rect">
            <a:avLst/>
          </a:prstGeom>
          <a:noFill/>
          <a:ln>
            <a:noFill/>
          </a:ln>
        </p:spPr>
      </p:pic>
      <p:sp>
        <p:nvSpPr>
          <p:cNvPr id="531" name="Google Shape;531;p63"/>
          <p:cNvSpPr txBox="1"/>
          <p:nvPr/>
        </p:nvSpPr>
        <p:spPr>
          <a:xfrm>
            <a:off x="535000" y="1294875"/>
            <a:ext cx="3234600" cy="845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300" b="1">
                <a:latin typeface="Roboto"/>
                <a:ea typeface="Roboto"/>
                <a:cs typeface="Roboto"/>
                <a:sym typeface="Roboto"/>
              </a:rPr>
              <a:t>Question:</a:t>
            </a:r>
            <a:endParaRPr sz="1300" b="1">
              <a:latin typeface="Roboto"/>
              <a:ea typeface="Roboto"/>
              <a:cs typeface="Roboto"/>
              <a:sym typeface="Roboto"/>
            </a:endParaRPr>
          </a:p>
          <a:p>
            <a:pPr marL="0" lvl="0" indent="0" algn="l" rtl="0">
              <a:lnSpc>
                <a:spcPct val="115000"/>
              </a:lnSpc>
              <a:spcBef>
                <a:spcPts val="0"/>
              </a:spcBef>
              <a:spcAft>
                <a:spcPts val="0"/>
              </a:spcAft>
              <a:buNone/>
            </a:pPr>
            <a:r>
              <a:rPr lang="en" sz="1300">
                <a:latin typeface="Roboto"/>
                <a:ea typeface="Roboto"/>
                <a:cs typeface="Roboto"/>
                <a:sym typeface="Roboto"/>
              </a:rPr>
              <a:t>Which board game was published most recently, Pirate’s Cove or Catan?</a:t>
            </a:r>
            <a:endParaRPr sz="1300">
              <a:latin typeface="Roboto"/>
              <a:ea typeface="Roboto"/>
              <a:cs typeface="Roboto"/>
              <a:sym typeface="Roboto"/>
            </a:endParaRPr>
          </a:p>
        </p:txBody>
      </p:sp>
      <p:sp>
        <p:nvSpPr>
          <p:cNvPr id="532" name="Google Shape;532;p63"/>
          <p:cNvSpPr/>
          <p:nvPr/>
        </p:nvSpPr>
        <p:spPr>
          <a:xfrm>
            <a:off x="634175" y="2154175"/>
            <a:ext cx="1504200" cy="1543800"/>
          </a:xfrm>
          <a:prstGeom prst="foldedCorner">
            <a:avLst>
              <a:gd name="adj" fmla="val 16667"/>
            </a:avLst>
          </a:prstGeom>
          <a:solidFill>
            <a:srgbClr val="F2DADA"/>
          </a:solidFill>
          <a:ln w="9525" cap="flat" cmpd="sng">
            <a:solidFill>
              <a:srgbClr val="57000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533" name="Google Shape;533;p63"/>
          <p:cNvSpPr txBox="1"/>
          <p:nvPr/>
        </p:nvSpPr>
        <p:spPr>
          <a:xfrm>
            <a:off x="586333" y="2092225"/>
            <a:ext cx="16293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Gill Sans"/>
                <a:ea typeface="Gill Sans"/>
                <a:cs typeface="Gill Sans"/>
                <a:sym typeface="Gill Sans"/>
              </a:rPr>
              <a:t>Struggle for Rome (board game)</a:t>
            </a:r>
            <a:r>
              <a:rPr lang="en" sz="1200">
                <a:latin typeface="Gill Sans"/>
                <a:ea typeface="Gill Sans"/>
                <a:cs typeface="Gill Sans"/>
                <a:sym typeface="Gill Sans"/>
              </a:rPr>
              <a:t> — Catan Histories: Struggle for Rome is a 2006 German-style board game based on the game mechanics of "Settlers of Catan"</a:t>
            </a:r>
            <a:endParaRPr/>
          </a:p>
        </p:txBody>
      </p:sp>
      <p:sp>
        <p:nvSpPr>
          <p:cNvPr id="534" name="Google Shape;534;p63"/>
          <p:cNvSpPr/>
          <p:nvPr/>
        </p:nvSpPr>
        <p:spPr>
          <a:xfrm>
            <a:off x="891551" y="2387331"/>
            <a:ext cx="1504200" cy="1425600"/>
          </a:xfrm>
          <a:prstGeom prst="foldedCorner">
            <a:avLst>
              <a:gd name="adj" fmla="val 16667"/>
            </a:avLst>
          </a:prstGeom>
          <a:solidFill>
            <a:srgbClr val="F2DADA"/>
          </a:solidFill>
          <a:ln w="9525" cap="flat" cmpd="sng">
            <a:solidFill>
              <a:srgbClr val="57000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535" name="Google Shape;535;p63"/>
          <p:cNvSpPr txBox="1"/>
          <p:nvPr/>
        </p:nvSpPr>
        <p:spPr>
          <a:xfrm>
            <a:off x="882161" y="2335310"/>
            <a:ext cx="15042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Gill Sans"/>
                <a:ea typeface="Gill Sans"/>
                <a:cs typeface="Gill Sans"/>
                <a:sym typeface="Gill Sans"/>
              </a:rPr>
              <a:t>The Kids of Catan</a:t>
            </a:r>
            <a:r>
              <a:rPr lang="en" sz="1200">
                <a:latin typeface="Gill Sans"/>
                <a:ea typeface="Gill Sans"/>
                <a:cs typeface="Gill Sans"/>
                <a:sym typeface="Gill Sans"/>
              </a:rPr>
              <a:t> — The Kids of Catan is a German board game designed for children using the theme from "The Settlers of Catan”... </a:t>
            </a:r>
            <a:endParaRPr>
              <a:latin typeface="Gill Sans"/>
              <a:ea typeface="Gill Sans"/>
              <a:cs typeface="Gill Sans"/>
              <a:sym typeface="Gill Sans"/>
            </a:endParaRPr>
          </a:p>
        </p:txBody>
      </p:sp>
      <p:sp>
        <p:nvSpPr>
          <p:cNvPr id="536" name="Google Shape;536;p63"/>
          <p:cNvSpPr/>
          <p:nvPr/>
        </p:nvSpPr>
        <p:spPr>
          <a:xfrm>
            <a:off x="1206390" y="2642756"/>
            <a:ext cx="1504200" cy="1425600"/>
          </a:xfrm>
          <a:prstGeom prst="foldedCorner">
            <a:avLst>
              <a:gd name="adj" fmla="val 16667"/>
            </a:avLst>
          </a:prstGeom>
          <a:solidFill>
            <a:srgbClr val="F2DADA"/>
          </a:solidFill>
          <a:ln w="9525" cap="flat" cmpd="sng">
            <a:solidFill>
              <a:srgbClr val="57000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537" name="Google Shape;537;p63"/>
          <p:cNvSpPr txBox="1"/>
          <p:nvPr/>
        </p:nvSpPr>
        <p:spPr>
          <a:xfrm>
            <a:off x="1196283" y="2584581"/>
            <a:ext cx="15735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Gill Sans"/>
                <a:ea typeface="Gill Sans"/>
                <a:cs typeface="Gill Sans"/>
                <a:sym typeface="Gill Sans"/>
              </a:rPr>
              <a:t>Pirate’s Cove </a:t>
            </a:r>
            <a:r>
              <a:rPr lang="en" sz="1200">
                <a:latin typeface="Gill Sans"/>
                <a:ea typeface="Gill Sans"/>
                <a:cs typeface="Gill Sans"/>
                <a:sym typeface="Gill Sans"/>
              </a:rPr>
              <a:t>— Pirate’s Cove is a board game designed by Paul Randles and Daniel Stahl, originally</a:t>
            </a:r>
            <a:endParaRPr sz="1200">
              <a:latin typeface="Gill Sans"/>
              <a:ea typeface="Gill Sans"/>
              <a:cs typeface="Gill Sans"/>
              <a:sym typeface="Gill Sans"/>
            </a:endParaRPr>
          </a:p>
          <a:p>
            <a:pPr marL="0" lvl="0" indent="0" algn="l" rtl="0">
              <a:spcBef>
                <a:spcPts val="0"/>
              </a:spcBef>
              <a:spcAft>
                <a:spcPts val="0"/>
              </a:spcAft>
              <a:buNone/>
            </a:pPr>
            <a:r>
              <a:rPr lang="en" sz="1200">
                <a:latin typeface="Gill Sans"/>
                <a:ea typeface="Gill Sans"/>
                <a:cs typeface="Gill Sans"/>
                <a:sym typeface="Gill Sans"/>
              </a:rPr>
              <a:t>published in Germany in 2002...</a:t>
            </a:r>
            <a:endParaRPr>
              <a:latin typeface="Gill Sans"/>
              <a:ea typeface="Gill Sans"/>
              <a:cs typeface="Gill Sans"/>
              <a:sym typeface="Gill Sans"/>
            </a:endParaRPr>
          </a:p>
        </p:txBody>
      </p:sp>
      <p:sp>
        <p:nvSpPr>
          <p:cNvPr id="538" name="Google Shape;538;p63"/>
          <p:cNvSpPr/>
          <p:nvPr/>
        </p:nvSpPr>
        <p:spPr>
          <a:xfrm>
            <a:off x="1481375" y="2897125"/>
            <a:ext cx="1504200" cy="1543800"/>
          </a:xfrm>
          <a:prstGeom prst="foldedCorner">
            <a:avLst>
              <a:gd name="adj" fmla="val 16667"/>
            </a:avLst>
          </a:prstGeom>
          <a:solidFill>
            <a:srgbClr val="F2DADA"/>
          </a:solidFill>
          <a:ln w="9525" cap="flat" cmpd="sng">
            <a:solidFill>
              <a:srgbClr val="57000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539" name="Google Shape;539;p63"/>
          <p:cNvSpPr txBox="1"/>
          <p:nvPr/>
        </p:nvSpPr>
        <p:spPr>
          <a:xfrm>
            <a:off x="1503905" y="2852550"/>
            <a:ext cx="16293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Gill Sans"/>
                <a:ea typeface="Gill Sans"/>
                <a:cs typeface="Gill Sans"/>
                <a:sym typeface="Gill Sans"/>
              </a:rPr>
              <a:t>Catan: Cities &amp; Knights</a:t>
            </a:r>
            <a:r>
              <a:rPr lang="en" sz="1200">
                <a:latin typeface="Gill Sans"/>
                <a:ea typeface="Gill Sans"/>
                <a:cs typeface="Gill Sans"/>
                <a:sym typeface="Gill Sans"/>
              </a:rPr>
              <a:t> — Catan: Cities &amp; Knights, formerly "The Cities and Knights of Catan" is an expansion to the board game "The Settlers of Catan”...</a:t>
            </a:r>
            <a:endParaRPr sz="1200">
              <a:latin typeface="Gill Sans"/>
              <a:ea typeface="Gill Sans"/>
              <a:cs typeface="Gill Sans"/>
              <a:sym typeface="Gill Sans"/>
            </a:endParaRPr>
          </a:p>
        </p:txBody>
      </p:sp>
      <p:sp>
        <p:nvSpPr>
          <p:cNvPr id="540" name="Google Shape;540;p63"/>
          <p:cNvSpPr/>
          <p:nvPr/>
        </p:nvSpPr>
        <p:spPr>
          <a:xfrm>
            <a:off x="1734975" y="3162200"/>
            <a:ext cx="1504200" cy="1582200"/>
          </a:xfrm>
          <a:prstGeom prst="foldedCorner">
            <a:avLst>
              <a:gd name="adj" fmla="val 16667"/>
            </a:avLst>
          </a:prstGeom>
          <a:solidFill>
            <a:srgbClr val="F2DADA"/>
          </a:solidFill>
          <a:ln w="9525" cap="flat" cmpd="sng">
            <a:solidFill>
              <a:srgbClr val="57000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1200">
              <a:latin typeface="Gill Sans"/>
              <a:ea typeface="Gill Sans"/>
              <a:cs typeface="Gill Sans"/>
              <a:sym typeface="Gill Sans"/>
            </a:endParaRPr>
          </a:p>
        </p:txBody>
      </p:sp>
      <p:sp>
        <p:nvSpPr>
          <p:cNvPr id="541" name="Google Shape;541;p63"/>
          <p:cNvSpPr txBox="1"/>
          <p:nvPr/>
        </p:nvSpPr>
        <p:spPr>
          <a:xfrm>
            <a:off x="1750138" y="3117625"/>
            <a:ext cx="15735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latin typeface="Gill Sans"/>
                <a:ea typeface="Gill Sans"/>
                <a:cs typeface="Gill Sans"/>
                <a:sym typeface="Gill Sans"/>
              </a:rPr>
              <a:t>Catan</a:t>
            </a:r>
            <a:r>
              <a:rPr lang="en" sz="1200">
                <a:latin typeface="Gill Sans"/>
                <a:ea typeface="Gill Sans"/>
                <a:cs typeface="Gill Sans"/>
                <a:sym typeface="Gill Sans"/>
              </a:rPr>
              <a:t> — The Settlers of Catan, sometimes shortened to Catan or Settlers, is a multiplayer board game designed by Klaus Teuber and first published in 1995...</a:t>
            </a:r>
            <a:endParaRPr sz="1200">
              <a:latin typeface="Gill Sans"/>
              <a:ea typeface="Gill Sans"/>
              <a:cs typeface="Gill Sans"/>
              <a:sym typeface="Gill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4"/>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Retrieval-Augmented Generation (RAG)</a:t>
            </a:r>
            <a:endParaRPr/>
          </a:p>
        </p:txBody>
      </p:sp>
      <p:sp>
        <p:nvSpPr>
          <p:cNvPr id="547" name="Google Shape;547;p64"/>
          <p:cNvSpPr txBox="1"/>
          <p:nvPr/>
        </p:nvSpPr>
        <p:spPr>
          <a:xfrm>
            <a:off x="484425" y="2663550"/>
            <a:ext cx="6620100" cy="1277400"/>
          </a:xfrm>
          <a:prstGeom prst="rect">
            <a:avLst/>
          </a:prstGeom>
          <a:noFill/>
          <a:ln>
            <a:noFill/>
          </a:ln>
        </p:spPr>
        <p:txBody>
          <a:bodyPr spcFirstLastPara="1" wrap="square" lIns="91425" tIns="91425" rIns="91425" bIns="91425" anchor="t" anchorCtr="0">
            <a:spAutoFit/>
          </a:bodyPr>
          <a:lstStyle/>
          <a:p>
            <a:pPr marL="0" lvl="0" indent="0" algn="l" rtl="0">
              <a:spcBef>
                <a:spcPts val="360"/>
              </a:spcBef>
              <a:spcAft>
                <a:spcPts val="0"/>
              </a:spcAft>
              <a:buNone/>
            </a:pPr>
            <a:r>
              <a:rPr lang="en" sz="1700">
                <a:solidFill>
                  <a:schemeClr val="dk2"/>
                </a:solidFill>
                <a:latin typeface="Roboto"/>
                <a:ea typeface="Roboto"/>
                <a:cs typeface="Roboto"/>
                <a:sym typeface="Roboto"/>
              </a:rPr>
              <a:t>But at scale, sensitive to choices of:</a:t>
            </a:r>
            <a:br>
              <a:rPr lang="en" sz="1700">
                <a:solidFill>
                  <a:schemeClr val="dk2"/>
                </a:solidFill>
                <a:latin typeface="Roboto"/>
                <a:ea typeface="Roboto"/>
                <a:cs typeface="Roboto"/>
                <a:sym typeface="Roboto"/>
              </a:rPr>
            </a:br>
            <a:r>
              <a:rPr lang="en" sz="1700">
                <a:solidFill>
                  <a:schemeClr val="dk2"/>
                </a:solidFill>
                <a:latin typeface="Roboto"/>
                <a:ea typeface="Roboto"/>
                <a:cs typeface="Roboto"/>
                <a:sym typeface="Roboto"/>
              </a:rPr>
              <a:t>  1) chunking strategy,</a:t>
            </a:r>
            <a:endParaRPr sz="1700">
              <a:solidFill>
                <a:schemeClr val="dk2"/>
              </a:solidFill>
              <a:latin typeface="Roboto"/>
              <a:ea typeface="Roboto"/>
              <a:cs typeface="Roboto"/>
              <a:sym typeface="Roboto"/>
            </a:endParaRPr>
          </a:p>
          <a:p>
            <a:pPr marL="0" lvl="0" indent="0" algn="l" rtl="0">
              <a:spcBef>
                <a:spcPts val="360"/>
              </a:spcBef>
              <a:spcAft>
                <a:spcPts val="0"/>
              </a:spcAft>
              <a:buNone/>
            </a:pPr>
            <a:r>
              <a:rPr lang="en" sz="1700">
                <a:solidFill>
                  <a:schemeClr val="dk2"/>
                </a:solidFill>
                <a:latin typeface="Roboto"/>
                <a:ea typeface="Roboto"/>
                <a:cs typeface="Roboto"/>
                <a:sym typeface="Roboto"/>
              </a:rPr>
              <a:t>  2) embedding model, and</a:t>
            </a:r>
            <a:br>
              <a:rPr lang="en" sz="1700">
                <a:solidFill>
                  <a:schemeClr val="dk2"/>
                </a:solidFill>
                <a:latin typeface="Roboto"/>
                <a:ea typeface="Roboto"/>
                <a:cs typeface="Roboto"/>
                <a:sym typeface="Roboto"/>
              </a:rPr>
            </a:br>
            <a:r>
              <a:rPr lang="en" sz="1700">
                <a:solidFill>
                  <a:schemeClr val="dk2"/>
                </a:solidFill>
                <a:latin typeface="Roboto"/>
                <a:ea typeface="Roboto"/>
                <a:cs typeface="Roboto"/>
                <a:sym typeface="Roboto"/>
              </a:rPr>
              <a:t>  3) generation model.</a:t>
            </a:r>
            <a:endParaRPr sz="1700">
              <a:solidFill>
                <a:schemeClr val="dk2"/>
              </a:solidFill>
              <a:latin typeface="Roboto"/>
              <a:ea typeface="Roboto"/>
              <a:cs typeface="Roboto"/>
              <a:sym typeface="Roboto"/>
            </a:endParaRPr>
          </a:p>
        </p:txBody>
      </p:sp>
      <p:sp>
        <p:nvSpPr>
          <p:cNvPr id="548" name="Google Shape;548;p64"/>
          <p:cNvSpPr txBox="1"/>
          <p:nvPr/>
        </p:nvSpPr>
        <p:spPr>
          <a:xfrm>
            <a:off x="470050" y="4263400"/>
            <a:ext cx="5900700" cy="446400"/>
          </a:xfrm>
          <a:prstGeom prst="rect">
            <a:avLst/>
          </a:prstGeom>
          <a:noFill/>
          <a:ln>
            <a:noFill/>
          </a:ln>
        </p:spPr>
        <p:txBody>
          <a:bodyPr spcFirstLastPara="1" wrap="square" lIns="91425" tIns="91425" rIns="91425" bIns="91425" anchor="t" anchorCtr="0">
            <a:spAutoFit/>
          </a:bodyPr>
          <a:lstStyle/>
          <a:p>
            <a:pPr marL="0" lvl="0" indent="0" algn="l" rtl="0">
              <a:spcBef>
                <a:spcPts val="360"/>
              </a:spcBef>
              <a:spcAft>
                <a:spcPts val="0"/>
              </a:spcAft>
              <a:buNone/>
            </a:pPr>
            <a:r>
              <a:rPr lang="en" sz="1700">
                <a:solidFill>
                  <a:schemeClr val="dk2"/>
                </a:solidFill>
                <a:latin typeface="Roboto"/>
                <a:ea typeface="Roboto"/>
                <a:cs typeface="Roboto"/>
                <a:sym typeface="Roboto"/>
              </a:rPr>
              <a:t>And not guaranteed to be hallucination-free …</a:t>
            </a:r>
            <a:endParaRPr sz="1700">
              <a:solidFill>
                <a:schemeClr val="dk2"/>
              </a:solidFill>
              <a:latin typeface="Roboto"/>
              <a:ea typeface="Roboto"/>
              <a:cs typeface="Roboto"/>
              <a:sym typeface="Roboto"/>
            </a:endParaRPr>
          </a:p>
        </p:txBody>
      </p:sp>
      <p:sp>
        <p:nvSpPr>
          <p:cNvPr id="549" name="Google Shape;549;p64"/>
          <p:cNvSpPr txBox="1">
            <a:spLocks noGrp="1"/>
          </p:cNvSpPr>
          <p:nvPr>
            <p:ph type="body" idx="1"/>
          </p:nvPr>
        </p:nvSpPr>
        <p:spPr>
          <a:xfrm>
            <a:off x="484100" y="1826925"/>
            <a:ext cx="8090100" cy="576900"/>
          </a:xfrm>
          <a:prstGeom prst="rect">
            <a:avLst/>
          </a:prstGeom>
        </p:spPr>
        <p:txBody>
          <a:bodyPr spcFirstLastPara="1" wrap="square" lIns="91425" tIns="91425" rIns="91425" bIns="91425" anchor="t" anchorCtr="0">
            <a:normAutofit fontScale="92500" lnSpcReduction="20000"/>
          </a:bodyPr>
          <a:lstStyle/>
          <a:p>
            <a:pPr marL="0" lvl="0" indent="0" algn="ctr" rtl="0">
              <a:spcBef>
                <a:spcPts val="0"/>
              </a:spcBef>
              <a:spcAft>
                <a:spcPts val="1200"/>
              </a:spcAft>
              <a:buNone/>
            </a:pPr>
            <a:r>
              <a:rPr lang="en" sz="1700"/>
              <a:t>Idea: Augment LLMs with </a:t>
            </a:r>
            <a:r>
              <a:rPr lang="en" sz="1700" i="1"/>
              <a:t>retrieval system</a:t>
            </a:r>
            <a:r>
              <a:rPr lang="en" sz="1700"/>
              <a:t>!</a:t>
            </a:r>
            <a:endParaRPr sz="1700"/>
          </a:p>
        </p:txBody>
      </p:sp>
      <p:sp>
        <p:nvSpPr>
          <p:cNvPr id="550" name="Google Shape;550;p64"/>
          <p:cNvSpPr txBox="1"/>
          <p:nvPr/>
        </p:nvSpPr>
        <p:spPr>
          <a:xfrm>
            <a:off x="469560" y="978225"/>
            <a:ext cx="8090100" cy="708000"/>
          </a:xfrm>
          <a:prstGeom prst="rect">
            <a:avLst/>
          </a:prstGeom>
          <a:noFill/>
          <a:ln>
            <a:noFill/>
          </a:ln>
        </p:spPr>
        <p:txBody>
          <a:bodyPr spcFirstLastPara="1" wrap="square" lIns="91425" tIns="91425" rIns="91425" bIns="91425" anchor="t" anchorCtr="0">
            <a:spAutoFit/>
          </a:bodyPr>
          <a:lstStyle/>
          <a:p>
            <a:pPr marL="0" lvl="0" indent="0" algn="ctr" rtl="0">
              <a:spcBef>
                <a:spcPts val="360"/>
              </a:spcBef>
              <a:spcAft>
                <a:spcPts val="0"/>
              </a:spcAft>
              <a:buNone/>
            </a:pPr>
            <a:r>
              <a:rPr lang="en" sz="1700">
                <a:solidFill>
                  <a:schemeClr val="dk2"/>
                </a:solidFill>
                <a:latin typeface="Roboto"/>
                <a:ea typeface="Roboto"/>
                <a:cs typeface="Roboto"/>
                <a:sym typeface="Roboto"/>
              </a:rPr>
              <a:t>LLMs have no knowledge beyond training date, and frequent updates</a:t>
            </a:r>
            <a:br>
              <a:rPr lang="en" sz="1700">
                <a:solidFill>
                  <a:schemeClr val="dk2"/>
                </a:solidFill>
                <a:latin typeface="Roboto"/>
                <a:ea typeface="Roboto"/>
                <a:cs typeface="Roboto"/>
                <a:sym typeface="Roboto"/>
              </a:rPr>
            </a:br>
            <a:r>
              <a:rPr lang="en" sz="1700">
                <a:solidFill>
                  <a:schemeClr val="dk2"/>
                </a:solidFill>
                <a:latin typeface="Roboto"/>
                <a:ea typeface="Roboto"/>
                <a:cs typeface="Roboto"/>
                <a:sym typeface="Roboto"/>
              </a:rPr>
              <a:t>to model are impractical.</a:t>
            </a:r>
            <a:endParaRPr sz="1700">
              <a:solidFill>
                <a:schemeClr val="dk2"/>
              </a:solidFill>
              <a:latin typeface="Roboto"/>
              <a:ea typeface="Roboto"/>
              <a:cs typeface="Roboto"/>
              <a:sym typeface="Roboto"/>
            </a:endParaRPr>
          </a:p>
        </p:txBody>
      </p:sp>
      <p:grpSp>
        <p:nvGrpSpPr>
          <p:cNvPr id="551" name="Google Shape;551;p64"/>
          <p:cNvGrpSpPr/>
          <p:nvPr/>
        </p:nvGrpSpPr>
        <p:grpSpPr>
          <a:xfrm>
            <a:off x="4619625" y="2480067"/>
            <a:ext cx="3649775" cy="1652453"/>
            <a:chOff x="4924425" y="2484776"/>
            <a:chExt cx="3600449" cy="1647674"/>
          </a:xfrm>
        </p:grpSpPr>
        <p:pic>
          <p:nvPicPr>
            <p:cNvPr id="552" name="Google Shape;552;p64"/>
            <p:cNvPicPr preferRelativeResize="0"/>
            <p:nvPr/>
          </p:nvPicPr>
          <p:blipFill>
            <a:blip r:embed="rId3">
              <a:alphaModFix/>
            </a:blip>
            <a:stretch>
              <a:fillRect/>
            </a:stretch>
          </p:blipFill>
          <p:spPr>
            <a:xfrm>
              <a:off x="4924425" y="2484776"/>
              <a:ext cx="3600449" cy="1647674"/>
            </a:xfrm>
            <a:prstGeom prst="rect">
              <a:avLst/>
            </a:prstGeom>
            <a:noFill/>
            <a:ln>
              <a:noFill/>
            </a:ln>
          </p:spPr>
        </p:pic>
        <p:sp>
          <p:nvSpPr>
            <p:cNvPr id="553" name="Google Shape;553;p64"/>
            <p:cNvSpPr/>
            <p:nvPr/>
          </p:nvSpPr>
          <p:spPr>
            <a:xfrm>
              <a:off x="6124055" y="3019947"/>
              <a:ext cx="1125900" cy="273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554" name="Google Shape;554;p64"/>
            <p:cNvSpPr/>
            <p:nvPr/>
          </p:nvSpPr>
          <p:spPr>
            <a:xfrm>
              <a:off x="5029580" y="3030475"/>
              <a:ext cx="936600" cy="273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555" name="Google Shape;555;p64"/>
            <p:cNvSpPr/>
            <p:nvPr/>
          </p:nvSpPr>
          <p:spPr>
            <a:xfrm>
              <a:off x="7460405" y="3019953"/>
              <a:ext cx="936600" cy="273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65"/>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Two Modes of Human Thought</a:t>
            </a:r>
            <a:endParaRPr/>
          </a:p>
        </p:txBody>
      </p:sp>
      <p:pic>
        <p:nvPicPr>
          <p:cNvPr id="561" name="Google Shape;561;p65"/>
          <p:cNvPicPr preferRelativeResize="0"/>
          <p:nvPr/>
        </p:nvPicPr>
        <p:blipFill>
          <a:blip r:embed="rId3">
            <a:alphaModFix/>
          </a:blip>
          <a:stretch>
            <a:fillRect/>
          </a:stretch>
        </p:blipFill>
        <p:spPr>
          <a:xfrm>
            <a:off x="502700" y="1850004"/>
            <a:ext cx="5585999" cy="2906701"/>
          </a:xfrm>
          <a:prstGeom prst="rect">
            <a:avLst/>
          </a:prstGeom>
          <a:noFill/>
          <a:ln>
            <a:noFill/>
          </a:ln>
        </p:spPr>
      </p:pic>
      <p:pic>
        <p:nvPicPr>
          <p:cNvPr id="562" name="Google Shape;562;p65"/>
          <p:cNvPicPr preferRelativeResize="0"/>
          <p:nvPr/>
        </p:nvPicPr>
        <p:blipFill>
          <a:blip r:embed="rId4">
            <a:alphaModFix/>
          </a:blip>
          <a:stretch>
            <a:fillRect/>
          </a:stretch>
        </p:blipFill>
        <p:spPr>
          <a:xfrm>
            <a:off x="6479050" y="1583874"/>
            <a:ext cx="2133600" cy="3162450"/>
          </a:xfrm>
          <a:prstGeom prst="rect">
            <a:avLst/>
          </a:prstGeom>
          <a:noFill/>
          <a:ln>
            <a:noFill/>
          </a:ln>
        </p:spPr>
      </p:pic>
      <p:sp>
        <p:nvSpPr>
          <p:cNvPr id="563" name="Google Shape;563;p65"/>
          <p:cNvSpPr txBox="1"/>
          <p:nvPr/>
        </p:nvSpPr>
        <p:spPr>
          <a:xfrm>
            <a:off x="694750" y="979500"/>
            <a:ext cx="79179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a:solidFill>
                  <a:schemeClr val="dk2"/>
                </a:solidFill>
                <a:latin typeface="Roboto"/>
                <a:ea typeface="Roboto"/>
                <a:cs typeface="Roboto"/>
                <a:sym typeface="Roboto"/>
              </a:rPr>
              <a:t>Prompting and Fine-Tuning can still only yield a (better) System 1</a:t>
            </a:r>
            <a:endParaRPr sz="1600">
              <a:solidFill>
                <a:schemeClr val="dk2"/>
              </a:solidFill>
              <a:latin typeface="Roboto"/>
              <a:ea typeface="Roboto"/>
              <a:cs typeface="Roboto"/>
              <a:sym typeface="Roboto"/>
            </a:endParaRPr>
          </a:p>
        </p:txBody>
      </p:sp>
      <p:sp>
        <p:nvSpPr>
          <p:cNvPr id="564" name="Google Shape;564;p65"/>
          <p:cNvSpPr txBox="1">
            <a:spLocks noGrp="1"/>
          </p:cNvSpPr>
          <p:nvPr>
            <p:ph type="body" idx="1"/>
          </p:nvPr>
        </p:nvSpPr>
        <p:spPr>
          <a:xfrm>
            <a:off x="1192466" y="1531212"/>
            <a:ext cx="1532100" cy="6147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 b="1"/>
              <a:t>System 1</a:t>
            </a:r>
            <a:endParaRPr b="1"/>
          </a:p>
        </p:txBody>
      </p:sp>
      <p:sp>
        <p:nvSpPr>
          <p:cNvPr id="565" name="Google Shape;565;p65"/>
          <p:cNvSpPr txBox="1">
            <a:spLocks noGrp="1"/>
          </p:cNvSpPr>
          <p:nvPr>
            <p:ph type="body" idx="1"/>
          </p:nvPr>
        </p:nvSpPr>
        <p:spPr>
          <a:xfrm>
            <a:off x="4318591" y="1515362"/>
            <a:ext cx="1532100" cy="6147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1200"/>
              </a:spcAft>
              <a:buNone/>
            </a:pPr>
            <a:r>
              <a:rPr lang="en" b="1"/>
              <a:t>System 2</a:t>
            </a:r>
            <a:endParaRPr b="1"/>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66"/>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Neurosymbolic To Combine Both Worlds</a:t>
            </a:r>
            <a:endParaRPr/>
          </a:p>
        </p:txBody>
      </p:sp>
      <p:sp>
        <p:nvSpPr>
          <p:cNvPr id="571" name="Google Shape;571;p66"/>
          <p:cNvSpPr txBox="1"/>
          <p:nvPr/>
        </p:nvSpPr>
        <p:spPr>
          <a:xfrm>
            <a:off x="5217261" y="1161375"/>
            <a:ext cx="2907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rgbClr val="70AFE4"/>
                </a:solidFill>
                <a:latin typeface="Montserrat"/>
                <a:ea typeface="Montserrat"/>
                <a:cs typeface="Montserrat"/>
                <a:sym typeface="Montserrat"/>
              </a:rPr>
              <a:t>Classical Algorithms</a:t>
            </a:r>
            <a:endParaRPr sz="2000" b="1">
              <a:solidFill>
                <a:srgbClr val="70AFE4"/>
              </a:solidFill>
              <a:latin typeface="Montserrat"/>
              <a:ea typeface="Montserrat"/>
              <a:cs typeface="Montserrat"/>
              <a:sym typeface="Montserrat"/>
            </a:endParaRPr>
          </a:p>
        </p:txBody>
      </p:sp>
      <p:sp>
        <p:nvSpPr>
          <p:cNvPr id="572" name="Google Shape;572;p66"/>
          <p:cNvSpPr txBox="1"/>
          <p:nvPr/>
        </p:nvSpPr>
        <p:spPr>
          <a:xfrm>
            <a:off x="1146375" y="1146550"/>
            <a:ext cx="2349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rgbClr val="EE8DC0"/>
                </a:solidFill>
                <a:latin typeface="Montserrat"/>
                <a:ea typeface="Montserrat"/>
                <a:cs typeface="Montserrat"/>
                <a:sym typeface="Montserrat"/>
              </a:rPr>
              <a:t>Deep Learning</a:t>
            </a:r>
            <a:endParaRPr sz="2000" b="1">
              <a:solidFill>
                <a:srgbClr val="EE8DC0"/>
              </a:solidFill>
              <a:latin typeface="Montserrat"/>
              <a:ea typeface="Montserrat"/>
              <a:cs typeface="Montserrat"/>
              <a:sym typeface="Montserrat"/>
            </a:endParaRPr>
          </a:p>
        </p:txBody>
      </p:sp>
      <p:sp>
        <p:nvSpPr>
          <p:cNvPr id="573" name="Google Shape;573;p66"/>
          <p:cNvSpPr txBox="1"/>
          <p:nvPr/>
        </p:nvSpPr>
        <p:spPr>
          <a:xfrm>
            <a:off x="6122099" y="1567325"/>
            <a:ext cx="128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rgbClr val="44464B"/>
                </a:solidFill>
                <a:latin typeface="Gill Sans"/>
                <a:ea typeface="Gill Sans"/>
                <a:cs typeface="Gill Sans"/>
                <a:sym typeface="Gill Sans"/>
              </a:rPr>
              <a:t>[System 2]</a:t>
            </a:r>
            <a:endParaRPr sz="1600" b="1">
              <a:solidFill>
                <a:srgbClr val="44464B"/>
              </a:solidFill>
              <a:latin typeface="Gill Sans"/>
              <a:ea typeface="Gill Sans"/>
              <a:cs typeface="Gill Sans"/>
              <a:sym typeface="Gill Sans"/>
            </a:endParaRPr>
          </a:p>
        </p:txBody>
      </p:sp>
      <p:sp>
        <p:nvSpPr>
          <p:cNvPr id="574" name="Google Shape;574;p66"/>
          <p:cNvSpPr txBox="1"/>
          <p:nvPr/>
        </p:nvSpPr>
        <p:spPr>
          <a:xfrm>
            <a:off x="1590975" y="1566675"/>
            <a:ext cx="14760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rgbClr val="44464B"/>
                </a:solidFill>
                <a:latin typeface="Gill Sans"/>
                <a:ea typeface="Gill Sans"/>
                <a:cs typeface="Gill Sans"/>
                <a:sym typeface="Gill Sans"/>
              </a:rPr>
              <a:t>[System 1]</a:t>
            </a:r>
            <a:endParaRPr sz="1600" b="1">
              <a:solidFill>
                <a:srgbClr val="44464B"/>
              </a:solidFill>
              <a:latin typeface="Gill Sans"/>
              <a:ea typeface="Gill Sans"/>
              <a:cs typeface="Gill Sans"/>
              <a:sym typeface="Gill Sans"/>
            </a:endParaRPr>
          </a:p>
        </p:txBody>
      </p:sp>
      <p:sp>
        <p:nvSpPr>
          <p:cNvPr id="575" name="Google Shape;575;p66"/>
          <p:cNvSpPr txBox="1"/>
          <p:nvPr/>
        </p:nvSpPr>
        <p:spPr>
          <a:xfrm>
            <a:off x="2562763" y="3984720"/>
            <a:ext cx="6183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a:solidFill>
                  <a:srgbClr val="595959"/>
                </a:solidFill>
              </a:rPr>
              <a:t>⊕</a:t>
            </a:r>
            <a:endParaRPr sz="3000">
              <a:solidFill>
                <a:srgbClr val="595959"/>
              </a:solidFill>
            </a:endParaRPr>
          </a:p>
        </p:txBody>
      </p:sp>
      <p:sp>
        <p:nvSpPr>
          <p:cNvPr id="576" name="Google Shape;576;p66"/>
          <p:cNvSpPr txBox="1"/>
          <p:nvPr/>
        </p:nvSpPr>
        <p:spPr>
          <a:xfrm>
            <a:off x="3210478" y="4089180"/>
            <a:ext cx="12753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rgbClr val="70AFE4"/>
                </a:solidFill>
                <a:latin typeface="Montserrat"/>
                <a:ea typeface="Montserrat"/>
                <a:cs typeface="Montserrat"/>
                <a:sym typeface="Montserrat"/>
              </a:rPr>
              <a:t>symbolic</a:t>
            </a:r>
            <a:endParaRPr sz="1700" b="1">
              <a:solidFill>
                <a:srgbClr val="70AFE4"/>
              </a:solidFill>
              <a:latin typeface="Montserrat"/>
              <a:ea typeface="Montserrat"/>
              <a:cs typeface="Montserrat"/>
              <a:sym typeface="Montserrat"/>
            </a:endParaRPr>
          </a:p>
        </p:txBody>
      </p:sp>
      <p:sp>
        <p:nvSpPr>
          <p:cNvPr id="577" name="Google Shape;577;p66"/>
          <p:cNvSpPr txBox="1"/>
          <p:nvPr/>
        </p:nvSpPr>
        <p:spPr>
          <a:xfrm>
            <a:off x="1540693" y="4097800"/>
            <a:ext cx="10152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rgbClr val="EE8DC0"/>
                </a:solidFill>
                <a:latin typeface="Montserrat"/>
                <a:ea typeface="Montserrat"/>
                <a:cs typeface="Montserrat"/>
                <a:sym typeface="Montserrat"/>
              </a:rPr>
              <a:t>neural</a:t>
            </a:r>
            <a:endParaRPr sz="1700" b="1">
              <a:solidFill>
                <a:srgbClr val="EE8DC0"/>
              </a:solidFill>
              <a:latin typeface="Montserrat"/>
              <a:ea typeface="Montserrat"/>
              <a:cs typeface="Montserrat"/>
              <a:sym typeface="Montserrat"/>
            </a:endParaRPr>
          </a:p>
        </p:txBody>
      </p:sp>
      <p:sp>
        <p:nvSpPr>
          <p:cNvPr id="578" name="Google Shape;578;p66"/>
          <p:cNvSpPr txBox="1"/>
          <p:nvPr/>
        </p:nvSpPr>
        <p:spPr>
          <a:xfrm>
            <a:off x="4704648" y="3997760"/>
            <a:ext cx="6183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a:solidFill>
                  <a:srgbClr val="595959"/>
                </a:solidFill>
              </a:rPr>
              <a:t>=</a:t>
            </a:r>
            <a:endParaRPr sz="3000">
              <a:solidFill>
                <a:srgbClr val="595959"/>
              </a:solidFill>
            </a:endParaRPr>
          </a:p>
        </p:txBody>
      </p:sp>
      <p:sp>
        <p:nvSpPr>
          <p:cNvPr id="579" name="Google Shape;579;p66"/>
          <p:cNvSpPr txBox="1"/>
          <p:nvPr/>
        </p:nvSpPr>
        <p:spPr>
          <a:xfrm>
            <a:off x="5431013" y="4083035"/>
            <a:ext cx="2400900" cy="446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rgbClr val="EE8DC0"/>
                </a:solidFill>
                <a:latin typeface="Montserrat"/>
                <a:ea typeface="Montserrat"/>
                <a:cs typeface="Montserrat"/>
                <a:sym typeface="Montserrat"/>
              </a:rPr>
              <a:t>neuro</a:t>
            </a:r>
            <a:r>
              <a:rPr lang="en" sz="1700" b="1">
                <a:solidFill>
                  <a:srgbClr val="70AFE4"/>
                </a:solidFill>
                <a:latin typeface="Montserrat"/>
                <a:ea typeface="Montserrat"/>
                <a:cs typeface="Montserrat"/>
                <a:sym typeface="Montserrat"/>
              </a:rPr>
              <a:t>symbolic</a:t>
            </a:r>
            <a:endParaRPr sz="1700" b="1">
              <a:solidFill>
                <a:srgbClr val="70AFE4"/>
              </a:solidFill>
              <a:latin typeface="Montserrat"/>
              <a:ea typeface="Montserrat"/>
              <a:cs typeface="Montserrat"/>
              <a:sym typeface="Montserrat"/>
            </a:endParaRPr>
          </a:p>
        </p:txBody>
      </p:sp>
      <p:sp>
        <p:nvSpPr>
          <p:cNvPr id="580" name="Google Shape;580;p66"/>
          <p:cNvSpPr/>
          <p:nvPr/>
        </p:nvSpPr>
        <p:spPr>
          <a:xfrm>
            <a:off x="4953500" y="2142600"/>
            <a:ext cx="3582900" cy="1569300"/>
          </a:xfrm>
          <a:prstGeom prst="roundRect">
            <a:avLst>
              <a:gd name="adj" fmla="val 8595"/>
            </a:avLst>
          </a:prstGeom>
          <a:solidFill>
            <a:srgbClr val="89C5FF">
              <a:alpha val="26360"/>
            </a:srgbClr>
          </a:solidFill>
          <a:ln w="9525" cap="flat" cmpd="sng">
            <a:solidFill>
              <a:srgbClr val="97C0E8"/>
            </a:solidFill>
            <a:prstDash val="solid"/>
            <a:round/>
            <a:headEnd type="none" w="sm" len="sm"/>
            <a:tailEnd type="none" w="sm" len="sm"/>
          </a:ln>
        </p:spPr>
        <p:txBody>
          <a:bodyPr spcFirstLastPara="1" wrap="square" lIns="91425" tIns="91425" rIns="91425" bIns="91425" anchor="ctr" anchorCtr="0">
            <a:noAutofit/>
          </a:bodyPr>
          <a:lstStyle/>
          <a:p>
            <a:pPr marL="457200" lvl="0" indent="-336550" algn="l" rtl="0">
              <a:spcBef>
                <a:spcPts val="0"/>
              </a:spcBef>
              <a:spcAft>
                <a:spcPts val="0"/>
              </a:spcAft>
              <a:buClr>
                <a:srgbClr val="000000"/>
              </a:buClr>
              <a:buSzPts val="1700"/>
              <a:buFont typeface="Gill Sans"/>
              <a:buChar char="-"/>
            </a:pPr>
            <a:r>
              <a:rPr lang="en" sz="1700">
                <a:solidFill>
                  <a:srgbClr val="000000"/>
                </a:solidFill>
                <a:latin typeface="Gill Sans"/>
                <a:ea typeface="Gill Sans"/>
                <a:cs typeface="Gill Sans"/>
                <a:sym typeface="Gill Sans"/>
              </a:rPr>
              <a:t>Domain-specific knowledge</a:t>
            </a:r>
            <a:endParaRPr sz="1700">
              <a:solidFill>
                <a:srgbClr val="000000"/>
              </a:solidFill>
              <a:latin typeface="Gill Sans"/>
              <a:ea typeface="Gill Sans"/>
              <a:cs typeface="Gill Sans"/>
              <a:sym typeface="Gill Sans"/>
            </a:endParaRPr>
          </a:p>
          <a:p>
            <a:pPr marL="457200" lvl="0" indent="-336550" algn="l" rtl="0">
              <a:spcBef>
                <a:spcPts val="0"/>
              </a:spcBef>
              <a:spcAft>
                <a:spcPts val="0"/>
              </a:spcAft>
              <a:buClr>
                <a:srgbClr val="000000"/>
              </a:buClr>
              <a:buSzPts val="1700"/>
              <a:buFont typeface="Gill Sans"/>
              <a:buChar char="-"/>
            </a:pPr>
            <a:r>
              <a:rPr lang="en" sz="1700">
                <a:solidFill>
                  <a:srgbClr val="000000"/>
                </a:solidFill>
                <a:latin typeface="Gill Sans"/>
                <a:ea typeface="Gill Sans"/>
                <a:cs typeface="Gill Sans"/>
                <a:sym typeface="Gill Sans"/>
              </a:rPr>
              <a:t>Complex reasoning</a:t>
            </a:r>
            <a:endParaRPr sz="1700">
              <a:solidFill>
                <a:srgbClr val="000000"/>
              </a:solidFill>
              <a:latin typeface="Gill Sans"/>
              <a:ea typeface="Gill Sans"/>
              <a:cs typeface="Gill Sans"/>
              <a:sym typeface="Gill Sans"/>
            </a:endParaRPr>
          </a:p>
          <a:p>
            <a:pPr marL="457200" lvl="0" indent="-336550" algn="l" rtl="0">
              <a:spcBef>
                <a:spcPts val="0"/>
              </a:spcBef>
              <a:spcAft>
                <a:spcPts val="0"/>
              </a:spcAft>
              <a:buClr>
                <a:srgbClr val="000000"/>
              </a:buClr>
              <a:buSzPts val="1700"/>
              <a:buFont typeface="Gill Sans"/>
              <a:buChar char="-"/>
            </a:pPr>
            <a:r>
              <a:rPr lang="en" sz="1700">
                <a:solidFill>
                  <a:srgbClr val="000000"/>
                </a:solidFill>
                <a:latin typeface="Gill Sans"/>
                <a:ea typeface="Gill Sans"/>
                <a:cs typeface="Gill Sans"/>
                <a:sym typeface="Gill Sans"/>
              </a:rPr>
              <a:t>Interpretability</a:t>
            </a:r>
            <a:endParaRPr sz="1700">
              <a:solidFill>
                <a:srgbClr val="000000"/>
              </a:solidFill>
              <a:latin typeface="Gill Sans"/>
              <a:ea typeface="Gill Sans"/>
              <a:cs typeface="Gill Sans"/>
              <a:sym typeface="Gill Sans"/>
            </a:endParaRPr>
          </a:p>
          <a:p>
            <a:pPr marL="457200" lvl="0" indent="-336550" algn="l" rtl="0">
              <a:spcBef>
                <a:spcPts val="0"/>
              </a:spcBef>
              <a:spcAft>
                <a:spcPts val="0"/>
              </a:spcAft>
              <a:buClr>
                <a:srgbClr val="000000"/>
              </a:buClr>
              <a:buSzPts val="1700"/>
              <a:buFont typeface="Gill Sans"/>
              <a:buChar char="-"/>
            </a:pPr>
            <a:r>
              <a:rPr lang="en" sz="1700">
                <a:solidFill>
                  <a:srgbClr val="000000"/>
                </a:solidFill>
                <a:latin typeface="Gill Sans"/>
                <a:ea typeface="Gill Sans"/>
                <a:cs typeface="Gill Sans"/>
                <a:sym typeface="Gill Sans"/>
              </a:rPr>
              <a:t>Compositional reasoning</a:t>
            </a:r>
            <a:endParaRPr sz="1700">
              <a:solidFill>
                <a:srgbClr val="000000"/>
              </a:solidFill>
              <a:latin typeface="Gill Sans"/>
              <a:ea typeface="Gill Sans"/>
              <a:cs typeface="Gill Sans"/>
              <a:sym typeface="Gill Sans"/>
            </a:endParaRPr>
          </a:p>
          <a:p>
            <a:pPr marL="457200" lvl="0" indent="-336550" algn="l" rtl="0">
              <a:spcBef>
                <a:spcPts val="0"/>
              </a:spcBef>
              <a:spcAft>
                <a:spcPts val="0"/>
              </a:spcAft>
              <a:buClr>
                <a:srgbClr val="000000"/>
              </a:buClr>
              <a:buSzPts val="1700"/>
              <a:buFont typeface="Gill Sans"/>
              <a:buChar char="-"/>
            </a:pPr>
            <a:r>
              <a:rPr lang="en" sz="1700">
                <a:solidFill>
                  <a:srgbClr val="000000"/>
                </a:solidFill>
                <a:latin typeface="Gill Sans"/>
                <a:ea typeface="Gill Sans"/>
                <a:cs typeface="Gill Sans"/>
                <a:sym typeface="Gill Sans"/>
              </a:rPr>
              <a:t>Generalizability</a:t>
            </a:r>
            <a:endParaRPr sz="1700">
              <a:solidFill>
                <a:srgbClr val="000000"/>
              </a:solidFill>
              <a:latin typeface="Gill Sans"/>
              <a:ea typeface="Gill Sans"/>
              <a:cs typeface="Gill Sans"/>
              <a:sym typeface="Gill Sans"/>
            </a:endParaRPr>
          </a:p>
        </p:txBody>
      </p:sp>
      <p:sp>
        <p:nvSpPr>
          <p:cNvPr id="581" name="Google Shape;581;p66"/>
          <p:cNvSpPr/>
          <p:nvPr/>
        </p:nvSpPr>
        <p:spPr>
          <a:xfrm>
            <a:off x="525575" y="2142600"/>
            <a:ext cx="3666900" cy="1569300"/>
          </a:xfrm>
          <a:prstGeom prst="roundRect">
            <a:avLst>
              <a:gd name="adj" fmla="val 11293"/>
            </a:avLst>
          </a:prstGeom>
          <a:solidFill>
            <a:srgbClr val="EE8DC0">
              <a:alpha val="17270"/>
            </a:srgbClr>
          </a:solidFill>
          <a:ln w="9525" cap="flat" cmpd="sng">
            <a:solidFill>
              <a:srgbClr val="EE8DC0"/>
            </a:solidFill>
            <a:prstDash val="solid"/>
            <a:round/>
            <a:headEnd type="none" w="sm" len="sm"/>
            <a:tailEnd type="none" w="sm" len="sm"/>
          </a:ln>
        </p:spPr>
        <p:txBody>
          <a:bodyPr spcFirstLastPara="1" wrap="square" lIns="91425" tIns="91425" rIns="91425" bIns="91425" anchor="ctr" anchorCtr="0">
            <a:noAutofit/>
          </a:bodyPr>
          <a:lstStyle/>
          <a:p>
            <a:pPr marL="457200" lvl="0" indent="-336550" algn="l" rtl="0">
              <a:spcBef>
                <a:spcPts val="0"/>
              </a:spcBef>
              <a:spcAft>
                <a:spcPts val="0"/>
              </a:spcAft>
              <a:buClr>
                <a:srgbClr val="000000"/>
              </a:buClr>
              <a:buSzPts val="1700"/>
              <a:buFont typeface="Gill Sans"/>
              <a:buChar char="-"/>
            </a:pPr>
            <a:r>
              <a:rPr lang="en" sz="1700">
                <a:solidFill>
                  <a:srgbClr val="000000"/>
                </a:solidFill>
                <a:latin typeface="Gill Sans"/>
                <a:ea typeface="Gill Sans"/>
                <a:cs typeface="Gill Sans"/>
                <a:sym typeface="Gill Sans"/>
              </a:rPr>
              <a:t>Sub-symbolic knowledge</a:t>
            </a:r>
            <a:endParaRPr sz="1700">
              <a:solidFill>
                <a:srgbClr val="000000"/>
              </a:solidFill>
              <a:latin typeface="Gill Sans"/>
              <a:ea typeface="Gill Sans"/>
              <a:cs typeface="Gill Sans"/>
              <a:sym typeface="Gill Sans"/>
            </a:endParaRPr>
          </a:p>
          <a:p>
            <a:pPr marL="457200" lvl="0" indent="-336550" algn="l" rtl="0">
              <a:spcBef>
                <a:spcPts val="0"/>
              </a:spcBef>
              <a:spcAft>
                <a:spcPts val="0"/>
              </a:spcAft>
              <a:buClr>
                <a:srgbClr val="000000"/>
              </a:buClr>
              <a:buSzPts val="1700"/>
              <a:buFont typeface="Gill Sans"/>
              <a:buChar char="-"/>
            </a:pPr>
            <a:r>
              <a:rPr lang="en" sz="1700">
                <a:solidFill>
                  <a:srgbClr val="000000"/>
                </a:solidFill>
                <a:latin typeface="Gill Sans"/>
                <a:ea typeface="Gill Sans"/>
                <a:cs typeface="Gill Sans"/>
                <a:sym typeface="Gill Sans"/>
              </a:rPr>
              <a:t>Open-domain knowledge</a:t>
            </a:r>
            <a:endParaRPr sz="1700">
              <a:solidFill>
                <a:srgbClr val="000000"/>
              </a:solidFill>
              <a:latin typeface="Gill Sans"/>
              <a:ea typeface="Gill Sans"/>
              <a:cs typeface="Gill Sans"/>
              <a:sym typeface="Gill Sans"/>
            </a:endParaRPr>
          </a:p>
          <a:p>
            <a:pPr marL="457200" lvl="0" indent="-336550" algn="l" rtl="0">
              <a:spcBef>
                <a:spcPts val="0"/>
              </a:spcBef>
              <a:spcAft>
                <a:spcPts val="0"/>
              </a:spcAft>
              <a:buClr>
                <a:srgbClr val="000000"/>
              </a:buClr>
              <a:buSzPts val="1700"/>
              <a:buFont typeface="Gill Sans"/>
              <a:buChar char="-"/>
            </a:pPr>
            <a:r>
              <a:rPr lang="en" sz="1700">
                <a:solidFill>
                  <a:srgbClr val="000000"/>
                </a:solidFill>
                <a:latin typeface="Gill Sans"/>
                <a:ea typeface="Gill Sans"/>
                <a:cs typeface="Gill Sans"/>
                <a:sym typeface="Gill Sans"/>
              </a:rPr>
              <a:t>Rapid reasoning</a:t>
            </a:r>
            <a:endParaRPr sz="1700">
              <a:solidFill>
                <a:srgbClr val="000000"/>
              </a:solidFill>
              <a:latin typeface="Gill Sans"/>
              <a:ea typeface="Gill Sans"/>
              <a:cs typeface="Gill Sans"/>
              <a:sym typeface="Gill Sans"/>
            </a:endParaRPr>
          </a:p>
          <a:p>
            <a:pPr marL="457200" lvl="0" indent="-336550" algn="l" rtl="0">
              <a:spcBef>
                <a:spcPts val="0"/>
              </a:spcBef>
              <a:spcAft>
                <a:spcPts val="0"/>
              </a:spcAft>
              <a:buClr>
                <a:srgbClr val="000000"/>
              </a:buClr>
              <a:buSzPts val="1700"/>
              <a:buFont typeface="Gill Sans"/>
              <a:buChar char="-"/>
            </a:pPr>
            <a:r>
              <a:rPr lang="en" sz="1700">
                <a:solidFill>
                  <a:srgbClr val="000000"/>
                </a:solidFill>
                <a:latin typeface="Gill Sans"/>
                <a:ea typeface="Gill Sans"/>
                <a:cs typeface="Gill Sans"/>
                <a:sym typeface="Gill Sans"/>
              </a:rPr>
              <a:t>Handling noise and naturalness</a:t>
            </a:r>
            <a:endParaRPr sz="1700">
              <a:solidFill>
                <a:srgbClr val="000000"/>
              </a:solidFill>
              <a:latin typeface="Gill Sans"/>
              <a:ea typeface="Gill Sans"/>
              <a:cs typeface="Gill Sans"/>
              <a:sym typeface="Gill Sans"/>
            </a:endParaRPr>
          </a:p>
          <a:p>
            <a:pPr marL="457200" lvl="0" indent="-336550" algn="l" rtl="0">
              <a:spcBef>
                <a:spcPts val="0"/>
              </a:spcBef>
              <a:spcAft>
                <a:spcPts val="0"/>
              </a:spcAft>
              <a:buClr>
                <a:srgbClr val="000000"/>
              </a:buClr>
              <a:buSzPts val="1700"/>
              <a:buFont typeface="Gill Sans"/>
              <a:buChar char="-"/>
            </a:pPr>
            <a:r>
              <a:rPr lang="en" sz="1700">
                <a:solidFill>
                  <a:srgbClr val="000000"/>
                </a:solidFill>
                <a:latin typeface="Gill Sans"/>
                <a:ea typeface="Gill Sans"/>
                <a:cs typeface="Gill Sans"/>
                <a:sym typeface="Gill Sans"/>
              </a:rPr>
              <a:t>In-context learning</a:t>
            </a:r>
            <a:endParaRPr sz="1700">
              <a:latin typeface="Gill Sans"/>
              <a:ea typeface="Gill Sans"/>
              <a:cs typeface="Gill Sans"/>
              <a:sym typeface="Gill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67"/>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Extracting Knowledge Using GPT</a:t>
            </a:r>
            <a:endParaRPr/>
          </a:p>
        </p:txBody>
      </p:sp>
      <p:sp>
        <p:nvSpPr>
          <p:cNvPr id="587" name="Google Shape;587;p67"/>
          <p:cNvSpPr txBox="1"/>
          <p:nvPr/>
        </p:nvSpPr>
        <p:spPr>
          <a:xfrm>
            <a:off x="2244625" y="1723375"/>
            <a:ext cx="4209300" cy="869700"/>
          </a:xfrm>
          <a:prstGeom prst="rect">
            <a:avLst/>
          </a:prstGeom>
          <a:noFill/>
          <a:ln w="9525" cap="flat" cmpd="sng">
            <a:solidFill>
              <a:schemeClr val="accent3"/>
            </a:solidFill>
            <a:prstDash val="solid"/>
            <a:round/>
            <a:headEnd type="none" w="sm" len="sm"/>
            <a:tailEnd type="none" w="sm" len="sm"/>
          </a:ln>
        </p:spPr>
        <p:txBody>
          <a:bodyPr spcFirstLastPara="1" wrap="square" lIns="0" tIns="91425" rIns="0" bIns="91425" anchor="t" anchorCtr="0">
            <a:spAutoFit/>
          </a:bodyPr>
          <a:lstStyle/>
          <a:p>
            <a:pPr marL="0" lvl="0" indent="0" algn="l" rtl="0">
              <a:lnSpc>
                <a:spcPct val="115000"/>
              </a:lnSpc>
              <a:spcBef>
                <a:spcPts val="0"/>
              </a:spcBef>
              <a:spcAft>
                <a:spcPts val="0"/>
              </a:spcAft>
              <a:buNone/>
            </a:pPr>
            <a:r>
              <a:rPr lang="en" sz="1000">
                <a:solidFill>
                  <a:srgbClr val="1F2328"/>
                </a:solidFill>
                <a:latin typeface="Roboto Mono"/>
                <a:ea typeface="Roboto Mono"/>
                <a:cs typeface="Roboto Mono"/>
                <a:sym typeface="Roboto Mono"/>
              </a:rPr>
              <a:t> @</a:t>
            </a:r>
            <a:r>
              <a:rPr lang="en" sz="1000" b="1">
                <a:solidFill>
                  <a:srgbClr val="0550AE"/>
                </a:solidFill>
                <a:latin typeface="Roboto Mono"/>
                <a:ea typeface="Roboto Mono"/>
                <a:cs typeface="Roboto Mono"/>
                <a:sym typeface="Roboto Mono"/>
              </a:rPr>
              <a:t>gpt</a:t>
            </a:r>
            <a:r>
              <a:rPr lang="en" sz="1000">
                <a:solidFill>
                  <a:srgbClr val="1F2328"/>
                </a:solidFill>
                <a:latin typeface="Roboto Mono"/>
                <a:ea typeface="Roboto Mono"/>
                <a:cs typeface="Roboto Mono"/>
                <a:sym typeface="Roboto Mono"/>
              </a:rPr>
              <a:t>(</a:t>
            </a:r>
            <a:r>
              <a:rPr lang="en" sz="1000" b="1">
                <a:solidFill>
                  <a:srgbClr val="FF9900"/>
                </a:solidFill>
                <a:latin typeface="Roboto Mono"/>
                <a:ea typeface="Roboto Mono"/>
                <a:cs typeface="Roboto Mono"/>
                <a:sym typeface="Roboto Mono"/>
              </a:rPr>
              <a:t>“The height of {{x}} is {{y}} in meters”</a:t>
            </a:r>
            <a:r>
              <a:rPr lang="en" sz="1000">
                <a:solidFill>
                  <a:srgbClr val="1F2328"/>
                </a:solidFill>
                <a:latin typeface="Roboto Mono"/>
                <a:ea typeface="Roboto Mono"/>
                <a:cs typeface="Roboto Mono"/>
                <a:sym typeface="Roboto Mono"/>
              </a:rPr>
              <a:t>)</a:t>
            </a:r>
            <a:endParaRPr sz="1000">
              <a:solidFill>
                <a:srgbClr val="1F2328"/>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000" b="1">
                <a:solidFill>
                  <a:srgbClr val="0432FF"/>
                </a:solidFill>
                <a:latin typeface="Roboto Mono"/>
                <a:ea typeface="Roboto Mono"/>
                <a:cs typeface="Roboto Mono"/>
                <a:sym typeface="Roboto Mono"/>
              </a:rPr>
              <a:t> type</a:t>
            </a:r>
            <a:r>
              <a:rPr lang="en" sz="1000">
                <a:solidFill>
                  <a:srgbClr val="1F2328"/>
                </a:solidFill>
                <a:latin typeface="Roboto Mono"/>
                <a:ea typeface="Roboto Mono"/>
                <a:cs typeface="Roboto Mono"/>
                <a:sym typeface="Roboto Mono"/>
              </a:rPr>
              <a:t> </a:t>
            </a:r>
            <a:r>
              <a:rPr lang="en" sz="1000" b="1">
                <a:solidFill>
                  <a:srgbClr val="A31515"/>
                </a:solidFill>
                <a:latin typeface="Roboto Mono"/>
                <a:ea typeface="Roboto Mono"/>
                <a:cs typeface="Roboto Mono"/>
                <a:sym typeface="Roboto Mono"/>
              </a:rPr>
              <a:t>height</a:t>
            </a:r>
            <a:r>
              <a:rPr lang="en" sz="1000">
                <a:solidFill>
                  <a:srgbClr val="1F2328"/>
                </a:solidFill>
                <a:latin typeface="Roboto Mono"/>
                <a:ea typeface="Roboto Mono"/>
                <a:cs typeface="Roboto Mono"/>
                <a:sym typeface="Roboto Mono"/>
              </a:rPr>
              <a:t>(</a:t>
            </a:r>
            <a:r>
              <a:rPr lang="en" sz="1000" b="1">
                <a:solidFill>
                  <a:srgbClr val="0432FF"/>
                </a:solidFill>
                <a:latin typeface="Roboto Mono"/>
                <a:ea typeface="Roboto Mono"/>
                <a:cs typeface="Roboto Mono"/>
                <a:sym typeface="Roboto Mono"/>
              </a:rPr>
              <a:t>bound</a:t>
            </a:r>
            <a:r>
              <a:rPr lang="en" sz="1000">
                <a:solidFill>
                  <a:srgbClr val="CF222E"/>
                </a:solidFill>
                <a:latin typeface="Roboto Mono"/>
                <a:ea typeface="Roboto Mono"/>
                <a:cs typeface="Roboto Mono"/>
                <a:sym typeface="Roboto Mono"/>
              </a:rPr>
              <a:t> </a:t>
            </a:r>
            <a:r>
              <a:rPr lang="en" sz="1000">
                <a:solidFill>
                  <a:schemeClr val="dk2"/>
                </a:solidFill>
                <a:latin typeface="Roboto Mono"/>
                <a:ea typeface="Roboto Mono"/>
                <a:cs typeface="Roboto Mono"/>
                <a:sym typeface="Roboto Mono"/>
              </a:rPr>
              <a:t>x:</a:t>
            </a:r>
            <a:r>
              <a:rPr lang="en" sz="1000">
                <a:solidFill>
                  <a:srgbClr val="1F2328"/>
                </a:solidFill>
                <a:latin typeface="Roboto Mono"/>
                <a:ea typeface="Roboto Mono"/>
                <a:cs typeface="Roboto Mono"/>
                <a:sym typeface="Roboto Mono"/>
              </a:rPr>
              <a:t> </a:t>
            </a:r>
            <a:r>
              <a:rPr lang="en" sz="1000" b="1">
                <a:solidFill>
                  <a:srgbClr val="0432FF"/>
                </a:solidFill>
                <a:latin typeface="Roboto Mono"/>
                <a:ea typeface="Roboto Mono"/>
                <a:cs typeface="Roboto Mono"/>
                <a:sym typeface="Roboto Mono"/>
              </a:rPr>
              <a:t>String</a:t>
            </a:r>
            <a:r>
              <a:rPr lang="en" sz="1000">
                <a:solidFill>
                  <a:srgbClr val="1F2328"/>
                </a:solidFill>
                <a:latin typeface="Roboto Mono"/>
                <a:ea typeface="Roboto Mono"/>
                <a:cs typeface="Roboto Mono"/>
                <a:sym typeface="Roboto Mono"/>
              </a:rPr>
              <a:t>, </a:t>
            </a:r>
            <a:r>
              <a:rPr lang="en" sz="1000" b="1">
                <a:solidFill>
                  <a:srgbClr val="0432FF"/>
                </a:solidFill>
                <a:latin typeface="Roboto Mono"/>
                <a:ea typeface="Roboto Mono"/>
                <a:cs typeface="Roboto Mono"/>
                <a:sym typeface="Roboto Mono"/>
              </a:rPr>
              <a:t>free </a:t>
            </a:r>
            <a:r>
              <a:rPr lang="en" sz="1000">
                <a:solidFill>
                  <a:schemeClr val="dk2"/>
                </a:solidFill>
                <a:latin typeface="Roboto Mono"/>
                <a:ea typeface="Roboto Mono"/>
                <a:cs typeface="Roboto Mono"/>
                <a:sym typeface="Roboto Mono"/>
              </a:rPr>
              <a:t>y:</a:t>
            </a:r>
            <a:r>
              <a:rPr lang="en" sz="1000">
                <a:solidFill>
                  <a:srgbClr val="1F2328"/>
                </a:solidFill>
                <a:latin typeface="Roboto Mono"/>
                <a:ea typeface="Roboto Mono"/>
                <a:cs typeface="Roboto Mono"/>
                <a:sym typeface="Roboto Mono"/>
              </a:rPr>
              <a:t> </a:t>
            </a:r>
            <a:r>
              <a:rPr lang="en" sz="1000" b="1">
                <a:solidFill>
                  <a:srgbClr val="0432FF"/>
                </a:solidFill>
                <a:latin typeface="Roboto Mono"/>
                <a:ea typeface="Roboto Mono"/>
                <a:cs typeface="Roboto Mono"/>
                <a:sym typeface="Roboto Mono"/>
              </a:rPr>
              <a:t>i32</a:t>
            </a:r>
            <a:r>
              <a:rPr lang="en" sz="1000">
                <a:solidFill>
                  <a:srgbClr val="1F2328"/>
                </a:solidFill>
                <a:latin typeface="Roboto Mono"/>
                <a:ea typeface="Roboto Mono"/>
                <a:cs typeface="Roboto Mono"/>
                <a:sym typeface="Roboto Mono"/>
              </a:rPr>
              <a:t>)</a:t>
            </a:r>
            <a:endParaRPr sz="1000">
              <a:solidFill>
                <a:srgbClr val="1F2328"/>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000">
                <a:solidFill>
                  <a:srgbClr val="1691A4"/>
                </a:solidFill>
                <a:latin typeface="Roboto Mono"/>
                <a:ea typeface="Roboto Mono"/>
                <a:cs typeface="Roboto Mono"/>
                <a:sym typeface="Roboto Mono"/>
              </a:rPr>
              <a:t> // Retrieving height of mountains</a:t>
            </a:r>
            <a:endParaRPr sz="1000">
              <a:solidFill>
                <a:srgbClr val="1691A4"/>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000" b="1">
                <a:solidFill>
                  <a:srgbClr val="0432FF"/>
                </a:solidFill>
                <a:latin typeface="Roboto Mono"/>
                <a:ea typeface="Roboto Mono"/>
                <a:cs typeface="Roboto Mono"/>
                <a:sym typeface="Roboto Mono"/>
              </a:rPr>
              <a:t> rel</a:t>
            </a:r>
            <a:r>
              <a:rPr lang="en" sz="1000">
                <a:solidFill>
                  <a:srgbClr val="CF222E"/>
                </a:solidFill>
                <a:latin typeface="Roboto Mono"/>
                <a:ea typeface="Roboto Mono"/>
                <a:cs typeface="Roboto Mono"/>
                <a:sym typeface="Roboto Mono"/>
              </a:rPr>
              <a:t> </a:t>
            </a:r>
            <a:r>
              <a:rPr lang="en" sz="1000" b="1">
                <a:solidFill>
                  <a:srgbClr val="A31515"/>
                </a:solidFill>
                <a:latin typeface="Roboto Mono"/>
                <a:ea typeface="Roboto Mono"/>
                <a:cs typeface="Roboto Mono"/>
                <a:sym typeface="Roboto Mono"/>
              </a:rPr>
              <a:t>mount_height</a:t>
            </a:r>
            <a:r>
              <a:rPr lang="en" sz="1000">
                <a:solidFill>
                  <a:schemeClr val="dk2"/>
                </a:solidFill>
                <a:latin typeface="Roboto Mono"/>
                <a:ea typeface="Roboto Mono"/>
                <a:cs typeface="Roboto Mono"/>
                <a:sym typeface="Roboto Mono"/>
              </a:rPr>
              <a:t>(m, h) = </a:t>
            </a:r>
            <a:r>
              <a:rPr lang="en" sz="1000" b="1">
                <a:solidFill>
                  <a:srgbClr val="A31515"/>
                </a:solidFill>
                <a:latin typeface="Roboto Mono"/>
                <a:ea typeface="Roboto Mono"/>
                <a:cs typeface="Roboto Mono"/>
                <a:sym typeface="Roboto Mono"/>
              </a:rPr>
              <a:t>mountain</a:t>
            </a:r>
            <a:r>
              <a:rPr lang="en" sz="1000">
                <a:solidFill>
                  <a:schemeClr val="dk2"/>
                </a:solidFill>
                <a:latin typeface="Roboto Mono"/>
                <a:ea typeface="Roboto Mono"/>
                <a:cs typeface="Roboto Mono"/>
                <a:sym typeface="Roboto Mono"/>
              </a:rPr>
              <a:t>(m)</a:t>
            </a:r>
            <a:r>
              <a:rPr lang="en" sz="1000">
                <a:solidFill>
                  <a:srgbClr val="8250DF"/>
                </a:solidFill>
                <a:latin typeface="Roboto Mono"/>
                <a:ea typeface="Roboto Mono"/>
                <a:cs typeface="Roboto Mono"/>
                <a:sym typeface="Roboto Mono"/>
              </a:rPr>
              <a:t> </a:t>
            </a:r>
            <a:r>
              <a:rPr lang="en" sz="1000" b="1">
                <a:solidFill>
                  <a:srgbClr val="0432FF"/>
                </a:solidFill>
                <a:latin typeface="Roboto Mono"/>
                <a:ea typeface="Roboto Mono"/>
                <a:cs typeface="Roboto Mono"/>
                <a:sym typeface="Roboto Mono"/>
              </a:rPr>
              <a:t>and</a:t>
            </a:r>
            <a:r>
              <a:rPr lang="en" sz="1000">
                <a:solidFill>
                  <a:srgbClr val="8250DF"/>
                </a:solidFill>
                <a:latin typeface="Roboto Mono"/>
                <a:ea typeface="Roboto Mono"/>
                <a:cs typeface="Roboto Mono"/>
                <a:sym typeface="Roboto Mono"/>
              </a:rPr>
              <a:t> </a:t>
            </a:r>
            <a:r>
              <a:rPr lang="en" sz="1000" b="1">
                <a:solidFill>
                  <a:srgbClr val="A31515"/>
                </a:solidFill>
                <a:latin typeface="Roboto Mono"/>
                <a:ea typeface="Roboto Mono"/>
                <a:cs typeface="Roboto Mono"/>
                <a:sym typeface="Roboto Mono"/>
              </a:rPr>
              <a:t>height</a:t>
            </a:r>
            <a:r>
              <a:rPr lang="en" sz="1000">
                <a:solidFill>
                  <a:schemeClr val="dk2"/>
                </a:solidFill>
                <a:latin typeface="Roboto Mono"/>
                <a:ea typeface="Roboto Mono"/>
                <a:cs typeface="Roboto Mono"/>
                <a:sym typeface="Roboto Mono"/>
              </a:rPr>
              <a:t>(m, h)</a:t>
            </a:r>
            <a:endParaRPr sz="400">
              <a:solidFill>
                <a:schemeClr val="dk2"/>
              </a:solidFill>
            </a:endParaRPr>
          </a:p>
        </p:txBody>
      </p:sp>
      <p:sp>
        <p:nvSpPr>
          <p:cNvPr id="588" name="Google Shape;588;p67"/>
          <p:cNvSpPr/>
          <p:nvPr/>
        </p:nvSpPr>
        <p:spPr>
          <a:xfrm>
            <a:off x="1729382" y="1967725"/>
            <a:ext cx="393900" cy="381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589" name="Google Shape;589;p67"/>
          <p:cNvSpPr/>
          <p:nvPr/>
        </p:nvSpPr>
        <p:spPr>
          <a:xfrm>
            <a:off x="6586539" y="1967725"/>
            <a:ext cx="393900" cy="381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graphicFrame>
        <p:nvGraphicFramePr>
          <p:cNvPr id="590" name="Google Shape;590;p67"/>
          <p:cNvGraphicFramePr/>
          <p:nvPr/>
        </p:nvGraphicFramePr>
        <p:xfrm>
          <a:off x="717802" y="1582279"/>
          <a:ext cx="855725" cy="1219000"/>
        </p:xfrm>
        <a:graphic>
          <a:graphicData uri="http://schemas.openxmlformats.org/drawingml/2006/table">
            <a:tbl>
              <a:tblPr>
                <a:noFill/>
                <a:tableStyleId>{9DB2F37E-D800-42A8-BAA9-B668A769EFE7}</a:tableStyleId>
              </a:tblPr>
              <a:tblGrid>
                <a:gridCol w="855725">
                  <a:extLst>
                    <a:ext uri="{9D8B030D-6E8A-4147-A177-3AD203B41FA5}">
                      <a16:colId xmlns:a16="http://schemas.microsoft.com/office/drawing/2014/main" val="20000"/>
                    </a:ext>
                  </a:extLst>
                </a:gridCol>
              </a:tblGrid>
              <a:tr h="229050">
                <a:tc>
                  <a:txBody>
                    <a:bodyPr/>
                    <a:lstStyle/>
                    <a:p>
                      <a:pPr marL="0" lvl="0" indent="0" algn="ctr" rtl="0">
                        <a:spcBef>
                          <a:spcPts val="0"/>
                        </a:spcBef>
                        <a:spcAft>
                          <a:spcPts val="0"/>
                        </a:spcAft>
                        <a:buNone/>
                      </a:pPr>
                      <a:r>
                        <a:rPr lang="en" sz="1000" b="1">
                          <a:solidFill>
                            <a:srgbClr val="DA6114"/>
                          </a:solidFill>
                          <a:latin typeface="Roboto Mono"/>
                          <a:ea typeface="Roboto Mono"/>
                          <a:cs typeface="Roboto Mono"/>
                          <a:sym typeface="Roboto Mono"/>
                        </a:rPr>
                        <a:t>name</a:t>
                      </a:r>
                      <a:endParaRPr sz="1000" b="1">
                        <a:solidFill>
                          <a:srgbClr val="DA6114"/>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0"/>
                  </a:ext>
                </a:extLst>
              </a:tr>
              <a:tr h="229050">
                <a:tc>
                  <a:txBody>
                    <a:bodyPr/>
                    <a:lstStyle/>
                    <a:p>
                      <a:pPr marL="0" lvl="0" indent="0" algn="ctr" rtl="0">
                        <a:spcBef>
                          <a:spcPts val="0"/>
                        </a:spcBef>
                        <a:spcAft>
                          <a:spcPts val="0"/>
                        </a:spcAft>
                        <a:buNone/>
                      </a:pPr>
                      <a:r>
                        <a:rPr lang="en" sz="1000">
                          <a:solidFill>
                            <a:srgbClr val="383C4B"/>
                          </a:solidFill>
                          <a:latin typeface="Roboto Mono"/>
                          <a:ea typeface="Roboto Mono"/>
                          <a:cs typeface="Roboto Mono"/>
                          <a:sym typeface="Roboto Mono"/>
                        </a:rPr>
                        <a:t>Everest</a:t>
                      </a:r>
                      <a:endParaRPr sz="1000">
                        <a:solidFill>
                          <a:srgbClr val="383C4B"/>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1"/>
                  </a:ext>
                </a:extLst>
              </a:tr>
              <a:tr h="229050">
                <a:tc>
                  <a:txBody>
                    <a:bodyPr/>
                    <a:lstStyle/>
                    <a:p>
                      <a:pPr marL="0" lvl="0" indent="0" algn="ctr" rtl="0">
                        <a:spcBef>
                          <a:spcPts val="0"/>
                        </a:spcBef>
                        <a:spcAft>
                          <a:spcPts val="0"/>
                        </a:spcAft>
                        <a:buNone/>
                      </a:pPr>
                      <a:r>
                        <a:rPr lang="en" sz="1000">
                          <a:latin typeface="Roboto Mono"/>
                          <a:ea typeface="Roboto Mono"/>
                          <a:cs typeface="Roboto Mono"/>
                          <a:sym typeface="Roboto Mono"/>
                        </a:rPr>
                        <a:t>Fuji</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2"/>
                  </a:ext>
                </a:extLst>
              </a:tr>
              <a:tr h="229050">
                <a:tc>
                  <a:txBody>
                    <a:bodyPr/>
                    <a:lstStyle/>
                    <a:p>
                      <a:pPr marL="0" lvl="0" indent="0" algn="ctr" rtl="0">
                        <a:spcBef>
                          <a:spcPts val="0"/>
                        </a:spcBef>
                        <a:spcAft>
                          <a:spcPts val="0"/>
                        </a:spcAft>
                        <a:buNone/>
                      </a:pPr>
                      <a:r>
                        <a:rPr lang="en" sz="1000">
                          <a:latin typeface="Roboto Mono"/>
                          <a:ea typeface="Roboto Mono"/>
                          <a:cs typeface="Roboto Mono"/>
                          <a:sym typeface="Roboto Mono"/>
                        </a:rPr>
                        <a:t>K2</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3"/>
                  </a:ext>
                </a:extLst>
              </a:tr>
              <a:tr h="229050">
                <a:tc>
                  <a:txBody>
                    <a:bodyPr/>
                    <a:lstStyle/>
                    <a:p>
                      <a:pPr marL="0" lvl="0" indent="0" algn="ctr" rtl="0">
                        <a:spcBef>
                          <a:spcPts val="0"/>
                        </a:spcBef>
                        <a:spcAft>
                          <a:spcPts val="0"/>
                        </a:spcAft>
                        <a:buNone/>
                      </a:pPr>
                      <a:r>
                        <a:rPr lang="en" sz="1000">
                          <a:latin typeface="Roboto Mono"/>
                          <a:ea typeface="Roboto Mono"/>
                          <a:cs typeface="Roboto Mono"/>
                          <a:sym typeface="Roboto Mono"/>
                        </a:rPr>
                        <a:t>Mt. Blanc</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591" name="Google Shape;591;p67"/>
          <p:cNvSpPr txBox="1"/>
          <p:nvPr/>
        </p:nvSpPr>
        <p:spPr>
          <a:xfrm>
            <a:off x="639099" y="1311754"/>
            <a:ext cx="1013100" cy="184800"/>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3800"/>
              </a:spcBef>
              <a:spcAft>
                <a:spcPts val="0"/>
              </a:spcAft>
              <a:buNone/>
            </a:pPr>
            <a:r>
              <a:rPr lang="en" sz="1200" b="1">
                <a:solidFill>
                  <a:srgbClr val="A31515"/>
                </a:solidFill>
                <a:latin typeface="Montserrat"/>
                <a:ea typeface="Montserrat"/>
                <a:cs typeface="Montserrat"/>
                <a:sym typeface="Montserrat"/>
              </a:rPr>
              <a:t>mountain</a:t>
            </a:r>
            <a:endParaRPr sz="500" b="1">
              <a:solidFill>
                <a:srgbClr val="A31515"/>
              </a:solidFill>
              <a:latin typeface="Montserrat"/>
              <a:ea typeface="Montserrat"/>
              <a:cs typeface="Montserrat"/>
              <a:sym typeface="Montserrat"/>
            </a:endParaRPr>
          </a:p>
        </p:txBody>
      </p:sp>
      <p:graphicFrame>
        <p:nvGraphicFramePr>
          <p:cNvPr id="592" name="Google Shape;592;p67"/>
          <p:cNvGraphicFramePr/>
          <p:nvPr/>
        </p:nvGraphicFramePr>
        <p:xfrm>
          <a:off x="7078445" y="1548675"/>
          <a:ext cx="1563000" cy="1219000"/>
        </p:xfrm>
        <a:graphic>
          <a:graphicData uri="http://schemas.openxmlformats.org/drawingml/2006/table">
            <a:tbl>
              <a:tblPr>
                <a:noFill/>
                <a:tableStyleId>{9DB2F37E-D800-42A8-BAA9-B668A769EFE7}</a:tableStyleId>
              </a:tblPr>
              <a:tblGrid>
                <a:gridCol w="898000">
                  <a:extLst>
                    <a:ext uri="{9D8B030D-6E8A-4147-A177-3AD203B41FA5}">
                      <a16:colId xmlns:a16="http://schemas.microsoft.com/office/drawing/2014/main" val="20000"/>
                    </a:ext>
                  </a:extLst>
                </a:gridCol>
                <a:gridCol w="665000">
                  <a:extLst>
                    <a:ext uri="{9D8B030D-6E8A-4147-A177-3AD203B41FA5}">
                      <a16:colId xmlns:a16="http://schemas.microsoft.com/office/drawing/2014/main" val="20001"/>
                    </a:ext>
                  </a:extLst>
                </a:gridCol>
              </a:tblGrid>
              <a:tr h="229050">
                <a:tc>
                  <a:txBody>
                    <a:bodyPr/>
                    <a:lstStyle/>
                    <a:p>
                      <a:pPr marL="0" lvl="0" indent="0" algn="ctr" rtl="0">
                        <a:spcBef>
                          <a:spcPts val="0"/>
                        </a:spcBef>
                        <a:spcAft>
                          <a:spcPts val="0"/>
                        </a:spcAft>
                        <a:buNone/>
                      </a:pPr>
                      <a:r>
                        <a:rPr lang="en" sz="1000" b="1">
                          <a:solidFill>
                            <a:srgbClr val="DA6114"/>
                          </a:solidFill>
                          <a:latin typeface="Roboto Mono"/>
                          <a:ea typeface="Roboto Mono"/>
                          <a:cs typeface="Roboto Mono"/>
                          <a:sym typeface="Roboto Mono"/>
                        </a:rPr>
                        <a:t>name</a:t>
                      </a:r>
                      <a:endParaRPr sz="1000" b="1">
                        <a:solidFill>
                          <a:srgbClr val="DA6114"/>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DA6114"/>
                          </a:solidFill>
                          <a:latin typeface="Roboto Mono"/>
                          <a:ea typeface="Roboto Mono"/>
                          <a:cs typeface="Roboto Mono"/>
                          <a:sym typeface="Roboto Mono"/>
                        </a:rPr>
                        <a:t>height</a:t>
                      </a:r>
                      <a:endParaRPr sz="1000" b="1">
                        <a:solidFill>
                          <a:srgbClr val="DA6114"/>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0"/>
                  </a:ext>
                </a:extLst>
              </a:tr>
              <a:tr h="229050">
                <a:tc>
                  <a:txBody>
                    <a:bodyPr/>
                    <a:lstStyle/>
                    <a:p>
                      <a:pPr marL="0" lvl="0" indent="0" algn="ctr" rtl="0">
                        <a:spcBef>
                          <a:spcPts val="0"/>
                        </a:spcBef>
                        <a:spcAft>
                          <a:spcPts val="0"/>
                        </a:spcAft>
                        <a:buNone/>
                      </a:pPr>
                      <a:r>
                        <a:rPr lang="en" sz="1000">
                          <a:solidFill>
                            <a:srgbClr val="383C4B"/>
                          </a:solidFill>
                          <a:latin typeface="Roboto Mono"/>
                          <a:ea typeface="Roboto Mono"/>
                          <a:cs typeface="Roboto Mono"/>
                          <a:sym typeface="Roboto Mono"/>
                        </a:rPr>
                        <a:t>Everest</a:t>
                      </a:r>
                      <a:endParaRPr sz="1000">
                        <a:solidFill>
                          <a:srgbClr val="383C4B"/>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383C4B"/>
                          </a:solidFill>
                          <a:latin typeface="Roboto Mono"/>
                          <a:ea typeface="Roboto Mono"/>
                          <a:cs typeface="Roboto Mono"/>
                          <a:sym typeface="Roboto Mono"/>
                        </a:rPr>
                        <a:t>8848</a:t>
                      </a:r>
                      <a:endParaRPr sz="1000">
                        <a:solidFill>
                          <a:srgbClr val="383C4B"/>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1"/>
                  </a:ext>
                </a:extLst>
              </a:tr>
              <a:tr h="229050">
                <a:tc>
                  <a:txBody>
                    <a:bodyPr/>
                    <a:lstStyle/>
                    <a:p>
                      <a:pPr marL="0" lvl="0" indent="0" algn="ctr" rtl="0">
                        <a:spcBef>
                          <a:spcPts val="0"/>
                        </a:spcBef>
                        <a:spcAft>
                          <a:spcPts val="0"/>
                        </a:spcAft>
                        <a:buNone/>
                      </a:pPr>
                      <a:r>
                        <a:rPr lang="en" sz="1000">
                          <a:latin typeface="Roboto Mono"/>
                          <a:ea typeface="Roboto Mono"/>
                          <a:cs typeface="Roboto Mono"/>
                          <a:sym typeface="Roboto Mono"/>
                        </a:rPr>
                        <a:t>Fuji</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Roboto Mono"/>
                          <a:ea typeface="Roboto Mono"/>
                          <a:cs typeface="Roboto Mono"/>
                          <a:sym typeface="Roboto Mono"/>
                        </a:rPr>
                        <a:t>3776</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2"/>
                  </a:ext>
                </a:extLst>
              </a:tr>
              <a:tr h="229050">
                <a:tc>
                  <a:txBody>
                    <a:bodyPr/>
                    <a:lstStyle/>
                    <a:p>
                      <a:pPr marL="0" lvl="0" indent="0" algn="ctr" rtl="0">
                        <a:spcBef>
                          <a:spcPts val="0"/>
                        </a:spcBef>
                        <a:spcAft>
                          <a:spcPts val="0"/>
                        </a:spcAft>
                        <a:buNone/>
                      </a:pPr>
                      <a:r>
                        <a:rPr lang="en" sz="1000">
                          <a:latin typeface="Roboto Mono"/>
                          <a:ea typeface="Roboto Mono"/>
                          <a:cs typeface="Roboto Mono"/>
                          <a:sym typeface="Roboto Mono"/>
                        </a:rPr>
                        <a:t>K2</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Roboto Mono"/>
                          <a:ea typeface="Roboto Mono"/>
                          <a:cs typeface="Roboto Mono"/>
                          <a:sym typeface="Roboto Mono"/>
                        </a:rPr>
                        <a:t>8611</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3"/>
                  </a:ext>
                </a:extLst>
              </a:tr>
              <a:tr h="229050">
                <a:tc>
                  <a:txBody>
                    <a:bodyPr/>
                    <a:lstStyle/>
                    <a:p>
                      <a:pPr marL="0" lvl="0" indent="0" algn="ctr" rtl="0">
                        <a:spcBef>
                          <a:spcPts val="0"/>
                        </a:spcBef>
                        <a:spcAft>
                          <a:spcPts val="0"/>
                        </a:spcAft>
                        <a:buNone/>
                      </a:pPr>
                      <a:r>
                        <a:rPr lang="en" sz="1000">
                          <a:latin typeface="Roboto Mono"/>
                          <a:ea typeface="Roboto Mono"/>
                          <a:cs typeface="Roboto Mono"/>
                          <a:sym typeface="Roboto Mono"/>
                        </a:rPr>
                        <a:t>Mt. Blanc</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Roboto Mono"/>
                          <a:ea typeface="Roboto Mono"/>
                          <a:cs typeface="Roboto Mono"/>
                          <a:sym typeface="Roboto Mono"/>
                        </a:rPr>
                        <a:t>4808</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593" name="Google Shape;593;p67"/>
          <p:cNvSpPr txBox="1"/>
          <p:nvPr/>
        </p:nvSpPr>
        <p:spPr>
          <a:xfrm>
            <a:off x="7102888" y="1278150"/>
            <a:ext cx="1475700" cy="184800"/>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3800"/>
              </a:spcBef>
              <a:spcAft>
                <a:spcPts val="0"/>
              </a:spcAft>
              <a:buNone/>
            </a:pPr>
            <a:r>
              <a:rPr lang="en" sz="1200" b="1">
                <a:solidFill>
                  <a:srgbClr val="A31515"/>
                </a:solidFill>
                <a:latin typeface="Montserrat"/>
                <a:ea typeface="Montserrat"/>
                <a:cs typeface="Montserrat"/>
                <a:sym typeface="Montserrat"/>
              </a:rPr>
              <a:t>mountain_height</a:t>
            </a:r>
            <a:endParaRPr sz="500" b="1">
              <a:solidFill>
                <a:srgbClr val="A31515"/>
              </a:solidFill>
              <a:latin typeface="Montserrat"/>
              <a:ea typeface="Montserrat"/>
              <a:cs typeface="Montserrat"/>
              <a:sym typeface="Montserrat"/>
            </a:endParaRPr>
          </a:p>
        </p:txBody>
      </p:sp>
      <p:sp>
        <p:nvSpPr>
          <p:cNvPr id="594" name="Google Shape;594;p67"/>
          <p:cNvSpPr/>
          <p:nvPr/>
        </p:nvSpPr>
        <p:spPr>
          <a:xfrm>
            <a:off x="2170450" y="3017775"/>
            <a:ext cx="2325300" cy="869700"/>
          </a:xfrm>
          <a:prstGeom prst="wedgeRoundRectCallout">
            <a:avLst>
              <a:gd name="adj1" fmla="val -71327"/>
              <a:gd name="adj2" fmla="val -83333"/>
              <a:gd name="adj3" fmla="val 0"/>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Gill Sans"/>
                <a:ea typeface="Gill Sans"/>
                <a:cs typeface="Gill Sans"/>
                <a:sym typeface="Gill Sans"/>
              </a:rPr>
              <a:t>mountain names come from a database, which cannot hallucinate!</a:t>
            </a:r>
            <a:endParaRPr>
              <a:latin typeface="Gill Sans"/>
              <a:ea typeface="Gill Sans"/>
              <a:cs typeface="Gill Sans"/>
              <a:sym typeface="Gill Sans"/>
            </a:endParaRPr>
          </a:p>
        </p:txBody>
      </p:sp>
      <p:sp>
        <p:nvSpPr>
          <p:cNvPr id="595" name="Google Shape;595;p67"/>
          <p:cNvSpPr txBox="1"/>
          <p:nvPr/>
        </p:nvSpPr>
        <p:spPr>
          <a:xfrm>
            <a:off x="1081225" y="4312175"/>
            <a:ext cx="611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oboto"/>
                <a:ea typeface="Roboto"/>
                <a:cs typeface="Roboto"/>
                <a:sym typeface="Roboto"/>
              </a:rPr>
              <a:t>Z. Li et al. </a:t>
            </a:r>
            <a:r>
              <a:rPr lang="en" u="sng">
                <a:solidFill>
                  <a:schemeClr val="hlink"/>
                </a:solidFill>
                <a:latin typeface="Roboto"/>
                <a:ea typeface="Roboto"/>
                <a:cs typeface="Roboto"/>
                <a:sym typeface="Roboto"/>
                <a:hlinkClick r:id="rId3"/>
              </a:rPr>
              <a:t>Relational Programming with Foundation Models</a:t>
            </a:r>
            <a:r>
              <a:rPr lang="en">
                <a:latin typeface="Roboto"/>
                <a:ea typeface="Roboto"/>
                <a:cs typeface="Roboto"/>
                <a:sym typeface="Roboto"/>
              </a:rPr>
              <a:t>. AAAI 2024.</a:t>
            </a:r>
            <a:endParaRPr>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68"/>
          <p:cNvSpPr txBox="1">
            <a:spLocks noGrp="1"/>
          </p:cNvSpPr>
          <p:nvPr>
            <p:ph type="title"/>
          </p:nvPr>
        </p:nvSpPr>
        <p:spPr>
          <a:xfrm>
            <a:off x="152400" y="64025"/>
            <a:ext cx="88392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Classifying Images Using CLIP</a:t>
            </a:r>
            <a:endParaRPr/>
          </a:p>
        </p:txBody>
      </p:sp>
      <p:graphicFrame>
        <p:nvGraphicFramePr>
          <p:cNvPr id="601" name="Google Shape;601;p68"/>
          <p:cNvGraphicFramePr/>
          <p:nvPr/>
        </p:nvGraphicFramePr>
        <p:xfrm>
          <a:off x="301065" y="1431153"/>
          <a:ext cx="1323075" cy="2527800"/>
        </p:xfrm>
        <a:graphic>
          <a:graphicData uri="http://schemas.openxmlformats.org/drawingml/2006/table">
            <a:tbl>
              <a:tblPr>
                <a:noFill/>
                <a:tableStyleId>{9DB2F37E-D800-42A8-BAA9-B668A769EFE7}</a:tableStyleId>
              </a:tblPr>
              <a:tblGrid>
                <a:gridCol w="403525">
                  <a:extLst>
                    <a:ext uri="{9D8B030D-6E8A-4147-A177-3AD203B41FA5}">
                      <a16:colId xmlns:a16="http://schemas.microsoft.com/office/drawing/2014/main" val="20000"/>
                    </a:ext>
                  </a:extLst>
                </a:gridCol>
                <a:gridCol w="919550">
                  <a:extLst>
                    <a:ext uri="{9D8B030D-6E8A-4147-A177-3AD203B41FA5}">
                      <a16:colId xmlns:a16="http://schemas.microsoft.com/office/drawing/2014/main" val="20001"/>
                    </a:ext>
                  </a:extLst>
                </a:gridCol>
              </a:tblGrid>
              <a:tr h="229050">
                <a:tc>
                  <a:txBody>
                    <a:bodyPr/>
                    <a:lstStyle/>
                    <a:p>
                      <a:pPr marL="0" lvl="0" indent="0" algn="ctr" rtl="0">
                        <a:spcBef>
                          <a:spcPts val="0"/>
                        </a:spcBef>
                        <a:spcAft>
                          <a:spcPts val="0"/>
                        </a:spcAft>
                        <a:buNone/>
                      </a:pPr>
                      <a:r>
                        <a:rPr lang="en" sz="1000" b="1">
                          <a:solidFill>
                            <a:srgbClr val="DA6114"/>
                          </a:solidFill>
                          <a:latin typeface="Roboto Mono"/>
                          <a:ea typeface="Roboto Mono"/>
                          <a:cs typeface="Roboto Mono"/>
                          <a:sym typeface="Roboto Mono"/>
                        </a:rPr>
                        <a:t>id</a:t>
                      </a:r>
                      <a:endParaRPr sz="1000" b="1">
                        <a:solidFill>
                          <a:srgbClr val="DA6114"/>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DA6114"/>
                          </a:solidFill>
                          <a:latin typeface="Roboto Mono"/>
                          <a:ea typeface="Roboto Mono"/>
                          <a:cs typeface="Roboto Mono"/>
                          <a:sym typeface="Roboto Mono"/>
                        </a:rPr>
                        <a:t>image</a:t>
                      </a:r>
                      <a:endParaRPr sz="1000" b="1">
                        <a:solidFill>
                          <a:srgbClr val="DA6114"/>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0"/>
                  </a:ext>
                </a:extLst>
              </a:tr>
              <a:tr h="1024450">
                <a:tc>
                  <a:txBody>
                    <a:bodyPr/>
                    <a:lstStyle/>
                    <a:p>
                      <a:pPr marL="0" lvl="0" indent="0" algn="ctr" rtl="0">
                        <a:spcBef>
                          <a:spcPts val="0"/>
                        </a:spcBef>
                        <a:spcAft>
                          <a:spcPts val="0"/>
                        </a:spcAft>
                        <a:buNone/>
                      </a:pPr>
                      <a:r>
                        <a:rPr lang="en" sz="1000">
                          <a:solidFill>
                            <a:srgbClr val="383C4B"/>
                          </a:solidFill>
                          <a:latin typeface="Roboto Mono"/>
                          <a:ea typeface="Roboto Mono"/>
                          <a:cs typeface="Roboto Mono"/>
                          <a:sym typeface="Roboto Mono"/>
                        </a:rPr>
                        <a:t>0</a:t>
                      </a:r>
                      <a:endParaRPr sz="1000">
                        <a:solidFill>
                          <a:srgbClr val="383C4B"/>
                        </a:solidFill>
                        <a:latin typeface="Roboto Mono"/>
                        <a:ea typeface="Roboto Mono"/>
                        <a:cs typeface="Roboto Mono"/>
                        <a:sym typeface="Roboto Mono"/>
                      </a:endParaRPr>
                    </a:p>
                  </a:txBody>
                  <a:tcPr marL="91425" marR="0" marT="45700" marB="45700" anchor="ctr">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l" rtl="0">
                        <a:spcBef>
                          <a:spcPts val="0"/>
                        </a:spcBef>
                        <a:spcAft>
                          <a:spcPts val="0"/>
                        </a:spcAft>
                        <a:buNone/>
                      </a:pPr>
                      <a:endParaRPr sz="1000">
                        <a:solidFill>
                          <a:srgbClr val="383C4B"/>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1"/>
                  </a:ext>
                </a:extLst>
              </a:tr>
              <a:tr h="1015750">
                <a:tc>
                  <a:txBody>
                    <a:bodyPr/>
                    <a:lstStyle/>
                    <a:p>
                      <a:pPr marL="0" lvl="0" indent="0" algn="ctr" rtl="0">
                        <a:spcBef>
                          <a:spcPts val="0"/>
                        </a:spcBef>
                        <a:spcAft>
                          <a:spcPts val="0"/>
                        </a:spcAft>
                        <a:buNone/>
                      </a:pPr>
                      <a:r>
                        <a:rPr lang="en" sz="1000">
                          <a:solidFill>
                            <a:srgbClr val="383C4B"/>
                          </a:solidFill>
                          <a:latin typeface="Roboto Mono"/>
                          <a:ea typeface="Roboto Mono"/>
                          <a:cs typeface="Roboto Mono"/>
                          <a:sym typeface="Roboto Mono"/>
                        </a:rPr>
                        <a:t>1</a:t>
                      </a:r>
                      <a:endParaRPr sz="1000">
                        <a:solidFill>
                          <a:srgbClr val="383C4B"/>
                        </a:solidFill>
                        <a:latin typeface="Roboto Mono"/>
                        <a:ea typeface="Roboto Mono"/>
                        <a:cs typeface="Roboto Mono"/>
                        <a:sym typeface="Roboto Mono"/>
                      </a:endParaRPr>
                    </a:p>
                  </a:txBody>
                  <a:tcPr marL="91425" marR="0" marT="45700" marB="45700" anchor="ctr">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l" rtl="0">
                        <a:spcBef>
                          <a:spcPts val="0"/>
                        </a:spcBef>
                        <a:spcAft>
                          <a:spcPts val="0"/>
                        </a:spcAft>
                        <a:buNone/>
                      </a:pPr>
                      <a:endParaRPr sz="1000">
                        <a:solidFill>
                          <a:srgbClr val="383C4B"/>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2"/>
                  </a:ext>
                </a:extLst>
              </a:tr>
              <a:tr h="229050">
                <a:tc>
                  <a:txBody>
                    <a:bodyPr/>
                    <a:lstStyle/>
                    <a:p>
                      <a:pPr marL="0" lvl="0" indent="0" algn="l" rtl="0">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l" rtl="0">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602" name="Google Shape;602;p68"/>
          <p:cNvGraphicFramePr/>
          <p:nvPr/>
        </p:nvGraphicFramePr>
        <p:xfrm>
          <a:off x="7141090" y="1884025"/>
          <a:ext cx="1623100" cy="1462800"/>
        </p:xfrm>
        <a:graphic>
          <a:graphicData uri="http://schemas.openxmlformats.org/drawingml/2006/table">
            <a:tbl>
              <a:tblPr>
                <a:noFill/>
                <a:tableStyleId>{9DB2F37E-D800-42A8-BAA9-B668A769EFE7}</a:tableStyleId>
              </a:tblPr>
              <a:tblGrid>
                <a:gridCol w="520275">
                  <a:extLst>
                    <a:ext uri="{9D8B030D-6E8A-4147-A177-3AD203B41FA5}">
                      <a16:colId xmlns:a16="http://schemas.microsoft.com/office/drawing/2014/main" val="20000"/>
                    </a:ext>
                  </a:extLst>
                </a:gridCol>
                <a:gridCol w="500125">
                  <a:extLst>
                    <a:ext uri="{9D8B030D-6E8A-4147-A177-3AD203B41FA5}">
                      <a16:colId xmlns:a16="http://schemas.microsoft.com/office/drawing/2014/main" val="20001"/>
                    </a:ext>
                  </a:extLst>
                </a:gridCol>
                <a:gridCol w="602700">
                  <a:extLst>
                    <a:ext uri="{9D8B030D-6E8A-4147-A177-3AD203B41FA5}">
                      <a16:colId xmlns:a16="http://schemas.microsoft.com/office/drawing/2014/main" val="20002"/>
                    </a:ext>
                  </a:extLst>
                </a:gridCol>
              </a:tblGrid>
              <a:tr h="229050">
                <a:tc>
                  <a:txBody>
                    <a:bodyPr/>
                    <a:lstStyle/>
                    <a:p>
                      <a:pPr marL="0" lvl="0" indent="0" algn="ctr" rtl="0">
                        <a:spcBef>
                          <a:spcPts val="0"/>
                        </a:spcBef>
                        <a:spcAft>
                          <a:spcPts val="0"/>
                        </a:spcAft>
                        <a:buNone/>
                      </a:pPr>
                      <a:r>
                        <a:rPr lang="en" sz="1000" b="1">
                          <a:solidFill>
                            <a:srgbClr val="DA6114"/>
                          </a:solidFill>
                          <a:latin typeface="Roboto Mono"/>
                          <a:ea typeface="Roboto Mono"/>
                          <a:cs typeface="Roboto Mono"/>
                          <a:sym typeface="Roboto Mono"/>
                        </a:rPr>
                        <a:t>prob</a:t>
                      </a:r>
                      <a:endParaRPr sz="1000" b="1">
                        <a:solidFill>
                          <a:srgbClr val="DA6114"/>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DA6114"/>
                          </a:solidFill>
                          <a:latin typeface="Roboto Mono"/>
                          <a:ea typeface="Roboto Mono"/>
                          <a:cs typeface="Roboto Mono"/>
                          <a:sym typeface="Roboto Mono"/>
                        </a:rPr>
                        <a:t>id</a:t>
                      </a:r>
                      <a:endParaRPr sz="1000" b="1">
                        <a:solidFill>
                          <a:srgbClr val="DA6114"/>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DA6114"/>
                          </a:solidFill>
                          <a:latin typeface="Roboto Mono"/>
                          <a:ea typeface="Roboto Mono"/>
                          <a:cs typeface="Roboto Mono"/>
                          <a:sym typeface="Roboto Mono"/>
                        </a:rPr>
                        <a:t>label</a:t>
                      </a:r>
                      <a:endParaRPr sz="1000" b="1">
                        <a:solidFill>
                          <a:srgbClr val="DA6114"/>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0"/>
                  </a:ext>
                </a:extLst>
              </a:tr>
              <a:tr h="229050">
                <a:tc>
                  <a:txBody>
                    <a:bodyPr/>
                    <a:lstStyle/>
                    <a:p>
                      <a:pPr marL="0" lvl="0" indent="0" algn="l" rtl="0">
                        <a:spcBef>
                          <a:spcPts val="0"/>
                        </a:spcBef>
                        <a:spcAft>
                          <a:spcPts val="0"/>
                        </a:spcAft>
                        <a:buNone/>
                      </a:pPr>
                      <a:r>
                        <a:rPr lang="en" sz="1000">
                          <a:solidFill>
                            <a:srgbClr val="383C4B"/>
                          </a:solidFill>
                          <a:latin typeface="Roboto Mono"/>
                          <a:ea typeface="Roboto Mono"/>
                          <a:cs typeface="Roboto Mono"/>
                          <a:sym typeface="Roboto Mono"/>
                        </a:rPr>
                        <a:t>0.00</a:t>
                      </a:r>
                      <a:endParaRPr sz="1000">
                        <a:solidFill>
                          <a:srgbClr val="383C4B"/>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383C4B"/>
                          </a:solidFill>
                          <a:latin typeface="Roboto Mono"/>
                          <a:ea typeface="Roboto Mono"/>
                          <a:cs typeface="Roboto Mono"/>
                          <a:sym typeface="Roboto Mono"/>
                        </a:rPr>
                        <a:t>0</a:t>
                      </a:r>
                      <a:endParaRPr sz="1000">
                        <a:solidFill>
                          <a:srgbClr val="383C4B"/>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a:solidFill>
                            <a:srgbClr val="383C4B"/>
                          </a:solidFill>
                          <a:latin typeface="Roboto Mono"/>
                          <a:ea typeface="Roboto Mono"/>
                          <a:cs typeface="Roboto Mono"/>
                          <a:sym typeface="Roboto Mono"/>
                        </a:rPr>
                        <a:t>cat</a:t>
                      </a:r>
                      <a:endParaRPr sz="1000">
                        <a:solidFill>
                          <a:srgbClr val="383C4B"/>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1"/>
                  </a:ext>
                </a:extLst>
              </a:tr>
              <a:tr h="229050">
                <a:tc>
                  <a:txBody>
                    <a:bodyPr/>
                    <a:lstStyle/>
                    <a:p>
                      <a:pPr marL="0" lvl="0" indent="0" algn="l" rtl="0">
                        <a:spcBef>
                          <a:spcPts val="0"/>
                        </a:spcBef>
                        <a:spcAft>
                          <a:spcPts val="0"/>
                        </a:spcAft>
                        <a:buNone/>
                      </a:pPr>
                      <a:r>
                        <a:rPr lang="en" sz="1000" b="1">
                          <a:solidFill>
                            <a:srgbClr val="383C4B"/>
                          </a:solidFill>
                          <a:latin typeface="Roboto Mono"/>
                          <a:ea typeface="Roboto Mono"/>
                          <a:cs typeface="Roboto Mono"/>
                          <a:sym typeface="Roboto Mono"/>
                        </a:rPr>
                        <a:t>0.99</a:t>
                      </a:r>
                      <a:endParaRPr sz="1000" b="1">
                        <a:solidFill>
                          <a:srgbClr val="383C4B"/>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383C4B"/>
                          </a:solidFill>
                          <a:latin typeface="Roboto Mono"/>
                          <a:ea typeface="Roboto Mono"/>
                          <a:cs typeface="Roboto Mono"/>
                          <a:sym typeface="Roboto Mono"/>
                        </a:rPr>
                        <a:t>0</a:t>
                      </a:r>
                      <a:endParaRPr sz="1000" b="1">
                        <a:solidFill>
                          <a:srgbClr val="383C4B"/>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b="1">
                          <a:solidFill>
                            <a:srgbClr val="383C4B"/>
                          </a:solidFill>
                          <a:latin typeface="Roboto Mono"/>
                          <a:ea typeface="Roboto Mono"/>
                          <a:cs typeface="Roboto Mono"/>
                          <a:sym typeface="Roboto Mono"/>
                        </a:rPr>
                        <a:t>dog</a:t>
                      </a:r>
                      <a:endParaRPr sz="1000" b="1">
                        <a:solidFill>
                          <a:srgbClr val="383C4B"/>
                        </a:solidFill>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2"/>
                  </a:ext>
                </a:extLst>
              </a:tr>
              <a:tr h="229050">
                <a:tc>
                  <a:txBody>
                    <a:bodyPr/>
                    <a:lstStyle/>
                    <a:p>
                      <a:pPr marL="0" lvl="0" indent="0" algn="l" rtl="0">
                        <a:spcBef>
                          <a:spcPts val="0"/>
                        </a:spcBef>
                        <a:spcAft>
                          <a:spcPts val="0"/>
                        </a:spcAft>
                        <a:buNone/>
                      </a:pPr>
                      <a:r>
                        <a:rPr lang="en" sz="1000" b="1">
                          <a:latin typeface="Roboto Mono"/>
                          <a:ea typeface="Roboto Mono"/>
                          <a:cs typeface="Roboto Mono"/>
                          <a:sym typeface="Roboto Mono"/>
                        </a:rPr>
                        <a:t>0.98</a:t>
                      </a:r>
                      <a:endParaRPr sz="1000" b="1">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b="1">
                          <a:latin typeface="Roboto Mono"/>
                          <a:ea typeface="Roboto Mono"/>
                          <a:cs typeface="Roboto Mono"/>
                          <a:sym typeface="Roboto Mono"/>
                        </a:rPr>
                        <a:t>1</a:t>
                      </a:r>
                      <a:endParaRPr sz="1000" b="1">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b="1">
                          <a:latin typeface="Roboto Mono"/>
                          <a:ea typeface="Roboto Mono"/>
                          <a:cs typeface="Roboto Mono"/>
                          <a:sym typeface="Roboto Mono"/>
                        </a:rPr>
                        <a:t>cat</a:t>
                      </a:r>
                      <a:endParaRPr sz="1000" b="1">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3"/>
                  </a:ext>
                </a:extLst>
              </a:tr>
              <a:tr h="229050">
                <a:tc>
                  <a:txBody>
                    <a:bodyPr/>
                    <a:lstStyle/>
                    <a:p>
                      <a:pPr marL="0" lvl="0" indent="0" algn="l" rtl="0">
                        <a:spcBef>
                          <a:spcPts val="0"/>
                        </a:spcBef>
                        <a:spcAft>
                          <a:spcPts val="0"/>
                        </a:spcAft>
                        <a:buNone/>
                      </a:pPr>
                      <a:r>
                        <a:rPr lang="en" sz="1000">
                          <a:latin typeface="Roboto Mono"/>
                          <a:ea typeface="Roboto Mono"/>
                          <a:cs typeface="Roboto Mono"/>
                          <a:sym typeface="Roboto Mono"/>
                        </a:rPr>
                        <a:t>0.02</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Roboto Mono"/>
                          <a:ea typeface="Roboto Mono"/>
                          <a:cs typeface="Roboto Mono"/>
                          <a:sym typeface="Roboto Mono"/>
                        </a:rPr>
                        <a:t>1</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Roboto Mono"/>
                          <a:ea typeface="Roboto Mono"/>
                          <a:cs typeface="Roboto Mono"/>
                          <a:sym typeface="Roboto Mono"/>
                        </a:rPr>
                        <a:t>dog</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4"/>
                  </a:ext>
                </a:extLst>
              </a:tr>
              <a:tr h="229050">
                <a:tc>
                  <a:txBody>
                    <a:bodyPr/>
                    <a:lstStyle/>
                    <a:p>
                      <a:pPr marL="0" lvl="0" indent="0" algn="ctr" rtl="0">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tc>
                  <a:txBody>
                    <a:bodyPr/>
                    <a:lstStyle/>
                    <a:p>
                      <a:pPr marL="0" lvl="0" indent="0" algn="ctr" rtl="0">
                        <a:spcBef>
                          <a:spcPts val="0"/>
                        </a:spcBef>
                        <a:spcAft>
                          <a:spcPts val="0"/>
                        </a:spcAft>
                        <a:buNone/>
                      </a:pPr>
                      <a:r>
                        <a:rPr lang="en" sz="1000">
                          <a:latin typeface="Roboto Mono"/>
                          <a:ea typeface="Roboto Mono"/>
                          <a:cs typeface="Roboto Mono"/>
                          <a:sym typeface="Roboto Mono"/>
                        </a:rPr>
                        <a:t>...</a:t>
                      </a:r>
                      <a:endParaRPr sz="1000">
                        <a:latin typeface="Roboto Mono"/>
                        <a:ea typeface="Roboto Mono"/>
                        <a:cs typeface="Roboto Mono"/>
                        <a:sym typeface="Roboto Mono"/>
                      </a:endParaRPr>
                    </a:p>
                  </a:txBody>
                  <a:tcPr marL="91425" marR="0" marT="45700" marB="45700">
                    <a:lnL w="9525" cap="flat" cmpd="sng">
                      <a:solidFill>
                        <a:srgbClr val="F3831A"/>
                      </a:solidFill>
                      <a:prstDash val="solid"/>
                      <a:round/>
                      <a:headEnd type="none" w="sm" len="sm"/>
                      <a:tailEnd type="none" w="sm" len="sm"/>
                    </a:lnL>
                    <a:lnR w="9525" cap="flat" cmpd="sng">
                      <a:solidFill>
                        <a:srgbClr val="F3831A"/>
                      </a:solidFill>
                      <a:prstDash val="solid"/>
                      <a:round/>
                      <a:headEnd type="none" w="sm" len="sm"/>
                      <a:tailEnd type="none" w="sm" len="sm"/>
                    </a:lnR>
                    <a:lnT w="9525" cap="flat" cmpd="sng">
                      <a:solidFill>
                        <a:srgbClr val="F3831A"/>
                      </a:solidFill>
                      <a:prstDash val="solid"/>
                      <a:round/>
                      <a:headEnd type="none" w="sm" len="sm"/>
                      <a:tailEnd type="none" w="sm" len="sm"/>
                    </a:lnT>
                    <a:lnB w="9525" cap="flat" cmpd="sng">
                      <a:solidFill>
                        <a:srgbClr val="F3831A"/>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603" name="Google Shape;603;p68"/>
          <p:cNvPicPr preferRelativeResize="0"/>
          <p:nvPr/>
        </p:nvPicPr>
        <p:blipFill>
          <a:blip r:embed="rId3">
            <a:alphaModFix/>
          </a:blip>
          <a:stretch>
            <a:fillRect/>
          </a:stretch>
        </p:blipFill>
        <p:spPr>
          <a:xfrm>
            <a:off x="697811" y="2768906"/>
            <a:ext cx="881501" cy="881500"/>
          </a:xfrm>
          <a:prstGeom prst="rect">
            <a:avLst/>
          </a:prstGeom>
          <a:noFill/>
          <a:ln>
            <a:noFill/>
          </a:ln>
        </p:spPr>
      </p:pic>
      <p:pic>
        <p:nvPicPr>
          <p:cNvPr id="604" name="Google Shape;604;p68"/>
          <p:cNvPicPr preferRelativeResize="0"/>
          <p:nvPr/>
        </p:nvPicPr>
        <p:blipFill>
          <a:blip r:embed="rId4">
            <a:alphaModFix/>
          </a:blip>
          <a:stretch>
            <a:fillRect/>
          </a:stretch>
        </p:blipFill>
        <p:spPr>
          <a:xfrm>
            <a:off x="697811" y="1755253"/>
            <a:ext cx="881501" cy="859004"/>
          </a:xfrm>
          <a:prstGeom prst="rect">
            <a:avLst/>
          </a:prstGeom>
          <a:noFill/>
          <a:ln>
            <a:noFill/>
          </a:ln>
        </p:spPr>
      </p:pic>
      <p:sp>
        <p:nvSpPr>
          <p:cNvPr id="605" name="Google Shape;605;p68"/>
          <p:cNvSpPr txBox="1"/>
          <p:nvPr/>
        </p:nvSpPr>
        <p:spPr>
          <a:xfrm>
            <a:off x="301075" y="1189500"/>
            <a:ext cx="1013100" cy="184800"/>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3800"/>
              </a:spcBef>
              <a:spcAft>
                <a:spcPts val="0"/>
              </a:spcAft>
              <a:buNone/>
            </a:pPr>
            <a:r>
              <a:rPr lang="en" sz="1200" b="1">
                <a:solidFill>
                  <a:srgbClr val="A31515"/>
                </a:solidFill>
                <a:latin typeface="Montserrat"/>
                <a:ea typeface="Montserrat"/>
                <a:cs typeface="Montserrat"/>
                <a:sym typeface="Montserrat"/>
              </a:rPr>
              <a:t>image</a:t>
            </a:r>
            <a:endParaRPr sz="500" b="1">
              <a:solidFill>
                <a:srgbClr val="A31515"/>
              </a:solidFill>
              <a:latin typeface="Montserrat"/>
              <a:ea typeface="Montserrat"/>
              <a:cs typeface="Montserrat"/>
              <a:sym typeface="Montserrat"/>
            </a:endParaRPr>
          </a:p>
        </p:txBody>
      </p:sp>
      <p:sp>
        <p:nvSpPr>
          <p:cNvPr id="606" name="Google Shape;606;p68"/>
          <p:cNvSpPr txBox="1"/>
          <p:nvPr/>
        </p:nvSpPr>
        <p:spPr>
          <a:xfrm>
            <a:off x="7470805" y="1598750"/>
            <a:ext cx="1013100" cy="184800"/>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3800"/>
              </a:spcBef>
              <a:spcAft>
                <a:spcPts val="0"/>
              </a:spcAft>
              <a:buNone/>
            </a:pPr>
            <a:r>
              <a:rPr lang="en" sz="1200" b="1">
                <a:solidFill>
                  <a:srgbClr val="A31515"/>
                </a:solidFill>
                <a:latin typeface="Montserrat"/>
                <a:ea typeface="Montserrat"/>
                <a:cs typeface="Montserrat"/>
                <a:sym typeface="Montserrat"/>
              </a:rPr>
              <a:t>cat_or_dog</a:t>
            </a:r>
            <a:endParaRPr sz="500" b="1">
              <a:solidFill>
                <a:srgbClr val="A31515"/>
              </a:solidFill>
              <a:latin typeface="Montserrat"/>
              <a:ea typeface="Montserrat"/>
              <a:cs typeface="Montserrat"/>
              <a:sym typeface="Montserrat"/>
            </a:endParaRPr>
          </a:p>
        </p:txBody>
      </p:sp>
      <p:sp>
        <p:nvSpPr>
          <p:cNvPr id="607" name="Google Shape;607;p68"/>
          <p:cNvSpPr txBox="1"/>
          <p:nvPr/>
        </p:nvSpPr>
        <p:spPr>
          <a:xfrm>
            <a:off x="2292410" y="2105100"/>
            <a:ext cx="4215600" cy="869700"/>
          </a:xfrm>
          <a:prstGeom prst="rect">
            <a:avLst/>
          </a:prstGeom>
          <a:noFill/>
          <a:ln w="9525" cap="flat" cmpd="sng">
            <a:solidFill>
              <a:schemeClr val="accent3"/>
            </a:solidFill>
            <a:prstDash val="solid"/>
            <a:round/>
            <a:headEnd type="none" w="sm" len="sm"/>
            <a:tailEnd type="none" w="sm" len="sm"/>
          </a:ln>
        </p:spPr>
        <p:txBody>
          <a:bodyPr spcFirstLastPara="1" wrap="square" lIns="0" tIns="91425" rIns="0" bIns="91425" anchor="t" anchorCtr="0">
            <a:spAutoFit/>
          </a:bodyPr>
          <a:lstStyle/>
          <a:p>
            <a:pPr marL="0" lvl="0" indent="0" algn="l" rtl="0">
              <a:lnSpc>
                <a:spcPct val="115000"/>
              </a:lnSpc>
              <a:spcBef>
                <a:spcPts val="0"/>
              </a:spcBef>
              <a:spcAft>
                <a:spcPts val="0"/>
              </a:spcAft>
              <a:buNone/>
            </a:pPr>
            <a:r>
              <a:rPr lang="en" sz="1000">
                <a:solidFill>
                  <a:srgbClr val="1F2328"/>
                </a:solidFill>
                <a:latin typeface="Roboto Mono"/>
                <a:ea typeface="Roboto Mono"/>
                <a:cs typeface="Roboto Mono"/>
                <a:sym typeface="Roboto Mono"/>
              </a:rPr>
              <a:t> @</a:t>
            </a:r>
            <a:r>
              <a:rPr lang="en" sz="1000" b="1">
                <a:solidFill>
                  <a:srgbClr val="0550AE"/>
                </a:solidFill>
                <a:latin typeface="Roboto Mono"/>
                <a:ea typeface="Roboto Mono"/>
                <a:cs typeface="Roboto Mono"/>
                <a:sym typeface="Roboto Mono"/>
              </a:rPr>
              <a:t>clip</a:t>
            </a:r>
            <a:r>
              <a:rPr lang="en" sz="1000">
                <a:solidFill>
                  <a:srgbClr val="1F2328"/>
                </a:solidFill>
                <a:latin typeface="Roboto Mono"/>
                <a:ea typeface="Roboto Mono"/>
                <a:cs typeface="Roboto Mono"/>
                <a:sym typeface="Roboto Mono"/>
              </a:rPr>
              <a:t>([</a:t>
            </a:r>
            <a:r>
              <a:rPr lang="en" sz="1000" b="1">
                <a:solidFill>
                  <a:srgbClr val="FF9900"/>
                </a:solidFill>
                <a:latin typeface="Roboto Mono"/>
                <a:ea typeface="Roboto Mono"/>
                <a:cs typeface="Roboto Mono"/>
                <a:sym typeface="Roboto Mono"/>
              </a:rPr>
              <a:t>"cat"</a:t>
            </a:r>
            <a:r>
              <a:rPr lang="en" sz="1000">
                <a:solidFill>
                  <a:srgbClr val="1F2328"/>
                </a:solidFill>
                <a:latin typeface="Roboto Mono"/>
                <a:ea typeface="Roboto Mono"/>
                <a:cs typeface="Roboto Mono"/>
                <a:sym typeface="Roboto Mono"/>
              </a:rPr>
              <a:t>,</a:t>
            </a:r>
            <a:r>
              <a:rPr lang="en" sz="1000" b="1">
                <a:solidFill>
                  <a:srgbClr val="FF9900"/>
                </a:solidFill>
                <a:latin typeface="Roboto Mono"/>
                <a:ea typeface="Roboto Mono"/>
                <a:cs typeface="Roboto Mono"/>
                <a:sym typeface="Roboto Mono"/>
              </a:rPr>
              <a:t>"dog"</a:t>
            </a:r>
            <a:r>
              <a:rPr lang="en" sz="1000">
                <a:solidFill>
                  <a:srgbClr val="1F2328"/>
                </a:solidFill>
                <a:latin typeface="Roboto Mono"/>
                <a:ea typeface="Roboto Mono"/>
                <a:cs typeface="Roboto Mono"/>
                <a:sym typeface="Roboto Mono"/>
              </a:rPr>
              <a:t>])</a:t>
            </a:r>
            <a:endParaRPr sz="1000">
              <a:solidFill>
                <a:srgbClr val="1F2328"/>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000" b="1">
                <a:solidFill>
                  <a:srgbClr val="0432FF"/>
                </a:solidFill>
                <a:latin typeface="Roboto Mono"/>
                <a:ea typeface="Roboto Mono"/>
                <a:cs typeface="Roboto Mono"/>
                <a:sym typeface="Roboto Mono"/>
              </a:rPr>
              <a:t> type</a:t>
            </a:r>
            <a:r>
              <a:rPr lang="en" sz="1000">
                <a:solidFill>
                  <a:srgbClr val="1F2328"/>
                </a:solidFill>
                <a:latin typeface="Roboto Mono"/>
                <a:ea typeface="Roboto Mono"/>
                <a:cs typeface="Roboto Mono"/>
                <a:sym typeface="Roboto Mono"/>
              </a:rPr>
              <a:t> </a:t>
            </a:r>
            <a:r>
              <a:rPr lang="en" sz="1000" b="1">
                <a:solidFill>
                  <a:srgbClr val="A31515"/>
                </a:solidFill>
                <a:latin typeface="Roboto Mono"/>
                <a:ea typeface="Roboto Mono"/>
                <a:cs typeface="Roboto Mono"/>
                <a:sym typeface="Roboto Mono"/>
              </a:rPr>
              <a:t>classify</a:t>
            </a:r>
            <a:r>
              <a:rPr lang="en" sz="1000">
                <a:solidFill>
                  <a:srgbClr val="1F2328"/>
                </a:solidFill>
                <a:latin typeface="Roboto Mono"/>
                <a:ea typeface="Roboto Mono"/>
                <a:cs typeface="Roboto Mono"/>
                <a:sym typeface="Roboto Mono"/>
              </a:rPr>
              <a:t>(</a:t>
            </a:r>
            <a:r>
              <a:rPr lang="en" sz="1000" b="1">
                <a:solidFill>
                  <a:srgbClr val="0432FF"/>
                </a:solidFill>
                <a:latin typeface="Roboto Mono"/>
                <a:ea typeface="Roboto Mono"/>
                <a:cs typeface="Roboto Mono"/>
                <a:sym typeface="Roboto Mono"/>
              </a:rPr>
              <a:t>bound</a:t>
            </a:r>
            <a:r>
              <a:rPr lang="en" sz="1000">
                <a:solidFill>
                  <a:srgbClr val="1F2328"/>
                </a:solidFill>
                <a:latin typeface="Roboto Mono"/>
                <a:ea typeface="Roboto Mono"/>
                <a:cs typeface="Roboto Mono"/>
                <a:sym typeface="Roboto Mono"/>
              </a:rPr>
              <a:t> img: </a:t>
            </a:r>
            <a:r>
              <a:rPr lang="en" sz="1000" b="1">
                <a:solidFill>
                  <a:srgbClr val="0432FF"/>
                </a:solidFill>
                <a:latin typeface="Roboto Mono"/>
                <a:ea typeface="Roboto Mono"/>
                <a:cs typeface="Roboto Mono"/>
                <a:sym typeface="Roboto Mono"/>
              </a:rPr>
              <a:t>Tensor</a:t>
            </a:r>
            <a:r>
              <a:rPr lang="en" sz="1000">
                <a:solidFill>
                  <a:srgbClr val="1F2328"/>
                </a:solidFill>
                <a:latin typeface="Roboto Mono"/>
                <a:ea typeface="Roboto Mono"/>
                <a:cs typeface="Roboto Mono"/>
                <a:sym typeface="Roboto Mono"/>
              </a:rPr>
              <a:t>, </a:t>
            </a:r>
            <a:r>
              <a:rPr lang="en" sz="1000" b="1">
                <a:solidFill>
                  <a:srgbClr val="0432FF"/>
                </a:solidFill>
                <a:latin typeface="Roboto Mono"/>
                <a:ea typeface="Roboto Mono"/>
                <a:cs typeface="Roboto Mono"/>
                <a:sym typeface="Roboto Mono"/>
              </a:rPr>
              <a:t>free</a:t>
            </a:r>
            <a:r>
              <a:rPr lang="en" sz="1000">
                <a:solidFill>
                  <a:srgbClr val="1F2328"/>
                </a:solidFill>
                <a:latin typeface="Roboto Mono"/>
                <a:ea typeface="Roboto Mono"/>
                <a:cs typeface="Roboto Mono"/>
                <a:sym typeface="Roboto Mono"/>
              </a:rPr>
              <a:t> label: </a:t>
            </a:r>
            <a:r>
              <a:rPr lang="en" sz="1000" b="1">
                <a:solidFill>
                  <a:srgbClr val="0432FF"/>
                </a:solidFill>
                <a:latin typeface="Roboto Mono"/>
                <a:ea typeface="Roboto Mono"/>
                <a:cs typeface="Roboto Mono"/>
                <a:sym typeface="Roboto Mono"/>
              </a:rPr>
              <a:t>String</a:t>
            </a:r>
            <a:r>
              <a:rPr lang="en" sz="1000">
                <a:solidFill>
                  <a:srgbClr val="1F2328"/>
                </a:solidFill>
                <a:latin typeface="Roboto Mono"/>
                <a:ea typeface="Roboto Mono"/>
                <a:cs typeface="Roboto Mono"/>
                <a:sym typeface="Roboto Mono"/>
              </a:rPr>
              <a:t>)</a:t>
            </a:r>
            <a:endParaRPr sz="1000">
              <a:solidFill>
                <a:srgbClr val="1F2328"/>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000">
                <a:solidFill>
                  <a:srgbClr val="1691A4"/>
                </a:solidFill>
                <a:latin typeface="Roboto Mono"/>
                <a:ea typeface="Roboto Mono"/>
                <a:cs typeface="Roboto Mono"/>
                <a:sym typeface="Roboto Mono"/>
              </a:rPr>
              <a:t> // Classify each image as cat or dog</a:t>
            </a:r>
            <a:endParaRPr sz="1000">
              <a:solidFill>
                <a:srgbClr val="1691A4"/>
              </a:solidFill>
              <a:latin typeface="Roboto Mono"/>
              <a:ea typeface="Roboto Mono"/>
              <a:cs typeface="Roboto Mono"/>
              <a:sym typeface="Roboto Mono"/>
            </a:endParaRPr>
          </a:p>
          <a:p>
            <a:pPr marL="0" lvl="0" indent="0" algn="l" rtl="0">
              <a:lnSpc>
                <a:spcPct val="115000"/>
              </a:lnSpc>
              <a:spcBef>
                <a:spcPts val="0"/>
              </a:spcBef>
              <a:spcAft>
                <a:spcPts val="0"/>
              </a:spcAft>
              <a:buNone/>
            </a:pPr>
            <a:r>
              <a:rPr lang="en" sz="1000" b="1">
                <a:solidFill>
                  <a:srgbClr val="0432FF"/>
                </a:solidFill>
                <a:latin typeface="Roboto Mono"/>
                <a:ea typeface="Roboto Mono"/>
                <a:cs typeface="Roboto Mono"/>
                <a:sym typeface="Roboto Mono"/>
              </a:rPr>
              <a:t> rel</a:t>
            </a:r>
            <a:r>
              <a:rPr lang="en" sz="1000">
                <a:solidFill>
                  <a:srgbClr val="CF222E"/>
                </a:solidFill>
                <a:latin typeface="Roboto Mono"/>
                <a:ea typeface="Roboto Mono"/>
                <a:cs typeface="Roboto Mono"/>
                <a:sym typeface="Roboto Mono"/>
              </a:rPr>
              <a:t> </a:t>
            </a:r>
            <a:r>
              <a:rPr lang="en" sz="1000" b="1">
                <a:solidFill>
                  <a:srgbClr val="A31515"/>
                </a:solidFill>
                <a:latin typeface="Roboto Mono"/>
                <a:ea typeface="Roboto Mono"/>
                <a:cs typeface="Roboto Mono"/>
                <a:sym typeface="Roboto Mono"/>
              </a:rPr>
              <a:t>cat_or_dog</a:t>
            </a:r>
            <a:r>
              <a:rPr lang="en" sz="1000">
                <a:solidFill>
                  <a:srgbClr val="CF222E"/>
                </a:solidFill>
                <a:latin typeface="Roboto Mono"/>
                <a:ea typeface="Roboto Mono"/>
                <a:cs typeface="Roboto Mono"/>
                <a:sym typeface="Roboto Mono"/>
              </a:rPr>
              <a:t>(i, l) = </a:t>
            </a:r>
            <a:r>
              <a:rPr lang="en" sz="1000" b="1">
                <a:solidFill>
                  <a:srgbClr val="A31515"/>
                </a:solidFill>
                <a:latin typeface="Roboto Mono"/>
                <a:ea typeface="Roboto Mono"/>
                <a:cs typeface="Roboto Mono"/>
                <a:sym typeface="Roboto Mono"/>
              </a:rPr>
              <a:t>image</a:t>
            </a:r>
            <a:r>
              <a:rPr lang="en" sz="1000">
                <a:solidFill>
                  <a:srgbClr val="CF222E"/>
                </a:solidFill>
                <a:latin typeface="Roboto Mono"/>
                <a:ea typeface="Roboto Mono"/>
                <a:cs typeface="Roboto Mono"/>
                <a:sym typeface="Roboto Mono"/>
              </a:rPr>
              <a:t>(i, m) </a:t>
            </a:r>
            <a:r>
              <a:rPr lang="en" sz="1000" b="1">
                <a:solidFill>
                  <a:srgbClr val="0432FF"/>
                </a:solidFill>
                <a:latin typeface="Roboto Mono"/>
                <a:ea typeface="Roboto Mono"/>
                <a:cs typeface="Roboto Mono"/>
                <a:sym typeface="Roboto Mono"/>
              </a:rPr>
              <a:t>and</a:t>
            </a:r>
            <a:r>
              <a:rPr lang="en" sz="1000">
                <a:solidFill>
                  <a:srgbClr val="CF222E"/>
                </a:solidFill>
                <a:latin typeface="Roboto Mono"/>
                <a:ea typeface="Roboto Mono"/>
                <a:cs typeface="Roboto Mono"/>
                <a:sym typeface="Roboto Mono"/>
              </a:rPr>
              <a:t> </a:t>
            </a:r>
            <a:r>
              <a:rPr lang="en" sz="1000" b="1">
                <a:solidFill>
                  <a:srgbClr val="A31515"/>
                </a:solidFill>
                <a:latin typeface="Roboto Mono"/>
                <a:ea typeface="Roboto Mono"/>
                <a:cs typeface="Roboto Mono"/>
                <a:sym typeface="Roboto Mono"/>
              </a:rPr>
              <a:t>classify</a:t>
            </a:r>
            <a:r>
              <a:rPr lang="en" sz="1000">
                <a:solidFill>
                  <a:srgbClr val="CF222E"/>
                </a:solidFill>
                <a:latin typeface="Roboto Mono"/>
                <a:ea typeface="Roboto Mono"/>
                <a:cs typeface="Roboto Mono"/>
                <a:sym typeface="Roboto Mono"/>
              </a:rPr>
              <a:t>(m, l)</a:t>
            </a:r>
            <a:endParaRPr sz="1000">
              <a:solidFill>
                <a:srgbClr val="1F2328"/>
              </a:solidFill>
              <a:latin typeface="Roboto Mono"/>
              <a:ea typeface="Roboto Mono"/>
              <a:cs typeface="Roboto Mono"/>
              <a:sym typeface="Roboto Mono"/>
            </a:endParaRPr>
          </a:p>
        </p:txBody>
      </p:sp>
      <p:sp>
        <p:nvSpPr>
          <p:cNvPr id="608" name="Google Shape;608;p68"/>
          <p:cNvSpPr/>
          <p:nvPr/>
        </p:nvSpPr>
        <p:spPr>
          <a:xfrm>
            <a:off x="1774522" y="2348725"/>
            <a:ext cx="393900" cy="381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609" name="Google Shape;609;p68"/>
          <p:cNvSpPr/>
          <p:nvPr/>
        </p:nvSpPr>
        <p:spPr>
          <a:xfrm>
            <a:off x="6631679" y="2348725"/>
            <a:ext cx="393900" cy="381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610" name="Google Shape;610;p68"/>
          <p:cNvSpPr txBox="1"/>
          <p:nvPr/>
        </p:nvSpPr>
        <p:spPr>
          <a:xfrm>
            <a:off x="1081225" y="4312175"/>
            <a:ext cx="611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Roboto"/>
                <a:ea typeface="Roboto"/>
                <a:cs typeface="Roboto"/>
                <a:sym typeface="Roboto"/>
              </a:rPr>
              <a:t>Z. Li et al. </a:t>
            </a:r>
            <a:r>
              <a:rPr lang="en" u="sng">
                <a:solidFill>
                  <a:schemeClr val="hlink"/>
                </a:solidFill>
                <a:latin typeface="Roboto"/>
                <a:ea typeface="Roboto"/>
                <a:cs typeface="Roboto"/>
                <a:sym typeface="Roboto"/>
                <a:hlinkClick r:id="rId5"/>
              </a:rPr>
              <a:t>Relational Programming with Foundation Models</a:t>
            </a:r>
            <a:r>
              <a:rPr lang="en">
                <a:latin typeface="Roboto"/>
                <a:ea typeface="Roboto"/>
                <a:cs typeface="Roboto"/>
                <a:sym typeface="Roboto"/>
              </a:rPr>
              <a:t>. AAAI 2024.</a:t>
            </a:r>
            <a:endParaRPr>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1787</TotalTime>
  <Words>3222</Words>
  <Application>Microsoft Macintosh PowerPoint</Application>
  <PresentationFormat>On-screen Show (16:9)</PresentationFormat>
  <Paragraphs>275</Paragraphs>
  <Slides>45</Slides>
  <Notes>45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Roboto Mono</vt:lpstr>
      <vt:lpstr>-apple-system-font</vt:lpstr>
      <vt:lpstr>Roboto</vt:lpstr>
      <vt:lpstr>Gill Sans</vt:lpstr>
      <vt:lpstr>Calibri</vt:lpstr>
      <vt:lpstr>-webkit-standard</vt:lpstr>
      <vt:lpstr>Montserrat</vt:lpstr>
      <vt:lpstr>Arial</vt:lpstr>
      <vt:lpstr>Simple Light</vt:lpstr>
      <vt:lpstr>PowerPoint Presentation</vt:lpstr>
      <vt:lpstr>Disclaimer:</vt:lpstr>
      <vt:lpstr>About Me</vt:lpstr>
      <vt:lpstr>About Me</vt:lpstr>
      <vt:lpstr>Today’s Agenda</vt:lpstr>
      <vt:lpstr>Overview of LLMs</vt:lpstr>
      <vt:lpstr>ELIZA (1966)</vt:lpstr>
      <vt:lpstr>How Do LLMs Work (Linguistic Foundation)</vt:lpstr>
      <vt:lpstr>Linguistic Foundations</vt:lpstr>
      <vt:lpstr>Word Embeddings</vt:lpstr>
      <vt:lpstr>Word Embeddings</vt:lpstr>
      <vt:lpstr>How Do LLMs Work (the era we are currently in)</vt:lpstr>
      <vt:lpstr>Recurrent Neural Networks for NLP</vt:lpstr>
      <vt:lpstr>What each part does in a RNN:</vt:lpstr>
      <vt:lpstr>Architecture Example:</vt:lpstr>
      <vt:lpstr>PowerPoint Presentation</vt:lpstr>
      <vt:lpstr>Self-Attention and Transformers</vt:lpstr>
      <vt:lpstr>PowerPoint Presentation</vt:lpstr>
      <vt:lpstr>Pre-Training: Data Preparation</vt:lpstr>
      <vt:lpstr>Post-Training: Instruction-Tuning and Alignment</vt:lpstr>
      <vt:lpstr>What LLMs Can Do</vt:lpstr>
      <vt:lpstr>Few-Shot Prompting</vt:lpstr>
      <vt:lpstr>Chain-of-Thought Prompting</vt:lpstr>
      <vt:lpstr>Parameter Efficient Fine-Tuning (PEFT)</vt:lpstr>
      <vt:lpstr>Design Spaces and The CLAM Framework</vt:lpstr>
      <vt:lpstr>Limitations of LLMs</vt:lpstr>
      <vt:lpstr>Unreliable Reasoning Even On Simple Tasks</vt:lpstr>
      <vt:lpstr>Jailbreaking Can Bypass Safety</vt:lpstr>
      <vt:lpstr>Long Contexts Can Hurt Accuracy</vt:lpstr>
      <vt:lpstr>What Is The Future</vt:lpstr>
      <vt:lpstr>Evolution of LMs from Perspective of Task-Solving Capacity</vt:lpstr>
      <vt:lpstr>What Is The Future: Key Topics</vt:lpstr>
      <vt:lpstr>Synthetic Data / Distillation</vt:lpstr>
      <vt:lpstr>Risks from Synthetic Data</vt:lpstr>
      <vt:lpstr>Beyond Text: Robotics, Simulations, Physical Tasks</vt:lpstr>
      <vt:lpstr>Beyond Text: Video Generation</vt:lpstr>
      <vt:lpstr>Retrieval-Augmented Generation (RAG)</vt:lpstr>
      <vt:lpstr>Example: Retrieval Step of RAG</vt:lpstr>
      <vt:lpstr>Example: Generation Step of RAG</vt:lpstr>
      <vt:lpstr>Example: Without RAG</vt:lpstr>
      <vt:lpstr>Retrieval-Augmented Generation (RAG)</vt:lpstr>
      <vt:lpstr>Two Modes of Human Thought</vt:lpstr>
      <vt:lpstr>Neurosymbolic To Combine Both Worlds</vt:lpstr>
      <vt:lpstr>Example: Extracting Knowledge Using GPT</vt:lpstr>
      <vt:lpstr>Example: Classifying Images Using CLIP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Callyn Villanueva</cp:lastModifiedBy>
  <cp:revision>73</cp:revision>
  <dcterms:modified xsi:type="dcterms:W3CDTF">2025-11-24T23:43:53Z</dcterms:modified>
</cp:coreProperties>
</file>